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83"/>
  </p:notesMasterIdLst>
  <p:handoutMasterIdLst>
    <p:handoutMasterId r:id="rId84"/>
  </p:handoutMasterIdLst>
  <p:sldIdLst>
    <p:sldId id="459" r:id="rId5"/>
    <p:sldId id="475" r:id="rId6"/>
    <p:sldId id="514" r:id="rId7"/>
    <p:sldId id="533" r:id="rId8"/>
    <p:sldId id="597" r:id="rId9"/>
    <p:sldId id="603" r:id="rId10"/>
    <p:sldId id="539" r:id="rId11"/>
    <p:sldId id="615" r:id="rId12"/>
    <p:sldId id="614" r:id="rId13"/>
    <p:sldId id="608" r:id="rId14"/>
    <p:sldId id="613" r:id="rId15"/>
    <p:sldId id="612" r:id="rId16"/>
    <p:sldId id="599" r:id="rId17"/>
    <p:sldId id="600" r:id="rId18"/>
    <p:sldId id="610" r:id="rId19"/>
    <p:sldId id="611" r:id="rId20"/>
    <p:sldId id="604" r:id="rId21"/>
    <p:sldId id="541" r:id="rId22"/>
    <p:sldId id="607" r:id="rId23"/>
    <p:sldId id="592" r:id="rId24"/>
    <p:sldId id="602" r:id="rId25"/>
    <p:sldId id="543" r:id="rId26"/>
    <p:sldId id="609" r:id="rId27"/>
    <p:sldId id="606" r:id="rId28"/>
    <p:sldId id="605" r:id="rId29"/>
    <p:sldId id="547" r:id="rId30"/>
    <p:sldId id="598" r:id="rId31"/>
    <p:sldId id="601" r:id="rId32"/>
    <p:sldId id="583" r:id="rId33"/>
    <p:sldId id="585" r:id="rId34"/>
    <p:sldId id="594" r:id="rId35"/>
    <p:sldId id="595" r:id="rId36"/>
    <p:sldId id="495" r:id="rId37"/>
    <p:sldId id="591" r:id="rId38"/>
    <p:sldId id="587" r:id="rId39"/>
    <p:sldId id="590" r:id="rId40"/>
    <p:sldId id="588" r:id="rId41"/>
    <p:sldId id="593" r:id="rId42"/>
    <p:sldId id="589" r:id="rId43"/>
    <p:sldId id="493" r:id="rId44"/>
    <p:sldId id="488" r:id="rId45"/>
    <p:sldId id="496" r:id="rId46"/>
    <p:sldId id="586" r:id="rId47"/>
    <p:sldId id="505" r:id="rId48"/>
    <p:sldId id="494" r:id="rId49"/>
    <p:sldId id="497" r:id="rId50"/>
    <p:sldId id="560" r:id="rId51"/>
    <p:sldId id="552" r:id="rId52"/>
    <p:sldId id="575" r:id="rId53"/>
    <p:sldId id="502" r:id="rId54"/>
    <p:sldId id="501" r:id="rId55"/>
    <p:sldId id="576" r:id="rId56"/>
    <p:sldId id="503" r:id="rId57"/>
    <p:sldId id="504" r:id="rId58"/>
    <p:sldId id="548" r:id="rId59"/>
    <p:sldId id="542" r:id="rId60"/>
    <p:sldId id="581" r:id="rId61"/>
    <p:sldId id="582" r:id="rId62"/>
    <p:sldId id="579" r:id="rId63"/>
    <p:sldId id="580" r:id="rId64"/>
    <p:sldId id="584" r:id="rId65"/>
    <p:sldId id="554" r:id="rId66"/>
    <p:sldId id="561" r:id="rId67"/>
    <p:sldId id="562" r:id="rId68"/>
    <p:sldId id="563" r:id="rId69"/>
    <p:sldId id="564" r:id="rId70"/>
    <p:sldId id="565" r:id="rId71"/>
    <p:sldId id="566" r:id="rId72"/>
    <p:sldId id="567" r:id="rId73"/>
    <p:sldId id="568" r:id="rId74"/>
    <p:sldId id="569" r:id="rId75"/>
    <p:sldId id="570" r:id="rId76"/>
    <p:sldId id="571" r:id="rId77"/>
    <p:sldId id="572" r:id="rId78"/>
    <p:sldId id="573" r:id="rId79"/>
    <p:sldId id="574" r:id="rId80"/>
    <p:sldId id="545" r:id="rId81"/>
    <p:sldId id="534"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E090C1-F47D-4681-8F7D-2EB27DF61482}" v="31" dt="2026-01-09T15:45:31.4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427" y="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handoutMaster" Target="handoutMasters/handoutMaster1.xml"/><Relationship Id="rId89" Type="http://schemas.microsoft.com/office/2016/11/relationships/changesInfo" Target="changesInfos/changesInfo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microsoft.com/office/2015/10/relationships/revisionInfo" Target="revisionInfo.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notesMaster" Target="notesMasters/notesMaster1.xml"/><Relationship Id="rId88" Type="http://schemas.openxmlformats.org/officeDocument/2006/relationships/tableStyles" Target="tableStyles.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theme" Target="theme/theme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6-01-09T16:17:39.017" v="2813" actId="21"/>
      <pc:docMkLst>
        <pc:docMk/>
      </pc:docMkLst>
      <pc:sldChg chg="modSp mod">
        <pc:chgData name="Steven M Christey" userId="f24da668-4c1f-41c0-850e-113e2bdf78cf" providerId="ADAL" clId="{4664C2C3-D7E1-4188-BB25-E34F4B7B5B59}" dt="2026-01-09T15:32:22.882" v="2176" actId="20577"/>
        <pc:sldMkLst>
          <pc:docMk/>
          <pc:sldMk cId="1454278300" sldId="459"/>
        </pc:sldMkLst>
        <pc:spChg chg="mod">
          <ac:chgData name="Steven M Christey" userId="f24da668-4c1f-41c0-850e-113e2bdf78cf" providerId="ADAL" clId="{4664C2C3-D7E1-4188-BB25-E34F4B7B5B59}" dt="2026-01-09T15:32:22.882" v="2176"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6-01-09T16:10:28.976" v="2812" actId="20577"/>
        <pc:sldMkLst>
          <pc:docMk/>
          <pc:sldMk cId="915149386" sldId="514"/>
        </pc:sldMkLst>
        <pc:spChg chg="mod">
          <ac:chgData name="Steven M Christey" userId="f24da668-4c1f-41c0-850e-113e2bdf78cf" providerId="ADAL" clId="{4664C2C3-D7E1-4188-BB25-E34F4B7B5B59}" dt="2026-01-09T16:10:28.976" v="2812" actId="20577"/>
          <ac:spMkLst>
            <pc:docMk/>
            <pc:sldMk cId="915149386" sldId="514"/>
            <ac:spMk id="3" creationId="{D4348C02-DFCE-A2E4-D523-D69A254A7D49}"/>
          </ac:spMkLst>
        </pc:spChg>
      </pc:sldChg>
      <pc:sldChg chg="modSp mod">
        <pc:chgData name="Steven M Christey" userId="f24da668-4c1f-41c0-850e-113e2bdf78cf" providerId="ADAL" clId="{4664C2C3-D7E1-4188-BB25-E34F4B7B5B59}" dt="2026-01-09T15:47:32.744" v="2758" actId="20577"/>
        <pc:sldMkLst>
          <pc:docMk/>
          <pc:sldMk cId="2266223281" sldId="539"/>
        </pc:sldMkLst>
        <pc:spChg chg="mod">
          <ac:chgData name="Steven M Christey" userId="f24da668-4c1f-41c0-850e-113e2bdf78cf" providerId="ADAL" clId="{4664C2C3-D7E1-4188-BB25-E34F4B7B5B59}" dt="2026-01-09T15:45:36.774" v="2628" actId="20577"/>
          <ac:spMkLst>
            <pc:docMk/>
            <pc:sldMk cId="2266223281" sldId="539"/>
            <ac:spMk id="2" creationId="{994EE636-A57B-BB7C-C698-DCB6F2A7B071}"/>
          </ac:spMkLst>
        </pc:spChg>
        <pc:spChg chg="mod">
          <ac:chgData name="Steven M Christey" userId="f24da668-4c1f-41c0-850e-113e2bdf78cf" providerId="ADAL" clId="{4664C2C3-D7E1-4188-BB25-E34F4B7B5B59}" dt="2026-01-09T15:47:32.744" v="2758" actId="20577"/>
          <ac:spMkLst>
            <pc:docMk/>
            <pc:sldMk cId="2266223281" sldId="539"/>
            <ac:spMk id="3" creationId="{9915B450-3AB3-4605-EAE8-C84785DE6064}"/>
          </ac:spMkLst>
        </pc:spChg>
      </pc:sldChg>
      <pc:sldChg chg="modSp mod">
        <pc:chgData name="Steven M Christey" userId="f24da668-4c1f-41c0-850e-113e2bdf78cf" providerId="ADAL" clId="{4664C2C3-D7E1-4188-BB25-E34F4B7B5B59}" dt="2026-01-09T15:48:04.303" v="2759" actId="404"/>
        <pc:sldMkLst>
          <pc:docMk/>
          <pc:sldMk cId="42561453" sldId="599"/>
        </pc:sldMkLst>
        <pc:spChg chg="mod">
          <ac:chgData name="Steven M Christey" userId="f24da668-4c1f-41c0-850e-113e2bdf78cf" providerId="ADAL" clId="{4664C2C3-D7E1-4188-BB25-E34F4B7B5B59}" dt="2026-01-09T15:48:04.303" v="2759" actId="404"/>
          <ac:spMkLst>
            <pc:docMk/>
            <pc:sldMk cId="42561453" sldId="599"/>
            <ac:spMk id="3" creationId="{DB6A4387-1FE7-CE01-5DE8-DF9417BCDCEC}"/>
          </ac:spMkLst>
        </pc:spChg>
      </pc:sldChg>
      <pc:sldChg chg="modSp mod">
        <pc:chgData name="Steven M Christey" userId="f24da668-4c1f-41c0-850e-113e2bdf78cf" providerId="ADAL" clId="{4664C2C3-D7E1-4188-BB25-E34F4B7B5B59}" dt="2026-01-09T16:03:50.087" v="2783" actId="20577"/>
        <pc:sldMkLst>
          <pc:docMk/>
          <pc:sldMk cId="3329228180" sldId="606"/>
        </pc:sldMkLst>
        <pc:spChg chg="mod">
          <ac:chgData name="Steven M Christey" userId="f24da668-4c1f-41c0-850e-113e2bdf78cf" providerId="ADAL" clId="{4664C2C3-D7E1-4188-BB25-E34F4B7B5B59}" dt="2026-01-09T16:03:50.087" v="2783" actId="20577"/>
          <ac:spMkLst>
            <pc:docMk/>
            <pc:sldMk cId="3329228180" sldId="606"/>
            <ac:spMk id="3" creationId="{8754BE33-23EB-99D2-B3D5-31779558DDA6}"/>
          </ac:spMkLst>
        </pc:spChg>
      </pc:sldChg>
      <pc:sldChg chg="modSp mod">
        <pc:chgData name="Steven M Christey" userId="f24da668-4c1f-41c0-850e-113e2bdf78cf" providerId="ADAL" clId="{4664C2C3-D7E1-4188-BB25-E34F4B7B5B59}" dt="2026-01-09T15:35:33.491" v="2296"/>
        <pc:sldMkLst>
          <pc:docMk/>
          <pc:sldMk cId="3971448443" sldId="608"/>
        </pc:sldMkLst>
        <pc:spChg chg="mod">
          <ac:chgData name="Steven M Christey" userId="f24da668-4c1f-41c0-850e-113e2bdf78cf" providerId="ADAL" clId="{4664C2C3-D7E1-4188-BB25-E34F4B7B5B59}" dt="2026-01-09T15:35:33.491" v="2296"/>
          <ac:spMkLst>
            <pc:docMk/>
            <pc:sldMk cId="3971448443" sldId="608"/>
            <ac:spMk id="2" creationId="{F2DAE3A2-28FA-FB59-8075-ABC59E8225C7}"/>
          </ac:spMkLst>
        </pc:spChg>
      </pc:sldChg>
      <pc:sldChg chg="add">
        <pc:chgData name="Steven M Christey" userId="f24da668-4c1f-41c0-850e-113e2bdf78cf" providerId="ADAL" clId="{4664C2C3-D7E1-4188-BB25-E34F4B7B5B59}" dt="2026-01-09T15:35:21.254" v="2294"/>
        <pc:sldMkLst>
          <pc:docMk/>
          <pc:sldMk cId="2862807609" sldId="612"/>
        </pc:sldMkLst>
      </pc:sldChg>
      <pc:sldChg chg="modSp add mod">
        <pc:chgData name="Steven M Christey" userId="f24da668-4c1f-41c0-850e-113e2bdf78cf" providerId="ADAL" clId="{4664C2C3-D7E1-4188-BB25-E34F4B7B5B59}" dt="2026-01-09T15:41:57.110" v="2505"/>
        <pc:sldMkLst>
          <pc:docMk/>
          <pc:sldMk cId="2921644747" sldId="613"/>
        </pc:sldMkLst>
        <pc:spChg chg="mod">
          <ac:chgData name="Steven M Christey" userId="f24da668-4c1f-41c0-850e-113e2bdf78cf" providerId="ADAL" clId="{4664C2C3-D7E1-4188-BB25-E34F4B7B5B59}" dt="2026-01-09T15:39:45.399" v="2405" actId="20577"/>
          <ac:spMkLst>
            <pc:docMk/>
            <pc:sldMk cId="2921644747" sldId="613"/>
            <ac:spMk id="2" creationId="{158B773C-6549-4520-AB0E-15706B5F0B75}"/>
          </ac:spMkLst>
        </pc:spChg>
        <pc:spChg chg="mod">
          <ac:chgData name="Steven M Christey" userId="f24da668-4c1f-41c0-850e-113e2bdf78cf" providerId="ADAL" clId="{4664C2C3-D7E1-4188-BB25-E34F4B7B5B59}" dt="2026-01-09T15:41:57.110" v="2505"/>
          <ac:spMkLst>
            <pc:docMk/>
            <pc:sldMk cId="2921644747" sldId="613"/>
            <ac:spMk id="3" creationId="{39D83D17-2924-EBE1-3D7B-0EE1507FC32C}"/>
          </ac:spMkLst>
        </pc:spChg>
      </pc:sldChg>
      <pc:sldChg chg="modSp add mod">
        <pc:chgData name="Steven M Christey" userId="f24da668-4c1f-41c0-850e-113e2bdf78cf" providerId="ADAL" clId="{4664C2C3-D7E1-4188-BB25-E34F4B7B5B59}" dt="2026-01-09T15:46:05.699" v="2653" actId="20577"/>
        <pc:sldMkLst>
          <pc:docMk/>
          <pc:sldMk cId="3560642492" sldId="614"/>
        </pc:sldMkLst>
        <pc:spChg chg="mod">
          <ac:chgData name="Steven M Christey" userId="f24da668-4c1f-41c0-850e-113e2bdf78cf" providerId="ADAL" clId="{4664C2C3-D7E1-4188-BB25-E34F4B7B5B59}" dt="2026-01-09T15:45:59.263" v="2652" actId="20577"/>
          <ac:spMkLst>
            <pc:docMk/>
            <pc:sldMk cId="3560642492" sldId="614"/>
            <ac:spMk id="2" creationId="{8DF9BDC6-32D8-0324-3EC1-91A626BE651A}"/>
          </ac:spMkLst>
        </pc:spChg>
        <pc:spChg chg="mod">
          <ac:chgData name="Steven M Christey" userId="f24da668-4c1f-41c0-850e-113e2bdf78cf" providerId="ADAL" clId="{4664C2C3-D7E1-4188-BB25-E34F4B7B5B59}" dt="2026-01-09T15:46:05.699" v="2653" actId="20577"/>
          <ac:spMkLst>
            <pc:docMk/>
            <pc:sldMk cId="3560642492" sldId="614"/>
            <ac:spMk id="3" creationId="{755B78C9-619D-595B-3274-E2E9B1D2C11C}"/>
          </ac:spMkLst>
        </pc:spChg>
      </pc:sldChg>
      <pc:sldChg chg="modSp add mod">
        <pc:chgData name="Steven M Christey" userId="f24da668-4c1f-41c0-850e-113e2bdf78cf" providerId="ADAL" clId="{4664C2C3-D7E1-4188-BB25-E34F4B7B5B59}" dt="2026-01-09T16:17:39.017" v="2813" actId="21"/>
        <pc:sldMkLst>
          <pc:docMk/>
          <pc:sldMk cId="4176654479" sldId="615"/>
        </pc:sldMkLst>
        <pc:spChg chg="mod">
          <ac:chgData name="Steven M Christey" userId="f24da668-4c1f-41c0-850e-113e2bdf78cf" providerId="ADAL" clId="{4664C2C3-D7E1-4188-BB25-E34F4B7B5B59}" dt="2026-01-09T15:45:48.875" v="2644" actId="20577"/>
          <ac:spMkLst>
            <pc:docMk/>
            <pc:sldMk cId="4176654479" sldId="615"/>
            <ac:spMk id="2" creationId="{7C22CDFF-65A5-78A3-804C-066E8416C6AF}"/>
          </ac:spMkLst>
        </pc:spChg>
        <pc:spChg chg="mod">
          <ac:chgData name="Steven M Christey" userId="f24da668-4c1f-41c0-850e-113e2bdf78cf" providerId="ADAL" clId="{4664C2C3-D7E1-4188-BB25-E34F4B7B5B59}" dt="2026-01-09T16:17:39.017" v="2813" actId="21"/>
          <ac:spMkLst>
            <pc:docMk/>
            <pc:sldMk cId="4176654479" sldId="615"/>
            <ac:spMk id="3" creationId="{3177290A-316A-66A6-24AA-55907FD3698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1/9/2026</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6</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CWE-CAPEC/CWE-Content-Development-Repository/issues/174"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January 9, 2025</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4.19 was released on December 11</a:t>
            </a:r>
          </a:p>
          <a:p>
            <a:pPr marL="685922" lvl="1" indent="-307975"/>
            <a:r>
              <a:rPr lang="en-US" dirty="0">
                <a:latin typeface="Tahoma"/>
                <a:ea typeface="Tahoma"/>
                <a:cs typeface="Tahoma"/>
              </a:rPr>
              <a:t>In conjunction with the Top 25</a:t>
            </a:r>
          </a:p>
          <a:p>
            <a:pPr marL="685922" lvl="1" indent="-307975"/>
            <a:r>
              <a:rPr lang="en-US" dirty="0">
                <a:latin typeface="Tahoma"/>
                <a:ea typeface="Tahoma"/>
                <a:cs typeface="Tahoma"/>
              </a:rPr>
              <a:t>No new AI-related entries; minimal AI-related modifications</a:t>
            </a:r>
          </a:p>
          <a:p>
            <a:pPr marL="685922" lvl="1" indent="-307975"/>
            <a:endParaRPr lang="en-US" dirty="0">
              <a:latin typeface="Tahoma"/>
              <a:ea typeface="Tahoma"/>
              <a:cs typeface="Tahoma"/>
            </a:endParaRPr>
          </a:p>
          <a:p>
            <a:pPr marL="307975" indent="-307975"/>
            <a:r>
              <a:rPr lang="en-US" dirty="0">
                <a:latin typeface="Tahoma"/>
                <a:ea typeface="Tahoma"/>
                <a:cs typeface="Tahoma"/>
              </a:rPr>
              <a:t>CWE 4.20 – maybe in April?</a:t>
            </a:r>
          </a:p>
          <a:p>
            <a:pPr marL="307975" indent="-307975"/>
            <a:endParaRPr lang="en-US" dirty="0">
              <a:latin typeface="Tahoma"/>
              <a:ea typeface="Tahoma"/>
              <a:cs typeface="Tahoma"/>
            </a:endParaRPr>
          </a:p>
          <a:p>
            <a:pPr marL="307975" indent="-307975"/>
            <a:r>
              <a:rPr lang="en-US" dirty="0">
                <a:latin typeface="Tahoma"/>
                <a:ea typeface="Tahoma"/>
                <a:cs typeface="Tahoma"/>
              </a:rPr>
              <a:t>Reviews of submissions are ongoing</a:t>
            </a:r>
          </a:p>
          <a:p>
            <a:pPr marL="685922" lvl="1"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Active New Entry Submissions – For Discussion</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“Bypass of Human Authorization Controls” (Eran Segal) - ES2512-73d63d33 / CDR #174</a:t>
            </a:r>
          </a:p>
          <a:p>
            <a:pPr lvl="1"/>
            <a:r>
              <a:rPr lang="en-US" sz="2000" dirty="0"/>
              <a:t>Few details available</a:t>
            </a:r>
          </a:p>
          <a:p>
            <a:r>
              <a:rPr lang="en-US" sz="2000" dirty="0"/>
              <a:t>“Inclusion of ANSI escape codes in LLM tokenizer” (Erick Galinkin) - ES2508-95a780e3 / CDR #163</a:t>
            </a:r>
          </a:p>
          <a:p>
            <a:pPr lvl="1"/>
            <a:r>
              <a:rPr lang="en-US" sz="2000" dirty="0"/>
              <a:t>Today: discuss demonstrative example</a:t>
            </a:r>
          </a:p>
          <a:p>
            <a:r>
              <a:rPr lang="en-US" sz="2000" dirty="0"/>
              <a:t>“Improper Neutralization of Retrieved Content Used in AI Prompt Construction in AI/ML Systems” (Mehmet Yilmaz) - ES2508-e15b0715 / CDR #161</a:t>
            </a:r>
          </a:p>
          <a:p>
            <a:pPr lvl="1"/>
            <a:r>
              <a:rPr lang="en-US" sz="2000" dirty="0"/>
              <a:t>Submitter provided significant extra details; still reviewing</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57BA9-79BB-F429-DE14-0A1095591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2CDFF-65A5-78A3-804C-066E8416C6AF}"/>
              </a:ext>
            </a:extLst>
          </p:cNvPr>
          <p:cNvSpPr>
            <a:spLocks noGrp="1"/>
          </p:cNvSpPr>
          <p:nvPr>
            <p:ph type="title"/>
          </p:nvPr>
        </p:nvSpPr>
        <p:spPr/>
        <p:txBody>
          <a:bodyPr/>
          <a:lstStyle/>
          <a:p>
            <a:r>
              <a:rPr lang="en-US" dirty="0"/>
              <a:t>Active New Entry Submissions - Ongoing</a:t>
            </a:r>
          </a:p>
        </p:txBody>
      </p:sp>
      <p:sp>
        <p:nvSpPr>
          <p:cNvPr id="3" name="Content Placeholder 2">
            <a:extLst>
              <a:ext uri="{FF2B5EF4-FFF2-40B4-BE49-F238E27FC236}">
                <a16:creationId xmlns:a16="http://schemas.microsoft.com/office/drawing/2014/main" id="{3177290A-316A-66A6-24AA-55907FD36981}"/>
              </a:ext>
            </a:extLst>
          </p:cNvPr>
          <p:cNvSpPr>
            <a:spLocks noGrp="1"/>
          </p:cNvSpPr>
          <p:nvPr>
            <p:ph idx="1"/>
          </p:nvPr>
        </p:nvSpPr>
        <p:spPr/>
        <p:txBody>
          <a:bodyPr/>
          <a:lstStyle/>
          <a:p>
            <a:r>
              <a:rPr lang="en-US" sz="2000" dirty="0"/>
              <a:t>“Bias in AI Models” (Kurt Seifried) - ES2402-38e20ce6</a:t>
            </a:r>
          </a:p>
          <a:p>
            <a:pPr lvl="1"/>
            <a:r>
              <a:rPr lang="en-US" sz="2000" dirty="0"/>
              <a:t>Steve to write up initial review and reply to submitter; paper on DeepSeek bias/influence on insecure code</a:t>
            </a:r>
          </a:p>
          <a:p>
            <a:r>
              <a:rPr lang="en-US" sz="2000" dirty="0"/>
              <a:t>“Improper Neutralization of Configurations Used for MCP Client” (</a:t>
            </a:r>
            <a:r>
              <a:rPr lang="en-US" sz="2000" dirty="0" err="1"/>
              <a:t>Xinpeng</a:t>
            </a:r>
            <a:r>
              <a:rPr lang="en-US" sz="2000" dirty="0"/>
              <a:t> Liu) ES2506-e3c78a2a</a:t>
            </a:r>
          </a:p>
          <a:p>
            <a:pPr lvl="1"/>
            <a:r>
              <a:rPr lang="en-US" sz="2000" dirty="0"/>
              <a:t>Steve to write up initial review</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49B8CE4-4FEE-A7AD-BFBF-3C581FDE144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76654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176CC-67D5-783C-A02E-E77F1DF1D0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BDC6-32D8-0324-3EC1-91A626BE651A}"/>
              </a:ext>
            </a:extLst>
          </p:cNvPr>
          <p:cNvSpPr>
            <a:spLocks noGrp="1"/>
          </p:cNvSpPr>
          <p:nvPr>
            <p:ph type="title"/>
          </p:nvPr>
        </p:nvSpPr>
        <p:spPr/>
        <p:txBody>
          <a:bodyPr/>
          <a:lstStyle/>
          <a:p>
            <a:r>
              <a:rPr lang="en-US" dirty="0"/>
              <a:t>Deprioritized/Delayed New Entry Submissions</a:t>
            </a:r>
          </a:p>
        </p:txBody>
      </p:sp>
      <p:sp>
        <p:nvSpPr>
          <p:cNvPr id="3" name="Content Placeholder 2">
            <a:extLst>
              <a:ext uri="{FF2B5EF4-FFF2-40B4-BE49-F238E27FC236}">
                <a16:creationId xmlns:a16="http://schemas.microsoft.com/office/drawing/2014/main" id="{755B78C9-619D-595B-3274-E2E9B1D2C11C}"/>
              </a:ext>
            </a:extLst>
          </p:cNvPr>
          <p:cNvSpPr>
            <a:spLocks noGrp="1"/>
          </p:cNvSpPr>
          <p:nvPr>
            <p:ph idx="1"/>
          </p:nvPr>
        </p:nvSpPr>
        <p:spPr/>
        <p:txBody>
          <a:bodyPr/>
          <a:lstStyle/>
          <a:p>
            <a:r>
              <a:rPr lang="en-US" sz="2000" dirty="0"/>
              <a:t>Delayed / TBD</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FBB7C149-ABF8-CF62-F491-0C69AB6C366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0642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E3A2-28FA-FB59-8075-ABC59E8225C7}"/>
              </a:ext>
            </a:extLst>
          </p:cNvPr>
          <p:cNvSpPr>
            <a:spLocks noGrp="1"/>
          </p:cNvSpPr>
          <p:nvPr>
            <p:ph type="ctrTitle" sz="quarter"/>
          </p:nvPr>
        </p:nvSpPr>
        <p:spPr/>
        <p:txBody>
          <a:bodyPr/>
          <a:lstStyle/>
          <a:p>
            <a:r>
              <a:rPr lang="en-US" dirty="0"/>
              <a:t>Bypass of Human Authorization Controls</a:t>
            </a:r>
          </a:p>
        </p:txBody>
      </p:sp>
      <p:sp>
        <p:nvSpPr>
          <p:cNvPr id="3" name="Slide Number Placeholder 2">
            <a:extLst>
              <a:ext uri="{FF2B5EF4-FFF2-40B4-BE49-F238E27FC236}">
                <a16:creationId xmlns:a16="http://schemas.microsoft.com/office/drawing/2014/main" id="{56A2C63F-94CE-54E3-FA56-44C011E7A64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971448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0393C-21A1-4342-C53C-A393A0C58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B773C-6549-4520-AB0E-15706B5F0B75}"/>
              </a:ext>
            </a:extLst>
          </p:cNvPr>
          <p:cNvSpPr>
            <a:spLocks noGrp="1"/>
          </p:cNvSpPr>
          <p:nvPr>
            <p:ph type="title"/>
          </p:nvPr>
        </p:nvSpPr>
        <p:spPr/>
        <p:txBody>
          <a:bodyPr/>
          <a:lstStyle/>
          <a:p>
            <a:r>
              <a:rPr lang="en-US" dirty="0"/>
              <a:t>Bypass of Human Authorization Controls (Eran Segal, </a:t>
            </a:r>
            <a:r>
              <a:rPr lang="en-US" dirty="0" err="1"/>
              <a:t>Kodem</a:t>
            </a:r>
            <a:r>
              <a:rPr lang="en-US" dirty="0"/>
              <a:t> Security)</a:t>
            </a:r>
          </a:p>
        </p:txBody>
      </p:sp>
      <p:sp>
        <p:nvSpPr>
          <p:cNvPr id="3" name="Content Placeholder 2">
            <a:extLst>
              <a:ext uri="{FF2B5EF4-FFF2-40B4-BE49-F238E27FC236}">
                <a16:creationId xmlns:a16="http://schemas.microsoft.com/office/drawing/2014/main" id="{39D83D17-2924-EBE1-3D7B-0EE1507FC32C}"/>
              </a:ext>
            </a:extLst>
          </p:cNvPr>
          <p:cNvSpPr>
            <a:spLocks noGrp="1"/>
          </p:cNvSpPr>
          <p:nvPr>
            <p:ph idx="1"/>
          </p:nvPr>
        </p:nvSpPr>
        <p:spPr/>
        <p:txBody>
          <a:bodyPr/>
          <a:lstStyle/>
          <a:p>
            <a:r>
              <a:rPr lang="en-US" sz="1800" dirty="0"/>
              <a:t>ID: ES2512-73d63d33 /  CDR #174</a:t>
            </a:r>
          </a:p>
          <a:p>
            <a:r>
              <a:rPr lang="en-US" sz="1800" dirty="0"/>
              <a:t>Submitted: December 24, 2025</a:t>
            </a:r>
          </a:p>
          <a:p>
            <a:r>
              <a:rPr lang="en-US" sz="1800" dirty="0"/>
              <a:t>Name: Bypass of Human Authorization Controls</a:t>
            </a:r>
          </a:p>
          <a:p>
            <a:r>
              <a:rPr lang="en-US" sz="1800" dirty="0"/>
              <a:t>Phase: Initial-Review</a:t>
            </a:r>
          </a:p>
          <a:p>
            <a:r>
              <a:rPr lang="en-US" sz="1800" dirty="0"/>
              <a:t>Description</a:t>
            </a:r>
          </a:p>
          <a:p>
            <a:pPr lvl="1"/>
            <a:r>
              <a:rPr lang="en-US" sz="1800" dirty="0"/>
              <a:t>Most of the AI agents can't trust the entire context, because they contain results from untrusted sources such as the internet or the user's input. One of the known mechanisms used is 'human-in-the-loop’… </a:t>
            </a:r>
            <a:r>
              <a:rPr lang="en-US" sz="1800" dirty="0">
                <a:highlight>
                  <a:srgbClr val="00FF00"/>
                </a:highlight>
              </a:rPr>
              <a:t>[I want to cover] the concept of bypass techniques that allow an attacker to do malicious/dangerous activity without this approval</a:t>
            </a:r>
            <a:r>
              <a:rPr lang="en-US" sz="1800" dirty="0"/>
              <a:t>.</a:t>
            </a:r>
          </a:p>
          <a:p>
            <a:pPr lvl="1"/>
            <a:r>
              <a:rPr lang="en-US" sz="1800" dirty="0"/>
              <a:t>It can be because of a configuration issue, a code issue such as not restricting the regex enough, an LLM as a judge that decides if a human is required to approve that, or even an unrelated message to the human to approve.</a:t>
            </a:r>
          </a:p>
          <a:p>
            <a:pPr lvl="1"/>
            <a:r>
              <a:rPr lang="en-US" sz="1800" dirty="0"/>
              <a:t>[This] will be presented in RSA (2026 March)</a:t>
            </a:r>
          </a:p>
          <a:p>
            <a:r>
              <a:rPr lang="en-US" sz="1800" dirty="0">
                <a:hlinkClick r:id="rId2"/>
              </a:rPr>
              <a:t>https://github.com/CWE-CAPEC/CWE-Content-Development-Repository/issues/174</a:t>
            </a:r>
            <a:endParaRPr lang="en-US" sz="1800" dirty="0"/>
          </a:p>
          <a:p>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63C13022-6260-D186-27FD-75947EED33B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1644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737B-AF50-0DF7-DE58-8AB855370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C7CEA-567A-6324-7E46-49C7012B3765}"/>
              </a:ext>
            </a:extLst>
          </p:cNvPr>
          <p:cNvSpPr>
            <a:spLocks noGrp="1"/>
          </p:cNvSpPr>
          <p:nvPr>
            <p:ph type="ctrTitle" sz="quarter"/>
          </p:nvPr>
        </p:nvSpPr>
        <p:spPr/>
        <p:txBody>
          <a:bodyPr/>
          <a:lstStyle/>
          <a:p>
            <a:r>
              <a:rPr lang="en-US" dirty="0"/>
              <a:t>ANSI Injection from LLMs</a:t>
            </a:r>
          </a:p>
        </p:txBody>
      </p:sp>
      <p:sp>
        <p:nvSpPr>
          <p:cNvPr id="3" name="Slide Number Placeholder 2">
            <a:extLst>
              <a:ext uri="{FF2B5EF4-FFF2-40B4-BE49-F238E27FC236}">
                <a16:creationId xmlns:a16="http://schemas.microsoft.com/office/drawing/2014/main" id="{91DFFD87-46C9-DFAD-9260-4A69BBC1462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62807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600" dirty="0"/>
              <a:t>ID: ES2508-95a780e3 /  CDR #163</a:t>
            </a:r>
          </a:p>
          <a:p>
            <a:r>
              <a:rPr lang="en-US" sz="1600" dirty="0"/>
              <a:t>Submitted: 2025-08-15</a:t>
            </a:r>
          </a:p>
          <a:p>
            <a:r>
              <a:rPr lang="en-US" sz="1600" dirty="0"/>
              <a:t>Name: Inclusion of ANSI escape codes in LLM tokenizer</a:t>
            </a:r>
          </a:p>
          <a:p>
            <a:r>
              <a:rPr lang="en-US" sz="1600" dirty="0"/>
              <a:t>Phase: Init-Accepted</a:t>
            </a:r>
          </a:p>
          <a:p>
            <a:r>
              <a:rPr lang="en-US" sz="1600" dirty="0"/>
              <a:t>Description</a:t>
            </a:r>
          </a:p>
          <a:p>
            <a:pPr lvl="1"/>
            <a:r>
              <a:rPr lang="en-US" sz="1600" b="1" dirty="0">
                <a:highlight>
                  <a:srgbClr val="00FF00"/>
                </a:highlight>
              </a:rPr>
              <a:t>ANSI escape codes are included in a tokenizer</a:t>
            </a:r>
            <a:r>
              <a:rPr lang="en-US" sz="1600" dirty="0"/>
              <a:t>. This can result in the execution of commands if LLM generated text is displayed in a terminal emulator.</a:t>
            </a:r>
          </a:p>
          <a:p>
            <a:pPr lvl="2"/>
            <a:r>
              <a:rPr lang="en-US" sz="1600" i="1" dirty="0"/>
              <a:t>“For certain escape sequences, it may be treated as a single token”. Likelihood of outputting a single token is higher than for multiple tokens. Could be exploited when user reads logs / accesses </a:t>
            </a:r>
            <a:r>
              <a:rPr lang="en-US" sz="1600" i="1" dirty="0" err="1"/>
              <a:t>stdout</a:t>
            </a:r>
            <a:r>
              <a:rPr lang="en-US" sz="1600" i="1" dirty="0"/>
              <a:t> / stderr. Similar to a </a:t>
            </a:r>
            <a:r>
              <a:rPr lang="en-US" sz="1600" i="1" dirty="0" err="1"/>
              <a:t>lexer</a:t>
            </a:r>
            <a:r>
              <a:rPr lang="en-US" sz="1600" i="1" dirty="0"/>
              <a:t>.</a:t>
            </a:r>
          </a:p>
          <a:p>
            <a:r>
              <a:rPr lang="en-US" sz="1600" dirty="0"/>
              <a:t>Extended Description</a:t>
            </a:r>
          </a:p>
          <a:p>
            <a:pPr lvl="1"/>
            <a:r>
              <a:rPr lang="en-US" sz="1600" dirty="0">
                <a:highlight>
                  <a:srgbClr val="FFFF00"/>
                </a:highlight>
              </a:rPr>
              <a:t>ANSI escape sequences are a standard for controlling options in text terminals and terminal emulators that embed an escape character into text, which are interpreted as commands instead of text to be displayed.</a:t>
            </a:r>
            <a:r>
              <a:rPr lang="en-US" sz="1600" dirty="0"/>
              <a:t> This can result in unexpected command injection (CWE-77).</a:t>
            </a:r>
          </a:p>
          <a:p>
            <a:pPr lvl="1"/>
            <a:r>
              <a:rPr lang="en-US" sz="1600" dirty="0"/>
              <a:t>This impacts tokenizers used with large language models. Since large language models are generally expected to output human-readable text, tokenizers should not contain these escape sequences.</a:t>
            </a:r>
          </a:p>
          <a:p>
            <a:r>
              <a:rPr lang="en-US" sz="1600" dirty="0">
                <a:hlinkClick r:id="rId2"/>
              </a:rPr>
              <a:t>https://github.com/CWE-CAPEC/CWE-Content-Development-Repository/issues/163</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561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a:t>Probably too low-level for its own CWE (SUB.ABS.LOWLEVEL)</a:t>
            </a:r>
          </a:p>
          <a:p>
            <a:pPr lvl="1"/>
            <a:r>
              <a:rPr lang="en-US" sz="2000"/>
              <a:t>Specific types of “escape” codes</a:t>
            </a:r>
          </a:p>
          <a:p>
            <a:pPr lvl="1"/>
            <a:r>
              <a:rPr lang="en-US" sz="2000"/>
              <a:t>LLM tokenizer</a:t>
            </a:r>
          </a:p>
          <a:p>
            <a:r>
              <a:rPr lang="en-US" sz="2000"/>
              <a:t>Overlaps an older submission related to ANSI codes</a:t>
            </a:r>
          </a:p>
          <a:p>
            <a:pPr lvl="1"/>
            <a:r>
              <a:rPr lang="en-US" sz="2000"/>
              <a:t>Improper Neutralization of ANSI Codes ('ANSI Injection’) - Tristan Figueroa-Reid - ES2406-ca98e75f / CDR #112</a:t>
            </a:r>
          </a:p>
          <a:p>
            <a:r>
              <a:rPr lang="en-US" sz="2000"/>
              <a:t>CWE already exists - CWE-150: Improper Neutralization of Escape, Meta, or Control Sequences</a:t>
            </a:r>
          </a:p>
          <a:p>
            <a:r>
              <a:rPr lang="en-US" sz="2000"/>
              <a:t>From the older submission review:</a:t>
            </a:r>
          </a:p>
          <a:p>
            <a:pPr lvl="1"/>
            <a:r>
              <a:rPr lang="en-US" sz="200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5627398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BD14-3DAF-9D82-1A0B-2D394FD6B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88562-75A7-38AE-1933-EAADC84F3518}"/>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DBCB333A-F578-1B86-F22E-6CB3BFA23364}"/>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4F035A96-6841-C346-D7C7-4838097DF5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35800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51A85-0EDB-7428-B104-3B44F3A71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6952F-3DCB-A491-27A2-BA082A30CB73}"/>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E06AD1FA-B184-0F18-65C4-6B9A3CC400F5}"/>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DBB2140-CB48-7FA6-B2C7-6166F62F1FC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32589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dirty="0"/>
              <a:t>Other Submissions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23937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73116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51893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60838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73395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5ACC-315C-0CE3-9A23-7D1C7F1DB9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E3CB5-6C1C-1AF6-02C9-82B6B3B448FD}"/>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E6E441E8-4831-0908-3CD0-AD920C14017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0994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January 23 (Modifications)</a:t>
            </a:r>
          </a:p>
          <a:p>
            <a:pPr lvl="1"/>
            <a:r>
              <a:rPr lang="en-US" dirty="0"/>
              <a:t>February 6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899970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48176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50FCDD-08B1-48D8-BB50-7A17E590A5EE}">
  <ds:schemaRefs>
    <ds:schemaRef ds:uri="http://schemas.microsoft.com/office/2006/documentManagement/types"/>
    <ds:schemaRef ds:uri="http://schemas.microsoft.com/office/infopath/2007/PartnerControls"/>
    <ds:schemaRef ds:uri="http://schemas.openxmlformats.org/package/2006/metadata/core-properties"/>
    <ds:schemaRef ds:uri="b5a44311-ed64-4a72-909f-c9dc6973bde2"/>
    <ds:schemaRef ds:uri="http://purl.org/dc/terms/"/>
    <ds:schemaRef ds:uri="http://purl.org/dc/elements/1.1/"/>
    <ds:schemaRef ds:uri="f3e578be-7961-41e8-91c9-b742ecb60a74"/>
    <ds:schemaRef ds:uri="aff8eeb6-53bf-44bf-a224-fac977cd228b"/>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567C89AF-C76F-4189-A715-343D847AB2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f8eeb6-53bf-44bf-a224-fac977cd228b"/>
    <ds:schemaRef ds:uri="f3e578be-7961-41e8-91c9-b742ecb60a74"/>
    <ds:schemaRef ds:uri="b5a44311-ed64-4a72-909f-c9dc6973bd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118</TotalTime>
  <Words>7409</Words>
  <Application>Microsoft Office PowerPoint</Application>
  <PresentationFormat>Widescreen</PresentationFormat>
  <Paragraphs>740</Paragraphs>
  <Slides>78</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78</vt:i4>
      </vt:variant>
    </vt:vector>
  </HeadingPairs>
  <TitlesOfParts>
    <vt:vector size="87"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Content Work</vt:lpstr>
      <vt:lpstr>Framing of AI submission reviews</vt:lpstr>
      <vt:lpstr>Active New Entry Submissions – For Discussion</vt:lpstr>
      <vt:lpstr>Active New Entry Submissions - Ongoing</vt:lpstr>
      <vt:lpstr>Deprioritized/Delayed New Entry Submissions</vt:lpstr>
      <vt:lpstr>Bypass of Human Authorization Controls</vt:lpstr>
      <vt:lpstr>Bypass of Human Authorization Controls (Eran Segal, Kodem Security)</vt:lpstr>
      <vt:lpstr>ANSI Injection from LLMs</vt:lpstr>
      <vt:lpstr>Inclusion of ANSI escape codes in LLM tokenizer (Erick Galinkin)</vt:lpstr>
      <vt:lpstr>Issues: Inclusion of ANSI escape codes in LLM tokenizer (Erick Galinkin)</vt:lpstr>
      <vt:lpstr>Demonstrative Examples</vt:lpstr>
      <vt:lpstr>Demonstrative example - 1</vt:lpstr>
      <vt:lpstr>Other Submissions</vt:lpstr>
      <vt:lpstr>“Bias in AI Models” (Kurt Seifried) - ES2402-38e20ce6 </vt:lpstr>
      <vt:lpstr>Questions</vt:lpstr>
      <vt:lpstr>“Improper Neutralization of Configurations Used for MCP Client” (Xinpeng Liu) ES2506-e3c78a2a </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Managing the Workload</vt:lpstr>
      <vt:lpstr>Addressing Submissions in the Working Queue</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2026-01-09T16:17:46Z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