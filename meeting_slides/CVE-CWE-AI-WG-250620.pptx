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8"/>
  </p:notesMasterIdLst>
  <p:handoutMasterIdLst>
    <p:handoutMasterId r:id="rId59"/>
  </p:handoutMasterIdLst>
  <p:sldIdLst>
    <p:sldId id="459" r:id="rId5"/>
    <p:sldId id="475" r:id="rId6"/>
    <p:sldId id="514" r:id="rId7"/>
    <p:sldId id="533" r:id="rId8"/>
    <p:sldId id="583" r:id="rId9"/>
    <p:sldId id="585" r:id="rId10"/>
    <p:sldId id="495" r:id="rId11"/>
    <p:sldId id="503" r:id="rId12"/>
    <p:sldId id="504" r:id="rId13"/>
    <p:sldId id="587" r:id="rId14"/>
    <p:sldId id="588" r:id="rId15"/>
    <p:sldId id="551" r:id="rId16"/>
    <p:sldId id="586" r:id="rId17"/>
    <p:sldId id="505" r:id="rId18"/>
    <p:sldId id="496" r:id="rId19"/>
    <p:sldId id="494" r:id="rId20"/>
    <p:sldId id="497" r:id="rId21"/>
    <p:sldId id="560" r:id="rId22"/>
    <p:sldId id="552" r:id="rId23"/>
    <p:sldId id="575" r:id="rId24"/>
    <p:sldId id="502" r:id="rId25"/>
    <p:sldId id="501" r:id="rId26"/>
    <p:sldId id="576" r:id="rId27"/>
    <p:sldId id="493" r:id="rId28"/>
    <p:sldId id="488" r:id="rId29"/>
    <p:sldId id="539" r:id="rId30"/>
    <p:sldId id="547" r:id="rId31"/>
    <p:sldId id="541" r:id="rId32"/>
    <p:sldId id="543" r:id="rId33"/>
    <p:sldId id="548" r:id="rId34"/>
    <p:sldId id="542" r:id="rId35"/>
    <p:sldId id="581" r:id="rId36"/>
    <p:sldId id="582" r:id="rId37"/>
    <p:sldId id="579" r:id="rId38"/>
    <p:sldId id="580" r:id="rId39"/>
    <p:sldId id="584" r:id="rId40"/>
    <p:sldId id="554" r:id="rId41"/>
    <p:sldId id="561" r:id="rId42"/>
    <p:sldId id="562" r:id="rId43"/>
    <p:sldId id="563" r:id="rId44"/>
    <p:sldId id="564" r:id="rId45"/>
    <p:sldId id="565" r:id="rId46"/>
    <p:sldId id="566" r:id="rId47"/>
    <p:sldId id="567" r:id="rId48"/>
    <p:sldId id="568" r:id="rId49"/>
    <p:sldId id="569" r:id="rId50"/>
    <p:sldId id="570" r:id="rId51"/>
    <p:sldId id="571" r:id="rId52"/>
    <p:sldId id="572" r:id="rId53"/>
    <p:sldId id="573" r:id="rId54"/>
    <p:sldId id="574" r:id="rId55"/>
    <p:sldId id="545" r:id="rId56"/>
    <p:sldId id="53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105D66-9E5B-49CD-8B52-70669F4EA7AE}" v="12" dt="2025-06-20T15:55:32.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3" autoAdjust="0"/>
    <p:restoredTop sz="94660"/>
  </p:normalViewPr>
  <p:slideViewPr>
    <p:cSldViewPr snapToGrid="0">
      <p:cViewPr varScale="1">
        <p:scale>
          <a:sx n="61" d="100"/>
          <a:sy n="61" d="100"/>
        </p:scale>
        <p:origin x="590"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microsoft.com/office/2018/10/relationships/authors" Target="authors.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pChg chg="mod">
          <ac:chgData name="Steven M Christey" userId="f24da668-4c1f-41c0-850e-113e2bdf78cf" providerId="ADAL" clId="{C2F18F40-825E-4AB2-AAE5-04A45408A365}" dt="2025-06-06T14:35:02.444" v="8" actId="20577"/>
          <ac:spMkLst>
            <pc:docMk/>
            <pc:sldMk cId="1454278300" sldId="459"/>
            <ac:spMk id="2" creationId="{33307706-4E65-00EA-9416-F4DD36CAAD0A}"/>
          </ac:spMkLst>
        </pc:spChg>
      </pc:sldChg>
    </pc:docChg>
  </pc:docChgLst>
  <pc:docChgLst>
    <pc:chgData name="Steven M Christey" userId="f24da668-4c1f-41c0-850e-113e2bdf78cf" providerId="ADAL" clId="{71105D66-9E5B-49CD-8B52-70669F4EA7AE}"/>
    <pc:docChg chg="undo custSel addSld modSld sldOrd">
      <pc:chgData name="Steven M Christey" userId="f24da668-4c1f-41c0-850e-113e2bdf78cf" providerId="ADAL" clId="{71105D66-9E5B-49CD-8B52-70669F4EA7AE}" dt="2025-06-20T15:59:29.421" v="1756" actId="20577"/>
      <pc:docMkLst>
        <pc:docMk/>
      </pc:docMkLst>
      <pc:sldChg chg="modSp mod">
        <pc:chgData name="Steven M Christey" userId="f24da668-4c1f-41c0-850e-113e2bdf78cf" providerId="ADAL" clId="{71105D66-9E5B-49CD-8B52-70669F4EA7AE}" dt="2025-06-20T14:27:22.836" v="12" actId="20577"/>
        <pc:sldMkLst>
          <pc:docMk/>
          <pc:sldMk cId="1454278300" sldId="459"/>
        </pc:sldMkLst>
        <pc:spChg chg="mod">
          <ac:chgData name="Steven M Christey" userId="f24da668-4c1f-41c0-850e-113e2bdf78cf" providerId="ADAL" clId="{71105D66-9E5B-49CD-8B52-70669F4EA7AE}" dt="2025-06-20T14:27:22.836" v="12" actId="20577"/>
          <ac:spMkLst>
            <pc:docMk/>
            <pc:sldMk cId="1454278300" sldId="459"/>
            <ac:spMk id="3" creationId="{0992DF88-AC24-0FBF-1177-62DD9110498B}"/>
          </ac:spMkLst>
        </pc:spChg>
      </pc:sldChg>
      <pc:sldChg chg="modSp mod">
        <pc:chgData name="Steven M Christey" userId="f24da668-4c1f-41c0-850e-113e2bdf78cf" providerId="ADAL" clId="{71105D66-9E5B-49CD-8B52-70669F4EA7AE}" dt="2025-06-20T15:02:16.733" v="397" actId="20577"/>
        <pc:sldMkLst>
          <pc:docMk/>
          <pc:sldMk cId="1259113184" sldId="475"/>
        </pc:sldMkLst>
        <pc:spChg chg="mod">
          <ac:chgData name="Steven M Christey" userId="f24da668-4c1f-41c0-850e-113e2bdf78cf" providerId="ADAL" clId="{71105D66-9E5B-49CD-8B52-70669F4EA7AE}" dt="2025-06-20T15:02:16.733" v="397" actId="20577"/>
          <ac:spMkLst>
            <pc:docMk/>
            <pc:sldMk cId="1259113184" sldId="475"/>
            <ac:spMk id="3" creationId="{32062DF9-CFF1-0BEE-15FF-59D403B018ED}"/>
          </ac:spMkLst>
        </pc:spChg>
      </pc:sldChg>
      <pc:sldChg chg="modSp mod ord">
        <pc:chgData name="Steven M Christey" userId="f24da668-4c1f-41c0-850e-113e2bdf78cf" providerId="ADAL" clId="{71105D66-9E5B-49CD-8B52-70669F4EA7AE}" dt="2025-06-20T14:31:46.741" v="357" actId="6549"/>
        <pc:sldMkLst>
          <pc:docMk/>
          <pc:sldMk cId="625922019" sldId="495"/>
        </pc:sldMkLst>
        <pc:spChg chg="mod">
          <ac:chgData name="Steven M Christey" userId="f24da668-4c1f-41c0-850e-113e2bdf78cf" providerId="ADAL" clId="{71105D66-9E5B-49CD-8B52-70669F4EA7AE}" dt="2025-06-20T14:30:23.612" v="265" actId="20577"/>
          <ac:spMkLst>
            <pc:docMk/>
            <pc:sldMk cId="625922019" sldId="495"/>
            <ac:spMk id="2" creationId="{788A2079-E990-5D60-84B3-E19FEC2C60D5}"/>
          </ac:spMkLst>
        </pc:spChg>
        <pc:spChg chg="mod">
          <ac:chgData name="Steven M Christey" userId="f24da668-4c1f-41c0-850e-113e2bdf78cf" providerId="ADAL" clId="{71105D66-9E5B-49CD-8B52-70669F4EA7AE}" dt="2025-06-20T14:31:46.741" v="357" actId="6549"/>
          <ac:spMkLst>
            <pc:docMk/>
            <pc:sldMk cId="625922019" sldId="495"/>
            <ac:spMk id="3" creationId="{91BBE544-B07D-A22E-1C50-A45E8F9C0351}"/>
          </ac:spMkLst>
        </pc:spChg>
      </pc:sldChg>
      <pc:sldChg chg="ord">
        <pc:chgData name="Steven M Christey" userId="f24da668-4c1f-41c0-850e-113e2bdf78cf" providerId="ADAL" clId="{71105D66-9E5B-49CD-8B52-70669F4EA7AE}" dt="2025-06-20T14:28:07.333" v="14"/>
        <pc:sldMkLst>
          <pc:docMk/>
          <pc:sldMk cId="2072573845" sldId="503"/>
        </pc:sldMkLst>
      </pc:sldChg>
      <pc:sldChg chg="ord">
        <pc:chgData name="Steven M Christey" userId="f24da668-4c1f-41c0-850e-113e2bdf78cf" providerId="ADAL" clId="{71105D66-9E5B-49CD-8B52-70669F4EA7AE}" dt="2025-06-20T14:28:07.333" v="14"/>
        <pc:sldMkLst>
          <pc:docMk/>
          <pc:sldMk cId="1678047159" sldId="504"/>
        </pc:sldMkLst>
      </pc:sldChg>
      <pc:sldChg chg="ord">
        <pc:chgData name="Steven M Christey" userId="f24da668-4c1f-41c0-850e-113e2bdf78cf" providerId="ADAL" clId="{71105D66-9E5B-49CD-8B52-70669F4EA7AE}" dt="2025-06-20T14:28:39.958" v="18"/>
        <pc:sldMkLst>
          <pc:docMk/>
          <pc:sldMk cId="2639086877" sldId="551"/>
        </pc:sldMkLst>
      </pc:sldChg>
      <pc:sldChg chg="modSp mod">
        <pc:chgData name="Steven M Christey" userId="f24da668-4c1f-41c0-850e-113e2bdf78cf" providerId="ADAL" clId="{71105D66-9E5B-49CD-8B52-70669F4EA7AE}" dt="2025-06-20T14:30:11.999" v="248" actId="20577"/>
        <pc:sldMkLst>
          <pc:docMk/>
          <pc:sldMk cId="1570532610" sldId="585"/>
        </pc:sldMkLst>
        <pc:spChg chg="mod">
          <ac:chgData name="Steven M Christey" userId="f24da668-4c1f-41c0-850e-113e2bdf78cf" providerId="ADAL" clId="{71105D66-9E5B-49CD-8B52-70669F4EA7AE}" dt="2025-06-20T14:30:11.999" v="248" actId="20577"/>
          <ac:spMkLst>
            <pc:docMk/>
            <pc:sldMk cId="1570532610" sldId="585"/>
            <ac:spMk id="2" creationId="{B5AF5A9D-CA78-EE9B-F409-CD4F59410820}"/>
          </ac:spMkLst>
        </pc:spChg>
        <pc:spChg chg="mod">
          <ac:chgData name="Steven M Christey" userId="f24da668-4c1f-41c0-850e-113e2bdf78cf" providerId="ADAL" clId="{71105D66-9E5B-49CD-8B52-70669F4EA7AE}" dt="2025-06-20T14:30:04.852" v="241" actId="20577"/>
          <ac:spMkLst>
            <pc:docMk/>
            <pc:sldMk cId="1570532610" sldId="585"/>
            <ac:spMk id="3" creationId="{5F34ED3C-1922-1677-B432-4CE04C52EF75}"/>
          </ac:spMkLst>
        </pc:spChg>
      </pc:sldChg>
      <pc:sldChg chg="ord">
        <pc:chgData name="Steven M Christey" userId="f24da668-4c1f-41c0-850e-113e2bdf78cf" providerId="ADAL" clId="{71105D66-9E5B-49CD-8B52-70669F4EA7AE}" dt="2025-06-20T14:28:50.854" v="22"/>
        <pc:sldMkLst>
          <pc:docMk/>
          <pc:sldMk cId="1440328160" sldId="586"/>
        </pc:sldMkLst>
      </pc:sldChg>
      <pc:sldChg chg="modSp mod ord">
        <pc:chgData name="Steven M Christey" userId="f24da668-4c1f-41c0-850e-113e2bdf78cf" providerId="ADAL" clId="{71105D66-9E5B-49CD-8B52-70669F4EA7AE}" dt="2025-06-20T15:55:25.534" v="1439"/>
        <pc:sldMkLst>
          <pc:docMk/>
          <pc:sldMk cId="3428824971" sldId="587"/>
        </pc:sldMkLst>
        <pc:spChg chg="mod">
          <ac:chgData name="Steven M Christey" userId="f24da668-4c1f-41c0-850e-113e2bdf78cf" providerId="ADAL" clId="{71105D66-9E5B-49CD-8B52-70669F4EA7AE}" dt="2025-06-20T15:55:25.534" v="1439"/>
          <ac:spMkLst>
            <pc:docMk/>
            <pc:sldMk cId="3428824971" sldId="587"/>
            <ac:spMk id="3" creationId="{ED01B37D-F7F7-0CB9-CC8B-17C1ED88F0E5}"/>
          </ac:spMkLst>
        </pc:spChg>
      </pc:sldChg>
      <pc:sldChg chg="modSp add mod">
        <pc:chgData name="Steven M Christey" userId="f24da668-4c1f-41c0-850e-113e2bdf78cf" providerId="ADAL" clId="{71105D66-9E5B-49CD-8B52-70669F4EA7AE}" dt="2025-06-20T15:59:29.421" v="1756" actId="20577"/>
        <pc:sldMkLst>
          <pc:docMk/>
          <pc:sldMk cId="2203204905" sldId="588"/>
        </pc:sldMkLst>
        <pc:spChg chg="mod">
          <ac:chgData name="Steven M Christey" userId="f24da668-4c1f-41c0-850e-113e2bdf78cf" providerId="ADAL" clId="{71105D66-9E5B-49CD-8B52-70669F4EA7AE}" dt="2025-06-20T15:59:29.421" v="1756" actId="20577"/>
          <ac:spMkLst>
            <pc:docMk/>
            <pc:sldMk cId="2203204905" sldId="588"/>
            <ac:spMk id="3" creationId="{A331AA16-2369-4B43-DF38-B7BAB8CD25A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6/20/2025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6/20/2025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New Entry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June 20,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AI note-taking policy</a:t>
            </a:r>
          </a:p>
          <a:p>
            <a:pPr marL="307975" indent="-307975"/>
            <a:r>
              <a:rPr lang="en-US" dirty="0">
                <a:latin typeface="Tahoma"/>
                <a:ea typeface="Tahoma"/>
                <a:cs typeface="Tahoma"/>
              </a:rPr>
              <a:t>Status updates</a:t>
            </a:r>
          </a:p>
          <a:p>
            <a:pPr marL="307975" indent="-307975"/>
            <a:r>
              <a:rPr lang="en-US" dirty="0">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dirty="0"/>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is now fully public</a:t>
            </a:r>
          </a:p>
          <a:p>
            <a:pPr marL="307975" indent="-307975"/>
            <a:endParaRPr lang="en-US" dirty="0">
              <a:latin typeface="Tahoma"/>
              <a:ea typeface="Tahoma"/>
              <a:cs typeface="Tahoma"/>
            </a:endParaRPr>
          </a:p>
          <a:p>
            <a:pPr marL="307975" indent="-307975"/>
            <a:r>
              <a:rPr lang="en-US" dirty="0">
                <a:latin typeface="Tahoma"/>
                <a:ea typeface="Tahoma"/>
                <a:cs typeface="Tahoma"/>
              </a:rPr>
              <a:t>Next CWE release: version 4.18, August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dirty="0"/>
              <a:t>New Entry Development:</a:t>
            </a:r>
            <a:br>
              <a:rPr lang="en-US" dirty="0"/>
            </a:br>
            <a:r>
              <a:rPr lang="en-US" dirty="0"/>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9528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dirty="0"/>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dirty="0"/>
              <a:t>Status</a:t>
            </a:r>
          </a:p>
          <a:p>
            <a:pPr lvl="1"/>
            <a:r>
              <a:rPr lang="en-US" dirty="0"/>
              <a:t>(ASAP – MITRE) Need to enter data from previous meetings into raw submission file</a:t>
            </a:r>
          </a:p>
          <a:p>
            <a:pPr lvl="1"/>
            <a:r>
              <a:rPr lang="en-US" dirty="0"/>
              <a:t>(Today) Need to develop a demonstrative example</a:t>
            </a:r>
          </a:p>
          <a:p>
            <a:pPr lvl="1"/>
            <a:r>
              <a:rPr lang="en-US" dirty="0"/>
              <a:t>(Next meeting) Final review by WG members</a:t>
            </a:r>
          </a:p>
          <a:p>
            <a:r>
              <a:rPr lang="en-US" dirty="0"/>
              <a:t>NAME: Insecure Setting of Generative AI/ML Model Inference Parameters</a:t>
            </a:r>
          </a:p>
          <a:p>
            <a:r>
              <a:rPr lang="en-US" dirty="0"/>
              <a:t>SUMMARY:</a:t>
            </a:r>
          </a:p>
          <a:p>
            <a:pPr lvl="1"/>
            <a:r>
              <a:rPr lang="en-US" dirty="0"/>
              <a:t>The product has a component that relies on a generative AI/ML model, but the model is configured with incorrect inference parameters that produce excessive erroneous or unexpected outputs that violate the intended security policy.</a:t>
            </a:r>
          </a:p>
          <a:p>
            <a:endParaRPr lang="en-US" dirty="0"/>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053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dirty="0"/>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a:p>
            <a:r>
              <a:rPr lang="en-US" dirty="0"/>
              <a:t>3 scenarios so far:</a:t>
            </a:r>
          </a:p>
          <a:p>
            <a:pPr lvl="1"/>
            <a:r>
              <a:rPr lang="en-US" dirty="0"/>
              <a:t>robotic/drone control using an LLM</a:t>
            </a:r>
          </a:p>
          <a:p>
            <a:pPr lvl="1"/>
            <a:r>
              <a:rPr lang="en-US" dirty="0" err="1"/>
              <a:t>json</a:t>
            </a:r>
            <a:r>
              <a:rPr lang="en-US" dirty="0"/>
              <a:t> formatting not being correct</a:t>
            </a:r>
          </a:p>
          <a:p>
            <a:pPr lvl="1"/>
            <a:r>
              <a:rPr lang="en-US" dirty="0"/>
              <a:t>package hallucination example</a:t>
            </a:r>
          </a:p>
          <a:p>
            <a:r>
              <a:rPr lang="en-US" dirty="0"/>
              <a:t>How can we show clear security implications?</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25922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&lt;robotic / drone control using an LLM&gt;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2573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dirty="0"/>
              <a:t>Introductory text – </a:t>
            </a:r>
            <a:r>
              <a:rPr lang="en-US" dirty="0">
                <a:solidFill>
                  <a:srgbClr val="FF0000"/>
                </a:solidFill>
              </a:rPr>
              <a:t>&lt;</a:t>
            </a:r>
            <a:r>
              <a:rPr lang="en-US" dirty="0" err="1">
                <a:solidFill>
                  <a:srgbClr val="FF0000"/>
                </a:solidFill>
              </a:rPr>
              <a:t>json</a:t>
            </a:r>
            <a:r>
              <a:rPr lang="en-US" dirty="0">
                <a:solidFill>
                  <a:srgbClr val="FF0000"/>
                </a:solidFill>
              </a:rPr>
              <a:t> formatting not being correct&gt;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78047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dirty="0"/>
              <a:t>Demonstrative example - 3</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2000" dirty="0"/>
              <a:t>Introductory text – </a:t>
            </a:r>
            <a:r>
              <a:rPr lang="en-US" sz="2000" dirty="0">
                <a:solidFill>
                  <a:srgbClr val="FF0000"/>
                </a:solidFill>
              </a:rPr>
              <a:t>&lt;Suppose the user has an AI assistant to help them write code. Suppose you have </a:t>
            </a:r>
            <a:r>
              <a:rPr lang="en-US" sz="2000" dirty="0" err="1">
                <a:solidFill>
                  <a:srgbClr val="FF0000"/>
                </a:solidFill>
              </a:rPr>
              <a:t>Widsurf</a:t>
            </a:r>
            <a:r>
              <a:rPr lang="en-US" sz="2000" dirty="0">
                <a:solidFill>
                  <a:srgbClr val="FF0000"/>
                </a:solidFill>
              </a:rPr>
              <a:t>/Cursor with an IDE integrated. Having it write code that interacts with a product. Or as you’re writing code, it makes suggestions for libraries to import. E.g., if importing pandas, auto-suggestions of </a:t>
            </a:r>
            <a:r>
              <a:rPr lang="en-US" sz="2000" dirty="0" err="1">
                <a:solidFill>
                  <a:srgbClr val="FF0000"/>
                </a:solidFill>
              </a:rPr>
              <a:t>numPy</a:t>
            </a:r>
            <a:r>
              <a:rPr lang="en-US" sz="2000" dirty="0">
                <a:solidFill>
                  <a:srgbClr val="FF0000"/>
                </a:solidFill>
              </a:rPr>
              <a:t>. &gt;</a:t>
            </a:r>
          </a:p>
          <a:p>
            <a:endParaRPr lang="en-US" sz="2000" dirty="0">
              <a:solidFill>
                <a:srgbClr val="FF0000"/>
              </a:solidFill>
            </a:endParaRPr>
          </a:p>
          <a:p>
            <a:r>
              <a:rPr lang="en-US" sz="2000" dirty="0"/>
              <a:t>“Bad” code – </a:t>
            </a:r>
            <a:r>
              <a:rPr lang="en-US" sz="2000" dirty="0">
                <a:solidFill>
                  <a:srgbClr val="FF0000"/>
                </a:solidFill>
              </a:rPr>
              <a:t>Package hallucination example. Might hallucinate most when dealing with uncommon data sources / APIs that aren’t part of the training data.</a:t>
            </a:r>
          </a:p>
          <a:p>
            <a:r>
              <a:rPr lang="en-US" sz="2000" dirty="0">
                <a:solidFill>
                  <a:srgbClr val="FF0000"/>
                </a:solidFill>
              </a:rPr>
              <a:t>Garak example: https://github.com/NVIDIA/garak/blob/main/garak/probes/packagehallucination.py </a:t>
            </a:r>
          </a:p>
          <a:p>
            <a:r>
              <a:rPr lang="en-US" sz="2000" dirty="0">
                <a:solidFill>
                  <a:srgbClr val="FF0000"/>
                </a:solidFill>
              </a:rPr>
              <a:t>Assume the model’s trained correctly – we’ve set the temperature too high</a:t>
            </a:r>
          </a:p>
          <a:p>
            <a:r>
              <a:rPr lang="en-US" sz="2000" dirty="0">
                <a:solidFill>
                  <a:srgbClr val="FF0000"/>
                </a:solidFill>
              </a:rPr>
              <a:t>In some languages, there can be assumptions of “crossover” across languages – e.g. writing Ruby code that resembles packages from </a:t>
            </a:r>
            <a:r>
              <a:rPr lang="en-US" sz="2000" dirty="0" err="1">
                <a:solidFill>
                  <a:srgbClr val="FF0000"/>
                </a:solidFill>
              </a:rPr>
              <a:t>PyPy</a:t>
            </a:r>
            <a:r>
              <a:rPr lang="en-US" sz="2000" dirty="0">
                <a:solidFill>
                  <a:srgbClr val="FF0000"/>
                </a:solidFill>
              </a:rPr>
              <a:t> that don’t exist in </a:t>
            </a:r>
            <a:r>
              <a:rPr lang="en-US" sz="2000" dirty="0" err="1">
                <a:solidFill>
                  <a:srgbClr val="FF0000"/>
                </a:solidFill>
              </a:rPr>
              <a:t>RubyGems</a:t>
            </a:r>
            <a:r>
              <a:rPr lang="en-US" sz="2000" dirty="0">
                <a:solidFill>
                  <a:srgbClr val="FF0000"/>
                </a:solidFill>
              </a:rPr>
              <a:t>.</a:t>
            </a:r>
          </a:p>
          <a:p>
            <a:endParaRPr lang="en-US" sz="2000" dirty="0">
              <a:solidFill>
                <a:srgbClr val="FF0000"/>
              </a:solidFill>
            </a:endParaRPr>
          </a:p>
          <a:p>
            <a:endParaRPr lang="en-US" sz="2000" dirty="0">
              <a:solidFill>
                <a:srgbClr val="FF0000"/>
              </a:solidFill>
            </a:endParaRPr>
          </a:p>
          <a:p>
            <a:r>
              <a:rPr lang="en-US" sz="2000" dirty="0"/>
              <a:t>Explanation of the weakness - </a:t>
            </a:r>
            <a:r>
              <a:rPr lang="en-US" sz="2000" dirty="0">
                <a:solidFill>
                  <a:srgbClr val="FF0000"/>
                </a:solidFill>
              </a:rPr>
              <a:t>&lt;fill here&gt;</a:t>
            </a:r>
          </a:p>
          <a:p>
            <a:endParaRPr lang="en-US" sz="2000" dirty="0">
              <a:solidFill>
                <a:srgbClr val="FF0000"/>
              </a:solidFill>
            </a:endParaRPr>
          </a:p>
          <a:p>
            <a:r>
              <a:rPr lang="en-US" sz="2000" dirty="0"/>
              <a:t>(optional) how the weakness is attacked/exploited - </a:t>
            </a:r>
            <a:r>
              <a:rPr lang="en-US" sz="2000" dirty="0">
                <a:solidFill>
                  <a:srgbClr val="FF0000"/>
                </a:solidFill>
              </a:rPr>
              <a:t>&lt;fill here&gt;</a:t>
            </a:r>
          </a:p>
          <a:p>
            <a:endParaRPr lang="en-US" sz="2000" dirty="0">
              <a:solidFill>
                <a:srgbClr val="FF0000"/>
              </a:solidFill>
            </a:endParaRPr>
          </a:p>
          <a:p>
            <a:r>
              <a:rPr lang="en-US" sz="2000" dirty="0"/>
              <a:t>“Good” code – code changes that fix the weakness - </a:t>
            </a:r>
            <a:r>
              <a:rPr lang="en-US" sz="2000" dirty="0">
                <a:solidFill>
                  <a:srgbClr val="FF0000"/>
                </a:solidFill>
              </a:rPr>
              <a:t>&lt;fill here&gt;</a:t>
            </a:r>
          </a:p>
          <a:p>
            <a:endParaRPr lang="en-US" sz="2000" dirty="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28824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dirty="0"/>
              <a:t>Demonstrative example - 3</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1800" dirty="0">
                <a:solidFill>
                  <a:srgbClr val="FF0000"/>
                </a:solidFill>
              </a:rPr>
              <a:t>Assume the model’s trained correctly – we’ve set the temperature too high, increasing the chances of selecting an extremely-unlikely package</a:t>
            </a:r>
          </a:p>
          <a:p>
            <a:r>
              <a:rPr lang="en-US" sz="1800" dirty="0">
                <a:solidFill>
                  <a:srgbClr val="FF0000"/>
                </a:solidFill>
              </a:rPr>
              <a:t>In some languages, there can be assumptions of “crossover” across languages – e.g. writing Ruby code that resembles packages from </a:t>
            </a:r>
            <a:r>
              <a:rPr lang="en-US" sz="1800" dirty="0" err="1">
                <a:solidFill>
                  <a:srgbClr val="FF0000"/>
                </a:solidFill>
              </a:rPr>
              <a:t>PyPy</a:t>
            </a:r>
            <a:r>
              <a:rPr lang="en-US" sz="1800" dirty="0">
                <a:solidFill>
                  <a:srgbClr val="FF0000"/>
                </a:solidFill>
              </a:rPr>
              <a:t> that don’t exist in </a:t>
            </a:r>
            <a:r>
              <a:rPr lang="en-US" sz="1800" dirty="0" err="1">
                <a:solidFill>
                  <a:srgbClr val="FF0000"/>
                </a:solidFill>
              </a:rPr>
              <a:t>RubyGems</a:t>
            </a:r>
            <a:r>
              <a:rPr lang="en-US" sz="1800" dirty="0">
                <a:solidFill>
                  <a:srgbClr val="FF0000"/>
                </a:solidFill>
              </a:rPr>
              <a:t>.</a:t>
            </a:r>
          </a:p>
          <a:p>
            <a:r>
              <a:rPr lang="en-US" sz="1800" dirty="0">
                <a:solidFill>
                  <a:srgbClr val="FF0000"/>
                </a:solidFill>
              </a:rPr>
              <a:t>Consider avoiding cases of referencing real packages found in training data but highly unlikely</a:t>
            </a:r>
          </a:p>
          <a:p>
            <a:r>
              <a:rPr lang="en-US" sz="1800" dirty="0">
                <a:solidFill>
                  <a:srgbClr val="FF0000"/>
                </a:solidFill>
              </a:rPr>
              <a:t>Note: the training directly influences the inference</a:t>
            </a:r>
          </a:p>
          <a:p>
            <a:r>
              <a:rPr lang="en-US" sz="1800" dirty="0">
                <a:solidFill>
                  <a:srgbClr val="FF0000"/>
                </a:solidFill>
              </a:rPr>
              <a:t>Considering abandoned libraries – not a hallucination</a:t>
            </a:r>
          </a:p>
          <a:p>
            <a:r>
              <a:rPr lang="en-US" sz="1800" dirty="0">
                <a:solidFill>
                  <a:srgbClr val="FF0000"/>
                </a:solidFill>
              </a:rPr>
              <a:t>Hallucination here may be “suggesting a package that it did not see at training time because it didn’t exist”</a:t>
            </a:r>
          </a:p>
          <a:p>
            <a:r>
              <a:rPr lang="en-US" sz="1800" dirty="0"/>
              <a:t>"use of disallowed/vulnerable packages" could be an example of CWE-1426</a:t>
            </a:r>
            <a:endParaRPr lang="en-US" sz="1800" dirty="0">
              <a:solidFill>
                <a:srgbClr val="FF0000"/>
              </a:solidFill>
            </a:endParaRPr>
          </a:p>
          <a:p>
            <a:r>
              <a:rPr lang="en-US" sz="1800" dirty="0"/>
              <a:t>Explanation of the weakness - </a:t>
            </a:r>
            <a:r>
              <a:rPr lang="en-US" sz="1800" dirty="0">
                <a:solidFill>
                  <a:srgbClr val="FF0000"/>
                </a:solidFill>
              </a:rPr>
              <a:t>&lt;fill here&gt;</a:t>
            </a:r>
          </a:p>
          <a:p>
            <a:r>
              <a:rPr lang="en-US" sz="1800" dirty="0"/>
              <a:t>(optional) how the weakness is attacked/exploited - </a:t>
            </a:r>
            <a:r>
              <a:rPr lang="en-US" sz="1800" dirty="0">
                <a:solidFill>
                  <a:srgbClr val="FF0000"/>
                </a:solidFill>
              </a:rPr>
              <a:t>&lt;fill here&gt;</a:t>
            </a:r>
          </a:p>
          <a:p>
            <a:r>
              <a:rPr lang="en-US" sz="1800" dirty="0"/>
              <a:t>“Good” code – code changes that fix the weakness - </a:t>
            </a:r>
            <a:r>
              <a:rPr lang="en-US" sz="1800" dirty="0">
                <a:solidFill>
                  <a:srgbClr val="FF0000"/>
                </a:solidFill>
              </a:rPr>
              <a:t>&lt;point to an updated config that changes the </a:t>
            </a:r>
            <a:r>
              <a:rPr lang="en-US" sz="1800">
                <a:solidFill>
                  <a:srgbClr val="FF0000"/>
                </a:solidFill>
              </a:rPr>
              <a:t>inference parameter; </a:t>
            </a:r>
            <a:r>
              <a:rPr lang="en-US" sz="1800" dirty="0">
                <a:solidFill>
                  <a:srgbClr val="FF0000"/>
                </a:solidFill>
              </a:rPr>
              <a:t>also, Guardrails that test for the presence of the package and if it can be trusted&gt;</a:t>
            </a:r>
          </a:p>
          <a:p>
            <a:endParaRPr lang="en-US" sz="1800" dirty="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3204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dirty="0"/>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dirty="0"/>
              <a:t>Documentation for Transformers text generation parameters</a:t>
            </a:r>
          </a:p>
          <a:p>
            <a:pPr lvl="1"/>
            <a:r>
              <a:rPr lang="en-US" dirty="0"/>
              <a:t>https://huggingface.co/docs/transformers/main_classes/text_generation#transformers.GenerationConfig</a:t>
            </a:r>
          </a:p>
          <a:p>
            <a:r>
              <a:rPr lang="en-US" dirty="0"/>
              <a:t>Any others that come to mind?</a:t>
            </a:r>
          </a:p>
          <a:p>
            <a:endParaRPr lang="en-US" dirty="0"/>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9086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dirty="0"/>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0328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&lt;automated and manual dynamic analysis&gt;</a:t>
            </a:r>
          </a:p>
          <a:p>
            <a:pPr lvl="1"/>
            <a:r>
              <a:rPr lang="en-US" sz="1800" dirty="0"/>
              <a:t>Desc:</a:t>
            </a:r>
            <a:r>
              <a:rPr lang="en-US" sz="1800" dirty="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dirty="0"/>
              <a:t>Detection Method 2</a:t>
            </a:r>
          </a:p>
          <a:p>
            <a:pPr lvl="1"/>
            <a:r>
              <a:rPr lang="en-US" sz="1800" dirty="0"/>
              <a:t>Method: </a:t>
            </a:r>
            <a:r>
              <a:rPr lang="en-US" sz="1800" dirty="0">
                <a:solidFill>
                  <a:srgbClr val="FF0000"/>
                </a:solidFill>
              </a:rPr>
              <a:t>&lt;&gt;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0156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&lt;package hallucination&gt;</a:t>
            </a:r>
            <a:endParaRPr lang="en-US" sz="1600" dirty="0"/>
          </a:p>
          <a:p>
            <a:pPr lvl="1"/>
            <a:r>
              <a:rPr lang="en-US" sz="1600" dirty="0"/>
              <a:t>URL: </a:t>
            </a:r>
            <a:r>
              <a:rPr lang="en-US" sz="1600" dirty="0">
                <a:solidFill>
                  <a:srgbClr val="FF0000"/>
                </a:solidFill>
              </a:rPr>
              <a:t>&lt;https://arxiv.org/abs/2406.10279&gt;</a:t>
            </a:r>
            <a:endParaRPr lang="en-US" sz="1600" dirty="0"/>
          </a:p>
          <a:p>
            <a:r>
              <a:rPr lang="en-US" sz="1600" dirty="0"/>
              <a:t>Reference 2</a:t>
            </a:r>
          </a:p>
          <a:p>
            <a:pPr lvl="1"/>
            <a:r>
              <a:rPr lang="en-US" sz="1600" dirty="0"/>
              <a:t>Title: </a:t>
            </a:r>
            <a:r>
              <a:rPr lang="en-US" sz="1600" dirty="0">
                <a:solidFill>
                  <a:srgbClr val="FF0000"/>
                </a:solidFill>
              </a:rPr>
              <a:t>&lt;Garak issue&gt; </a:t>
            </a:r>
          </a:p>
          <a:p>
            <a:pPr lvl="1"/>
            <a:r>
              <a:rPr lang="en-US" sz="1600" dirty="0"/>
              <a:t>URL: </a:t>
            </a:r>
            <a:r>
              <a:rPr lang="en-US" sz="1600" dirty="0">
                <a:solidFill>
                  <a:srgbClr val="FF0000"/>
                </a:solidFill>
              </a:rPr>
              <a:t>&lt;https://github.com/NVIDIA/garak/issues/1233&gt;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85828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a:solidFill>
                  <a:srgbClr val="FF0000"/>
                </a:solidFill>
                <a:highlight>
                  <a:srgbClr val="FFFF00"/>
                </a:highlight>
              </a:rPr>
              <a:t>Why no obvious </a:t>
            </a:r>
            <a:r>
              <a:rPr lang="en-US" sz="1600" dirty="0" err="1">
                <a:solidFill>
                  <a:srgbClr val="FF0000"/>
                </a:solidFill>
                <a:highlight>
                  <a:srgbClr val="FFFF00"/>
                </a:highlight>
              </a:rPr>
              <a:t>obex</a:t>
            </a:r>
            <a:r>
              <a:rPr lang="en-US" sz="1600" dirty="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dirty="0">
                <a:highlight>
                  <a:srgbClr val="FFFF00"/>
                </a:highlight>
              </a:rPr>
              <a:t>Maybe this is often associated with other weaknesses (can help exploitation of other weaknesses)</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132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91636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378741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1946407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1418569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55762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model training, when hyperparameters are set without adequate validation or understanding of their impact.&gt;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First published in March 2018</a:t>
            </a:r>
          </a:p>
          <a:p>
            <a:r>
              <a:rPr lang="en-US" dirty="0"/>
              <a:t>Initial focus on image recognition</a:t>
            </a:r>
          </a:p>
          <a:p>
            <a:r>
              <a:rPr lang="en-US" dirty="0"/>
              <a:t>No real changes since its creation</a:t>
            </a:r>
          </a:p>
          <a:p>
            <a:r>
              <a:rPr lang="en-US" dirty="0"/>
              <a:t>Incomplete entry</a:t>
            </a:r>
          </a:p>
          <a:p>
            <a:pPr lvl="1"/>
            <a:r>
              <a:rPr lang="en-US" dirty="0"/>
              <a:t>No examples (observed or demonstrative)</a:t>
            </a:r>
          </a:p>
          <a:p>
            <a:pPr lvl="1"/>
            <a:r>
              <a:rPr lang="en-US" dirty="0"/>
              <a:t>No mitigations</a:t>
            </a:r>
          </a:p>
          <a:p>
            <a:r>
              <a:rPr lang="en-US" dirty="0"/>
              <a:t>Focused improvements by Marissa Dotter</a:t>
            </a:r>
          </a:p>
          <a:p>
            <a:r>
              <a:rPr lang="en-US" dirty="0"/>
              <a:t>Changes to be made in CWE 4.17 (April 3)</a:t>
            </a:r>
          </a:p>
          <a:p>
            <a:endParaRPr lang="en-US" dirty="0"/>
          </a:p>
          <a:p>
            <a:r>
              <a:rPr lang="en-US" dirty="0">
                <a:hlinkClick r:id="rId2"/>
              </a:rPr>
              <a:t>https://cwe.mitre.org/data/definitions/1039.html</a:t>
            </a:r>
            <a:endParaRPr lang="en-US" dirty="0"/>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dirty="0"/>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dirty="0"/>
          </a:p>
          <a:p>
            <a:endParaRPr lang="en-US" dirty="0"/>
          </a:p>
          <a:p>
            <a:r>
              <a:rPr lang="en-US" dirty="0"/>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dirty="0"/>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dirty="0"/>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dirty="0"/>
              <a:t> Should we focus on specific elements in a variety of CWEs?</a:t>
            </a:r>
          </a:p>
          <a:p>
            <a:pPr lvl="1"/>
            <a:r>
              <a:rPr lang="en-US" sz="2000" dirty="0"/>
              <a:t>Observed (real-world) and demonstrative examples</a:t>
            </a:r>
          </a:p>
          <a:p>
            <a:pPr lvl="2"/>
            <a:r>
              <a:rPr lang="en-US" sz="2000" dirty="0" err="1"/>
              <a:t>Obex</a:t>
            </a:r>
            <a:r>
              <a:rPr lang="en-US" sz="2000" dirty="0"/>
              <a:t> can be hard to find; </a:t>
            </a:r>
            <a:r>
              <a:rPr lang="en-US" sz="2000" dirty="0" err="1"/>
              <a:t>demox</a:t>
            </a:r>
            <a:r>
              <a:rPr lang="en-US" sz="2000" dirty="0"/>
              <a:t> are labor-intensive</a:t>
            </a:r>
          </a:p>
          <a:p>
            <a:pPr lvl="1"/>
            <a:r>
              <a:rPr lang="en-US" sz="2000" dirty="0"/>
              <a:t>References</a:t>
            </a:r>
          </a:p>
          <a:p>
            <a:pPr lvl="1"/>
            <a:r>
              <a:rPr lang="en-US" sz="2000" dirty="0"/>
              <a:t>AI-specific mitigations</a:t>
            </a:r>
          </a:p>
          <a:p>
            <a:pPr lvl="1"/>
            <a:r>
              <a:rPr lang="en-US" sz="2000" dirty="0"/>
              <a:t>(examples and references were suggested last year; Steve will dig them up)</a:t>
            </a:r>
          </a:p>
          <a:p>
            <a:r>
              <a:rPr lang="en-US" sz="2000" dirty="0"/>
              <a:t>Should we look for other CWEs that should be tagged as affecting AI/ML?</a:t>
            </a:r>
          </a:p>
          <a:p>
            <a:pPr lvl="1"/>
            <a:r>
              <a:rPr lang="en-US" sz="2000" dirty="0"/>
              <a:t>CWE-912: Hidden Functionality</a:t>
            </a:r>
          </a:p>
          <a:p>
            <a:r>
              <a:rPr lang="en-US" sz="2000" dirty="0"/>
              <a:t>Systematic review of AI-vuln related documents?</a:t>
            </a:r>
          </a:p>
          <a:p>
            <a:pPr lvl="1"/>
            <a:r>
              <a:rPr lang="en-US" sz="2000" dirty="0"/>
              <a:t>OWASP, NIST, ATLAS, etc.</a:t>
            </a:r>
          </a:p>
          <a:p>
            <a:pPr lvl="1"/>
            <a:r>
              <a:rPr lang="en-US" sz="2000" dirty="0"/>
              <a:t>Result: taxonomy mappings and references; but also time-consuming</a:t>
            </a:r>
          </a:p>
          <a:p>
            <a:r>
              <a:rPr lang="en-US" sz="2000" dirty="0"/>
              <a:t>Or... just any kind of modification that people think of along the way?</a:t>
            </a:r>
          </a:p>
          <a:p>
            <a:r>
              <a:rPr lang="en-US" sz="2000" dirty="0"/>
              <a:t>CWE 5.0 (future) – schema changes to support AI-specific data (e.g., lifecycle)</a:t>
            </a:r>
          </a:p>
          <a:p>
            <a:endParaRPr lang="en-US" sz="2000" dirty="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dirty="0"/>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dirty="0"/>
              <a:t>AIWG mailing list</a:t>
            </a:r>
          </a:p>
          <a:p>
            <a:r>
              <a:rPr lang="en-US" dirty="0"/>
              <a:t>Focused discussion in CDR</a:t>
            </a:r>
          </a:p>
          <a:p>
            <a:r>
              <a:rPr lang="en-US" dirty="0"/>
              <a:t>Could be tied to CDR submissions</a:t>
            </a:r>
          </a:p>
          <a:p>
            <a:pPr lvl="1"/>
            <a:r>
              <a:rPr lang="en-US" dirty="0"/>
              <a:t>Similar to how we track new entries</a:t>
            </a:r>
          </a:p>
          <a:p>
            <a:pPr lvl="1"/>
            <a:r>
              <a:rPr lang="en-US" dirty="0"/>
              <a:t>This isn’t essential</a:t>
            </a:r>
          </a:p>
          <a:p>
            <a:endParaRPr lang="en-US" dirty="0"/>
          </a:p>
          <a:p>
            <a:r>
              <a:rPr lang="en-US" dirty="0"/>
              <a:t>Shared document editing?</a:t>
            </a:r>
          </a:p>
          <a:p>
            <a:pPr lvl="1"/>
            <a:r>
              <a:rPr lang="en-US" dirty="0"/>
              <a:t>Many pros and cons</a:t>
            </a:r>
          </a:p>
          <a:p>
            <a:pPr lvl="1"/>
            <a:r>
              <a:rPr lang="en-US" dirty="0"/>
              <a:t>Maybe “review and comment”</a:t>
            </a:r>
          </a:p>
          <a:p>
            <a:pPr lvl="1"/>
            <a:r>
              <a:rPr lang="en-US" dirty="0"/>
              <a:t>Google docs? Or a shared CDR submission file (text-based)</a:t>
            </a:r>
          </a:p>
          <a:p>
            <a:pPr lvl="1"/>
            <a:endParaRPr lang="en-US" dirty="0"/>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dirty="0"/>
              <a:t>Upcoming meetings:</a:t>
            </a:r>
          </a:p>
          <a:p>
            <a:pPr lvl="1"/>
            <a:r>
              <a:rPr lang="en-US" dirty="0"/>
              <a:t>Modifications: April 11 (after 4.17 release)</a:t>
            </a:r>
          </a:p>
          <a:p>
            <a:pPr lvl="1"/>
            <a:r>
              <a:rPr lang="en-US" dirty="0"/>
              <a:t>New entries: March 28</a:t>
            </a:r>
          </a:p>
          <a:p>
            <a:endParaRPr lang="en-US" dirty="0"/>
          </a:p>
          <a:p>
            <a:r>
              <a:rPr lang="en-US" dirty="0"/>
              <a:t>Formalize subgroup leadership</a:t>
            </a:r>
          </a:p>
          <a:p>
            <a:endParaRPr lang="en-US" dirty="0"/>
          </a:p>
          <a:p>
            <a:r>
              <a:rPr lang="en-US" dirty="0"/>
              <a:t>Focused modifications for CWE 4.17</a:t>
            </a:r>
          </a:p>
          <a:p>
            <a:endParaRPr lang="en-US" dirty="0"/>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50FCDD-08B1-48D8-BB50-7A17E590A5EE}">
  <ds:schemaRefs>
    <ds:schemaRef ds:uri="http://schemas.microsoft.com/office/2006/documentManagement/types"/>
    <ds:schemaRef ds:uri="b5a44311-ed64-4a72-909f-c9dc6973bde2"/>
    <ds:schemaRef ds:uri="http://purl.org/dc/dcmitype/"/>
    <ds:schemaRef ds:uri="http://schemas.openxmlformats.org/package/2006/metadata/core-properties"/>
    <ds:schemaRef ds:uri="f3e578be-7961-41e8-91c9-b742ecb60a74"/>
    <ds:schemaRef ds:uri="http://purl.org/dc/terms/"/>
    <ds:schemaRef ds:uri="http://schemas.microsoft.com/office/2006/metadata/properties"/>
    <ds:schemaRef ds:uri="aff8eeb6-53bf-44bf-a224-fac977cd228b"/>
    <ds:schemaRef ds:uri="http://schemas.microsoft.com/office/infopath/2007/PartnerControls"/>
    <ds:schemaRef ds:uri="http://www.w3.org/XML/1998/namespace"/>
    <ds:schemaRef ds:uri="http://purl.org/dc/elements/1.1/"/>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522</TotalTime>
  <Words>5084</Words>
  <Application>Microsoft Office PowerPoint</Application>
  <PresentationFormat>Widescreen</PresentationFormat>
  <Paragraphs>550</Paragraphs>
  <Slides>53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New Entry Development: ES2406-9e5fcf10: Insecure Setting of Generative AI/ML Model Inference Parameters </vt:lpstr>
      <vt:lpstr>ES2406-9e5fcf10 Status</vt:lpstr>
      <vt:lpstr>Demonstrative Examples</vt:lpstr>
      <vt:lpstr>Demonstrative example - 1</vt:lpstr>
      <vt:lpstr>Demonstrative example - 2</vt:lpstr>
      <vt:lpstr>Demonstrative example - 3</vt:lpstr>
      <vt:lpstr>Demonstrative example - 3</vt:lpstr>
      <vt:lpstr>References on improper tuning</vt:lpstr>
      <vt:lpstr>Already-Filled Elements</vt:lpstr>
      <vt:lpstr>Detection Methods Worksheet</vt:lpstr>
      <vt:lpstr>References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Modes of Introduction Worksheet</vt:lpstr>
      <vt:lpstr>Potential Mitigations Worksheet</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19</cp:revision>
  <dcterms:created xsi:type="dcterms:W3CDTF">2019-02-26T16:06:40Z</dcterms:created>
  <dcterms:modified xsi:type="dcterms:W3CDTF">2025-06-20T15:59:29Z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