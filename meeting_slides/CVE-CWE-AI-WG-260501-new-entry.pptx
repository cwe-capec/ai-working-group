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100"/>
  </p:notesMasterIdLst>
  <p:handoutMasterIdLst>
    <p:handoutMasterId r:id="rId101"/>
  </p:handoutMasterIdLst>
  <p:sldIdLst>
    <p:sldId id="459" r:id="rId5"/>
    <p:sldId id="475" r:id="rId6"/>
    <p:sldId id="514" r:id="rId7"/>
    <p:sldId id="533" r:id="rId8"/>
    <p:sldId id="629" r:id="rId9"/>
    <p:sldId id="626" r:id="rId10"/>
    <p:sldId id="630" r:id="rId11"/>
    <p:sldId id="597" r:id="rId12"/>
    <p:sldId id="603" r:id="rId13"/>
    <p:sldId id="615" r:id="rId14"/>
    <p:sldId id="539" r:id="rId15"/>
    <p:sldId id="625" r:id="rId16"/>
    <p:sldId id="631" r:id="rId17"/>
    <p:sldId id="632" r:id="rId18"/>
    <p:sldId id="627" r:id="rId19"/>
    <p:sldId id="628" r:id="rId20"/>
    <p:sldId id="614" r:id="rId21"/>
    <p:sldId id="608" r:id="rId22"/>
    <p:sldId id="613" r:id="rId23"/>
    <p:sldId id="612" r:id="rId24"/>
    <p:sldId id="599" r:id="rId25"/>
    <p:sldId id="600" r:id="rId26"/>
    <p:sldId id="610" r:id="rId27"/>
    <p:sldId id="611" r:id="rId28"/>
    <p:sldId id="623" r:id="rId29"/>
    <p:sldId id="624" r:id="rId30"/>
    <p:sldId id="616" r:id="rId31"/>
    <p:sldId id="617" r:id="rId32"/>
    <p:sldId id="618" r:id="rId33"/>
    <p:sldId id="619" r:id="rId34"/>
    <p:sldId id="621" r:id="rId35"/>
    <p:sldId id="622" r:id="rId36"/>
    <p:sldId id="620" r:id="rId37"/>
    <p:sldId id="604" r:id="rId38"/>
    <p:sldId id="541" r:id="rId39"/>
    <p:sldId id="607" r:id="rId40"/>
    <p:sldId id="592" r:id="rId41"/>
    <p:sldId id="602" r:id="rId42"/>
    <p:sldId id="543" r:id="rId43"/>
    <p:sldId id="609" r:id="rId44"/>
    <p:sldId id="606" r:id="rId45"/>
    <p:sldId id="605" r:id="rId46"/>
    <p:sldId id="547" r:id="rId47"/>
    <p:sldId id="598" r:id="rId48"/>
    <p:sldId id="601" r:id="rId49"/>
    <p:sldId id="583" r:id="rId50"/>
    <p:sldId id="585" r:id="rId51"/>
    <p:sldId id="594" r:id="rId52"/>
    <p:sldId id="595" r:id="rId53"/>
    <p:sldId id="495" r:id="rId54"/>
    <p:sldId id="591" r:id="rId55"/>
    <p:sldId id="587" r:id="rId56"/>
    <p:sldId id="590" r:id="rId57"/>
    <p:sldId id="588" r:id="rId58"/>
    <p:sldId id="593" r:id="rId59"/>
    <p:sldId id="589" r:id="rId60"/>
    <p:sldId id="493" r:id="rId61"/>
    <p:sldId id="488" r:id="rId62"/>
    <p:sldId id="496" r:id="rId63"/>
    <p:sldId id="586" r:id="rId64"/>
    <p:sldId id="505" r:id="rId65"/>
    <p:sldId id="494" r:id="rId66"/>
    <p:sldId id="497" r:id="rId67"/>
    <p:sldId id="560" r:id="rId68"/>
    <p:sldId id="552" r:id="rId69"/>
    <p:sldId id="575" r:id="rId70"/>
    <p:sldId id="502" r:id="rId71"/>
    <p:sldId id="501" r:id="rId72"/>
    <p:sldId id="576" r:id="rId73"/>
    <p:sldId id="503" r:id="rId74"/>
    <p:sldId id="504" r:id="rId75"/>
    <p:sldId id="548" r:id="rId76"/>
    <p:sldId id="542" r:id="rId77"/>
    <p:sldId id="581" r:id="rId78"/>
    <p:sldId id="582" r:id="rId79"/>
    <p:sldId id="579" r:id="rId80"/>
    <p:sldId id="580" r:id="rId81"/>
    <p:sldId id="584" r:id="rId82"/>
    <p:sldId id="554" r:id="rId83"/>
    <p:sldId id="561" r:id="rId84"/>
    <p:sldId id="562" r:id="rId85"/>
    <p:sldId id="563" r:id="rId86"/>
    <p:sldId id="564" r:id="rId87"/>
    <p:sldId id="565" r:id="rId88"/>
    <p:sldId id="566" r:id="rId89"/>
    <p:sldId id="567" r:id="rId90"/>
    <p:sldId id="568" r:id="rId91"/>
    <p:sldId id="569" r:id="rId92"/>
    <p:sldId id="570" r:id="rId93"/>
    <p:sldId id="571" r:id="rId94"/>
    <p:sldId id="572" r:id="rId95"/>
    <p:sldId id="573" r:id="rId96"/>
    <p:sldId id="574" r:id="rId97"/>
    <p:sldId id="545" r:id="rId98"/>
    <p:sldId id="534" r:id="rId9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1BADEC-3BFC-4840-855C-5B7FDF68033C}" v="10" dt="2026-05-01T15:01:48.6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432" y="53"/>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microsoft.com/office/2015/10/relationships/revisionInfo" Target="revisionInfo.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presProps" Target="pres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viewProps" Target="viewProps.xml"/><Relationship Id="rId108" Type="http://schemas.microsoft.com/office/2018/10/relationships/authors" Targe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4664C2C3-D7E1-4188-BB25-E34F4B7B5B59}"/>
    <pc:docChg chg="undo custSel addSld delSld modSld sldOrd">
      <pc:chgData name="Steven M Christey" userId="f24da668-4c1f-41c0-850e-113e2bdf78cf" providerId="ADAL" clId="{4664C2C3-D7E1-4188-BB25-E34F4B7B5B59}" dt="2026-05-01T15:23:20.073" v="7183" actId="6549"/>
      <pc:docMkLst>
        <pc:docMk/>
      </pc:docMkLst>
      <pc:sldChg chg="modSp mod">
        <pc:chgData name="Steven M Christey" userId="f24da668-4c1f-41c0-850e-113e2bdf78cf" providerId="ADAL" clId="{4664C2C3-D7E1-4188-BB25-E34F4B7B5B59}" dt="2026-05-01T14:53:07.898" v="6324" actId="20577"/>
        <pc:sldMkLst>
          <pc:docMk/>
          <pc:sldMk cId="1454278300" sldId="459"/>
        </pc:sldMkLst>
        <pc:spChg chg="mod">
          <ac:chgData name="Steven M Christey" userId="f24da668-4c1f-41c0-850e-113e2bdf78cf" providerId="ADAL" clId="{4664C2C3-D7E1-4188-BB25-E34F4B7B5B59}" dt="2026-05-01T14:53:07.898" v="6324" actId="20577"/>
          <ac:spMkLst>
            <pc:docMk/>
            <pc:sldMk cId="1454278300" sldId="459"/>
            <ac:spMk id="3" creationId="{0992DF88-AC24-0FBF-1177-62DD9110498B}"/>
          </ac:spMkLst>
        </pc:spChg>
      </pc:sldChg>
      <pc:sldChg chg="modSp mod">
        <pc:chgData name="Steven M Christey" userId="f24da668-4c1f-41c0-850e-113e2bdf78cf" providerId="ADAL" clId="{4664C2C3-D7E1-4188-BB25-E34F4B7B5B59}" dt="2026-05-01T15:07:25.749" v="7177" actId="20577"/>
        <pc:sldMkLst>
          <pc:docMk/>
          <pc:sldMk cId="915149386" sldId="514"/>
        </pc:sldMkLst>
        <pc:spChg chg="mod">
          <ac:chgData name="Steven M Christey" userId="f24da668-4c1f-41c0-850e-113e2bdf78cf" providerId="ADAL" clId="{4664C2C3-D7E1-4188-BB25-E34F4B7B5B59}" dt="2026-05-01T15:07:25.749" v="7177" actId="20577"/>
          <ac:spMkLst>
            <pc:docMk/>
            <pc:sldMk cId="915149386" sldId="514"/>
            <ac:spMk id="3" creationId="{D4348C02-DFCE-A2E4-D523-D69A254A7D49}"/>
          </ac:spMkLst>
        </pc:spChg>
      </pc:sldChg>
      <pc:sldChg chg="ord">
        <pc:chgData name="Steven M Christey" userId="f24da668-4c1f-41c0-850e-113e2bdf78cf" providerId="ADAL" clId="{4664C2C3-D7E1-4188-BB25-E34F4B7B5B59}" dt="2026-05-01T14:58:00.531" v="6659"/>
        <pc:sldMkLst>
          <pc:docMk/>
          <pc:sldMk cId="150708501" sldId="533"/>
        </pc:sldMkLst>
      </pc:sldChg>
      <pc:sldChg chg="addSp delSp modSp mod ord">
        <pc:chgData name="Steven M Christey" userId="f24da668-4c1f-41c0-850e-113e2bdf78cf" providerId="ADAL" clId="{4664C2C3-D7E1-4188-BB25-E34F4B7B5B59}" dt="2026-05-01T14:55:40.783" v="6483"/>
        <pc:sldMkLst>
          <pc:docMk/>
          <pc:sldMk cId="2266223281" sldId="539"/>
        </pc:sldMkLst>
        <pc:spChg chg="mod">
          <ac:chgData name="Steven M Christey" userId="f24da668-4c1f-41c0-850e-113e2bdf78cf" providerId="ADAL" clId="{4664C2C3-D7E1-4188-BB25-E34F4B7B5B59}" dt="2026-05-01T14:55:40.783" v="6483"/>
          <ac:spMkLst>
            <pc:docMk/>
            <pc:sldMk cId="2266223281" sldId="539"/>
            <ac:spMk id="3" creationId="{9915B450-3AB3-4605-EAE8-C84785DE6064}"/>
          </ac:spMkLst>
        </pc:spChg>
      </pc:sldChg>
      <pc:sldChg chg="modSp add mod ord">
        <pc:chgData name="Steven M Christey" userId="f24da668-4c1f-41c0-850e-113e2bdf78cf" providerId="ADAL" clId="{4664C2C3-D7E1-4188-BB25-E34F4B7B5B59}" dt="2026-05-01T15:17:41.166" v="7182" actId="20577"/>
        <pc:sldMkLst>
          <pc:docMk/>
          <pc:sldMk cId="4176654479" sldId="615"/>
        </pc:sldMkLst>
        <pc:spChg chg="mod">
          <ac:chgData name="Steven M Christey" userId="f24da668-4c1f-41c0-850e-113e2bdf78cf" providerId="ADAL" clId="{4664C2C3-D7E1-4188-BB25-E34F4B7B5B59}" dt="2026-05-01T14:53:55.067" v="6373" actId="20577"/>
          <ac:spMkLst>
            <pc:docMk/>
            <pc:sldMk cId="4176654479" sldId="615"/>
            <ac:spMk id="2" creationId="{7C22CDFF-65A5-78A3-804C-066E8416C6AF}"/>
          </ac:spMkLst>
        </pc:spChg>
        <pc:spChg chg="mod">
          <ac:chgData name="Steven M Christey" userId="f24da668-4c1f-41c0-850e-113e2bdf78cf" providerId="ADAL" clId="{4664C2C3-D7E1-4188-BB25-E34F4B7B5B59}" dt="2026-05-01T15:17:41.166" v="7182" actId="20577"/>
          <ac:spMkLst>
            <pc:docMk/>
            <pc:sldMk cId="4176654479" sldId="615"/>
            <ac:spMk id="3" creationId="{3177290A-316A-66A6-24AA-55907FD36981}"/>
          </ac:spMkLst>
        </pc:spChg>
      </pc:sldChg>
      <pc:sldChg chg="modSp new mod">
        <pc:chgData name="Steven M Christey" userId="f24da668-4c1f-41c0-850e-113e2bdf78cf" providerId="ADAL" clId="{4664C2C3-D7E1-4188-BB25-E34F4B7B5B59}" dt="2026-05-01T15:23:20.073" v="7183" actId="6549"/>
        <pc:sldMkLst>
          <pc:docMk/>
          <pc:sldMk cId="1025830007" sldId="625"/>
        </pc:sldMkLst>
        <pc:spChg chg="mod">
          <ac:chgData name="Steven M Christey" userId="f24da668-4c1f-41c0-850e-113e2bdf78cf" providerId="ADAL" clId="{4664C2C3-D7E1-4188-BB25-E34F4B7B5B59}" dt="2026-04-03T14:57:32.600" v="5173" actId="20577"/>
          <ac:spMkLst>
            <pc:docMk/>
            <pc:sldMk cId="1025830007" sldId="625"/>
            <ac:spMk id="2" creationId="{BAC26DB4-F389-7D41-4F35-74EF863C6F3C}"/>
          </ac:spMkLst>
        </pc:spChg>
        <pc:spChg chg="mod">
          <ac:chgData name="Steven M Christey" userId="f24da668-4c1f-41c0-850e-113e2bdf78cf" providerId="ADAL" clId="{4664C2C3-D7E1-4188-BB25-E34F4B7B5B59}" dt="2026-05-01T15:23:20.073" v="7183" actId="6549"/>
          <ac:spMkLst>
            <pc:docMk/>
            <pc:sldMk cId="1025830007" sldId="625"/>
            <ac:spMk id="3" creationId="{75BA7908-A6DE-14BF-54FB-8040100AC926}"/>
          </ac:spMkLst>
        </pc:spChg>
      </pc:sldChg>
      <pc:sldChg chg="modSp add mod">
        <pc:chgData name="Steven M Christey" userId="f24da668-4c1f-41c0-850e-113e2bdf78cf" providerId="ADAL" clId="{4664C2C3-D7E1-4188-BB25-E34F4B7B5B59}" dt="2026-05-01T15:01:48.523" v="6701" actId="20577"/>
        <pc:sldMkLst>
          <pc:docMk/>
          <pc:sldMk cId="2929324163" sldId="626"/>
        </pc:sldMkLst>
        <pc:spChg chg="mod">
          <ac:chgData name="Steven M Christey" userId="f24da668-4c1f-41c0-850e-113e2bdf78cf" providerId="ADAL" clId="{4664C2C3-D7E1-4188-BB25-E34F4B7B5B59}" dt="2026-05-01T15:00:49.104" v="6695" actId="20577"/>
          <ac:spMkLst>
            <pc:docMk/>
            <pc:sldMk cId="2929324163" sldId="626"/>
            <ac:spMk id="2" creationId="{E8631E51-6A58-3D59-18CB-DE883907F470}"/>
          </ac:spMkLst>
        </pc:spChg>
        <pc:spChg chg="mod">
          <ac:chgData name="Steven M Christey" userId="f24da668-4c1f-41c0-850e-113e2bdf78cf" providerId="ADAL" clId="{4664C2C3-D7E1-4188-BB25-E34F4B7B5B59}" dt="2026-05-01T15:01:48.523" v="6701" actId="20577"/>
          <ac:spMkLst>
            <pc:docMk/>
            <pc:sldMk cId="2929324163" sldId="626"/>
            <ac:spMk id="3" creationId="{A7B15D69-7506-9D29-FE2F-F92FF7A65EB2}"/>
          </ac:spMkLst>
        </pc:spChg>
      </pc:sldChg>
      <pc:sldChg chg="modSp new del mod">
        <pc:chgData name="Steven M Christey" userId="f24da668-4c1f-41c0-850e-113e2bdf78cf" providerId="ADAL" clId="{4664C2C3-D7E1-4188-BB25-E34F4B7B5B59}" dt="2026-05-01T14:57:49.279" v="6655" actId="2696"/>
        <pc:sldMkLst>
          <pc:docMk/>
          <pc:sldMk cId="4153918465" sldId="626"/>
        </pc:sldMkLst>
        <pc:spChg chg="mod">
          <ac:chgData name="Steven M Christey" userId="f24da668-4c1f-41c0-850e-113e2bdf78cf" providerId="ADAL" clId="{4664C2C3-D7E1-4188-BB25-E34F4B7B5B59}" dt="2026-05-01T14:57:18.704" v="6643" actId="20577"/>
          <ac:spMkLst>
            <pc:docMk/>
            <pc:sldMk cId="4153918465" sldId="626"/>
            <ac:spMk id="2" creationId="{E8631E51-6A58-3D59-18CB-DE883907F470}"/>
          </ac:spMkLst>
        </pc:spChg>
        <pc:spChg chg="mod">
          <ac:chgData name="Steven M Christey" userId="f24da668-4c1f-41c0-850e-113e2bdf78cf" providerId="ADAL" clId="{4664C2C3-D7E1-4188-BB25-E34F4B7B5B59}" dt="2026-05-01T14:57:41.904" v="6654" actId="20577"/>
          <ac:spMkLst>
            <pc:docMk/>
            <pc:sldMk cId="4153918465" sldId="626"/>
            <ac:spMk id="3" creationId="{A7B15D69-7506-9D29-FE2F-F92FF7A65EB2}"/>
          </ac:spMkLst>
        </pc:spChg>
      </pc:sldChg>
      <pc:sldChg chg="modSp new mod">
        <pc:chgData name="Steven M Christey" userId="f24da668-4c1f-41c0-850e-113e2bdf78cf" providerId="ADAL" clId="{4664C2C3-D7E1-4188-BB25-E34F4B7B5B59}" dt="2026-04-03T15:36:48.917" v="6244" actId="20577"/>
        <pc:sldMkLst>
          <pc:docMk/>
          <pc:sldMk cId="3523517911" sldId="627"/>
        </pc:sldMkLst>
        <pc:spChg chg="mod">
          <ac:chgData name="Steven M Christey" userId="f24da668-4c1f-41c0-850e-113e2bdf78cf" providerId="ADAL" clId="{4664C2C3-D7E1-4188-BB25-E34F4B7B5B59}" dt="2026-04-03T15:35:54.599" v="6161" actId="20577"/>
          <ac:spMkLst>
            <pc:docMk/>
            <pc:sldMk cId="3523517911" sldId="627"/>
            <ac:spMk id="2" creationId="{16E027DB-E249-73CF-A612-14D5FCD7E5E9}"/>
          </ac:spMkLst>
        </pc:spChg>
        <pc:spChg chg="mod">
          <ac:chgData name="Steven M Christey" userId="f24da668-4c1f-41c0-850e-113e2bdf78cf" providerId="ADAL" clId="{4664C2C3-D7E1-4188-BB25-E34F4B7B5B59}" dt="2026-04-03T15:36:48.917" v="6244" actId="20577"/>
          <ac:spMkLst>
            <pc:docMk/>
            <pc:sldMk cId="3523517911" sldId="627"/>
            <ac:spMk id="3" creationId="{EF72D980-3306-D23C-97EF-12CE05E5747E}"/>
          </ac:spMkLst>
        </pc:spChg>
      </pc:sldChg>
      <pc:sldChg chg="modSp new mod">
        <pc:chgData name="Steven M Christey" userId="f24da668-4c1f-41c0-850e-113e2bdf78cf" providerId="ADAL" clId="{4664C2C3-D7E1-4188-BB25-E34F4B7B5B59}" dt="2026-04-03T15:54:01.514" v="6312" actId="20577"/>
        <pc:sldMkLst>
          <pc:docMk/>
          <pc:sldMk cId="2137239999" sldId="628"/>
        </pc:sldMkLst>
        <pc:spChg chg="mod">
          <ac:chgData name="Steven M Christey" userId="f24da668-4c1f-41c0-850e-113e2bdf78cf" providerId="ADAL" clId="{4664C2C3-D7E1-4188-BB25-E34F4B7B5B59}" dt="2026-04-03T15:54:01.514" v="6312" actId="20577"/>
          <ac:spMkLst>
            <pc:docMk/>
            <pc:sldMk cId="2137239999" sldId="628"/>
            <ac:spMk id="2" creationId="{AC26F343-6A3B-3C11-2714-5CF76106D27B}"/>
          </ac:spMkLst>
        </pc:spChg>
      </pc:sldChg>
      <pc:sldChg chg="new del">
        <pc:chgData name="Steven M Christey" userId="f24da668-4c1f-41c0-850e-113e2bdf78cf" providerId="ADAL" clId="{4664C2C3-D7E1-4188-BB25-E34F4B7B5B59}" dt="2026-05-01T14:58:12.276" v="6662" actId="680"/>
        <pc:sldMkLst>
          <pc:docMk/>
          <pc:sldMk cId="1098636512" sldId="629"/>
        </pc:sldMkLst>
      </pc:sldChg>
      <pc:sldChg chg="modSp new mod">
        <pc:chgData name="Steven M Christey" userId="f24da668-4c1f-41c0-850e-113e2bdf78cf" providerId="ADAL" clId="{4664C2C3-D7E1-4188-BB25-E34F4B7B5B59}" dt="2026-05-01T14:58:26.886" v="6679" actId="20577"/>
        <pc:sldMkLst>
          <pc:docMk/>
          <pc:sldMk cId="3666402640" sldId="629"/>
        </pc:sldMkLst>
        <pc:spChg chg="mod">
          <ac:chgData name="Steven M Christey" userId="f24da668-4c1f-41c0-850e-113e2bdf78cf" providerId="ADAL" clId="{4664C2C3-D7E1-4188-BB25-E34F4B7B5B59}" dt="2026-05-01T14:58:26.886" v="6679" actId="20577"/>
          <ac:spMkLst>
            <pc:docMk/>
            <pc:sldMk cId="3666402640" sldId="629"/>
            <ac:spMk id="2" creationId="{D7A6D1CE-FD8B-9053-A576-F39F4D8D2288}"/>
          </ac:spMkLst>
        </pc:spChg>
      </pc:sldChg>
      <pc:sldChg chg="addSp delSp modSp new mod">
        <pc:chgData name="Steven M Christey" userId="f24da668-4c1f-41c0-850e-113e2bdf78cf" providerId="ADAL" clId="{4664C2C3-D7E1-4188-BB25-E34F4B7B5B59}" dt="2026-05-01T15:01:27.687" v="6699" actId="14100"/>
        <pc:sldMkLst>
          <pc:docMk/>
          <pc:sldMk cId="1399740596" sldId="630"/>
        </pc:sldMkLst>
        <pc:spChg chg="del">
          <ac:chgData name="Steven M Christey" userId="f24da668-4c1f-41c0-850e-113e2bdf78cf" providerId="ADAL" clId="{4664C2C3-D7E1-4188-BB25-E34F4B7B5B59}" dt="2026-05-01T15:01:16.353" v="6697" actId="931"/>
          <ac:spMkLst>
            <pc:docMk/>
            <pc:sldMk cId="1399740596" sldId="630"/>
            <ac:spMk id="3" creationId="{012A9053-749A-A8C2-DAF4-C28A75FA841C}"/>
          </ac:spMkLst>
        </pc:spChg>
        <pc:picChg chg="add mod ord">
          <ac:chgData name="Steven M Christey" userId="f24da668-4c1f-41c0-850e-113e2bdf78cf" providerId="ADAL" clId="{4664C2C3-D7E1-4188-BB25-E34F4B7B5B59}" dt="2026-05-01T15:01:27.687" v="6699" actId="14100"/>
          <ac:picMkLst>
            <pc:docMk/>
            <pc:sldMk cId="1399740596" sldId="630"/>
            <ac:picMk id="6" creationId="{58450A30-CD0A-84DB-941B-6A96D5D75A1C}"/>
          </ac:picMkLst>
        </pc:picChg>
      </pc:sldChg>
      <pc:sldChg chg="modSp new mod">
        <pc:chgData name="Steven M Christey" userId="f24da668-4c1f-41c0-850e-113e2bdf78cf" providerId="ADAL" clId="{4664C2C3-D7E1-4188-BB25-E34F4B7B5B59}" dt="2026-05-01T15:03:38.892" v="6772" actId="14"/>
        <pc:sldMkLst>
          <pc:docMk/>
          <pc:sldMk cId="928909956" sldId="631"/>
        </pc:sldMkLst>
        <pc:spChg chg="mod">
          <ac:chgData name="Steven M Christey" userId="f24da668-4c1f-41c0-850e-113e2bdf78cf" providerId="ADAL" clId="{4664C2C3-D7E1-4188-BB25-E34F4B7B5B59}" dt="2026-05-01T15:03:22.053" v="6717" actId="20577"/>
          <ac:spMkLst>
            <pc:docMk/>
            <pc:sldMk cId="928909956" sldId="631"/>
            <ac:spMk id="2" creationId="{2199E8ED-93B8-6BDC-D665-49353D862824}"/>
          </ac:spMkLst>
        </pc:spChg>
        <pc:spChg chg="mod">
          <ac:chgData name="Steven M Christey" userId="f24da668-4c1f-41c0-850e-113e2bdf78cf" providerId="ADAL" clId="{4664C2C3-D7E1-4188-BB25-E34F4B7B5B59}" dt="2026-05-01T15:03:38.892" v="6772" actId="14"/>
          <ac:spMkLst>
            <pc:docMk/>
            <pc:sldMk cId="928909956" sldId="631"/>
            <ac:spMk id="3" creationId="{C76A3CAD-01FE-48E7-658C-C1D63CE2E027}"/>
          </ac:spMkLst>
        </pc:spChg>
      </pc:sldChg>
      <pc:sldChg chg="modSp new mod">
        <pc:chgData name="Steven M Christey" userId="f24da668-4c1f-41c0-850e-113e2bdf78cf" providerId="ADAL" clId="{4664C2C3-D7E1-4188-BB25-E34F4B7B5B59}" dt="2026-05-01T15:05:36.978" v="7176" actId="14"/>
        <pc:sldMkLst>
          <pc:docMk/>
          <pc:sldMk cId="2361885069" sldId="632"/>
        </pc:sldMkLst>
        <pc:spChg chg="mod">
          <ac:chgData name="Steven M Christey" userId="f24da668-4c1f-41c0-850e-113e2bdf78cf" providerId="ADAL" clId="{4664C2C3-D7E1-4188-BB25-E34F4B7B5B59}" dt="2026-05-01T15:03:54.182" v="6787" actId="20577"/>
          <ac:spMkLst>
            <pc:docMk/>
            <pc:sldMk cId="2361885069" sldId="632"/>
            <ac:spMk id="2" creationId="{FC2EA566-9A5F-9B3D-4219-51C9ACFEB5B0}"/>
          </ac:spMkLst>
        </pc:spChg>
        <pc:spChg chg="mod">
          <ac:chgData name="Steven M Christey" userId="f24da668-4c1f-41c0-850e-113e2bdf78cf" providerId="ADAL" clId="{4664C2C3-D7E1-4188-BB25-E34F4B7B5B59}" dt="2026-05-01T15:05:36.978" v="7176" actId="14"/>
          <ac:spMkLst>
            <pc:docMk/>
            <pc:sldMk cId="2361885069" sldId="632"/>
            <ac:spMk id="3" creationId="{C0A4EA47-6168-19BB-98E8-2E193170B2F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5/1/2026</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5/1/2026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8F3C89-9E49-4851-A18A-DAECD34FD650}" type="slidenum">
              <a:rPr lang="en-US" smtClean="0"/>
              <a:t>9</a:t>
            </a:fld>
            <a:endParaRPr lang="en-US"/>
          </a:p>
        </p:txBody>
      </p:sp>
    </p:spTree>
    <p:extLst>
      <p:ext uri="{BB962C8B-B14F-4D97-AF65-F5344CB8AC3E}">
        <p14:creationId xmlns:p14="http://schemas.microsoft.com/office/powerpoint/2010/main" val="25640840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https://cwe.mitre.org/data/definitions/1448.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CWE-CAPEC/CWE-Content-Development-Repository/issues/174"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https://github.com/CWE-CAPEC/CWE-Content-Development-Repository/issues/163"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interhumanagreement.substack.com/p/llm-output-can-take-over-your-computer" TargetMode="External"/><Relationship Id="rId2" Type="http://schemas.openxmlformats.org/officeDocument/2006/relationships/hyperlink" Target="https://github.com/NVIDIA/garak/blob/main/garak/probes/ansiescape.py"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github.com/CWE-CAPEC/CWE-Content-Development-Repository/issues/158"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github.com/CWE-CAPEC/CWE-Content-Development-Repository/issues/161"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a:t>CWE AI Working Group Meeting:</a:t>
            </a:r>
            <a:br>
              <a:rPr lang="en-US"/>
            </a:br>
            <a:r>
              <a:rPr lang="en-US"/>
              <a:t>New Entry Subgroup</a:t>
            </a:r>
            <a:br>
              <a:rPr lang="en-US"/>
            </a:br>
            <a:endParaRPr lang="en-US"/>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May 1, 2026</a:t>
            </a:r>
          </a:p>
          <a:p>
            <a:endParaRPr lang="en-US" dirty="0"/>
          </a:p>
          <a:p>
            <a:r>
              <a:rPr lang="en-US" dirty="0"/>
              <a:t>Steve Christey Coley</a:t>
            </a:r>
          </a:p>
          <a:p>
            <a:r>
              <a:rPr lang="en-US" dirty="0"/>
              <a:t>Erick Galinkin</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a:latin typeface="Tahoma"/>
                <a:ea typeface="Tahoma"/>
                <a:cs typeface="Tahoma"/>
              </a:rPr>
              <a:t>Status updates</a:t>
            </a:r>
          </a:p>
          <a:p>
            <a:pPr marL="307975" indent="-307975"/>
            <a:r>
              <a:rPr lang="en-US">
                <a:latin typeface="Tahoma"/>
                <a:ea typeface="Tahoma"/>
                <a:cs typeface="Tahoma"/>
              </a:rPr>
              <a:t>CWE Release info</a:t>
            </a:r>
          </a:p>
          <a:p>
            <a:pPr marL="307975" indent="-307975"/>
            <a:r>
              <a:rPr lang="en-US">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0" indent="0">
              <a:buNone/>
            </a:pPr>
            <a:endParaRPr lang="en-US" dirty="0">
              <a:latin typeface="Tahoma"/>
              <a:ea typeface="Tahoma"/>
              <a:cs typeface="Tahoma"/>
            </a:endParaRPr>
          </a:p>
          <a:p>
            <a:pPr marL="307975" indent="-307975"/>
            <a:r>
              <a:rPr lang="en-US" dirty="0">
                <a:latin typeface="Tahoma"/>
                <a:ea typeface="Tahoma"/>
                <a:cs typeface="Tahoma"/>
              </a:rPr>
              <a:t>CWE 4.20 was released April 30</a:t>
            </a:r>
          </a:p>
          <a:p>
            <a:pPr marL="307975" indent="-307975"/>
            <a:r>
              <a:rPr lang="en-US" dirty="0" err="1">
                <a:latin typeface="Tahoma"/>
                <a:ea typeface="Tahoma"/>
                <a:cs typeface="Tahoma"/>
              </a:rPr>
              <a:t>VulnCon</a:t>
            </a:r>
            <a:r>
              <a:rPr lang="en-US" dirty="0">
                <a:latin typeface="Tahoma"/>
                <a:ea typeface="Tahoma"/>
                <a:cs typeface="Tahoma"/>
              </a:rPr>
              <a:t> – was held April 13-16 in Arizona</a:t>
            </a:r>
          </a:p>
          <a:p>
            <a:pPr marL="307975" indent="-307975"/>
            <a:r>
              <a:rPr lang="en-US" dirty="0">
                <a:latin typeface="Tahoma"/>
                <a:ea typeface="Tahoma"/>
                <a:cs typeface="Tahoma"/>
              </a:rPr>
              <a:t>Reviews of submissions are ongoing</a:t>
            </a:r>
          </a:p>
          <a:p>
            <a:pPr marL="307975" indent="-307975"/>
            <a:r>
              <a:rPr lang="en-US" dirty="0">
                <a:latin typeface="Tahoma"/>
                <a:ea typeface="Tahoma"/>
                <a:cs typeface="Tahoma"/>
              </a:rPr>
              <a:t>To do: addition of new subgroup leaders</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Bamidele Ajayi</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6D1CE-FD8B-9053-A576-F39F4D8D2288}"/>
              </a:ext>
            </a:extLst>
          </p:cNvPr>
          <p:cNvSpPr>
            <a:spLocks noGrp="1"/>
          </p:cNvSpPr>
          <p:nvPr>
            <p:ph type="ctrTitle" sz="quarter"/>
          </p:nvPr>
        </p:nvSpPr>
        <p:spPr/>
        <p:txBody>
          <a:bodyPr/>
          <a:lstStyle/>
          <a:p>
            <a:r>
              <a:rPr lang="en-US" dirty="0"/>
              <a:t>CWE 4.20 Release</a:t>
            </a:r>
          </a:p>
        </p:txBody>
      </p:sp>
      <p:sp>
        <p:nvSpPr>
          <p:cNvPr id="3" name="Slide Number Placeholder 2">
            <a:extLst>
              <a:ext uri="{FF2B5EF4-FFF2-40B4-BE49-F238E27FC236}">
                <a16:creationId xmlns:a16="http://schemas.microsoft.com/office/drawing/2014/main" id="{2FE5226B-8162-86A0-8483-01482742DB5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66402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31E51-6A58-3D59-18CB-DE883907F470}"/>
              </a:ext>
            </a:extLst>
          </p:cNvPr>
          <p:cNvSpPr>
            <a:spLocks noGrp="1"/>
          </p:cNvSpPr>
          <p:nvPr>
            <p:ph type="title"/>
          </p:nvPr>
        </p:nvSpPr>
        <p:spPr/>
        <p:txBody>
          <a:bodyPr/>
          <a:lstStyle/>
          <a:p>
            <a:r>
              <a:rPr lang="en-US" dirty="0"/>
              <a:t>View-1448: New View for AI/ML</a:t>
            </a:r>
          </a:p>
        </p:txBody>
      </p:sp>
      <p:sp>
        <p:nvSpPr>
          <p:cNvPr id="3" name="Content Placeholder 2">
            <a:extLst>
              <a:ext uri="{FF2B5EF4-FFF2-40B4-BE49-F238E27FC236}">
                <a16:creationId xmlns:a16="http://schemas.microsoft.com/office/drawing/2014/main" id="{A7B15D69-7506-9D29-FE2F-F92FF7A65EB2}"/>
              </a:ext>
            </a:extLst>
          </p:cNvPr>
          <p:cNvSpPr>
            <a:spLocks noGrp="1"/>
          </p:cNvSpPr>
          <p:nvPr>
            <p:ph idx="1"/>
          </p:nvPr>
        </p:nvSpPr>
        <p:spPr/>
        <p:txBody>
          <a:bodyPr/>
          <a:lstStyle/>
          <a:p>
            <a:r>
              <a:rPr lang="en-US" dirty="0"/>
              <a:t>Included in CWE 4.20</a:t>
            </a:r>
          </a:p>
          <a:p>
            <a:r>
              <a:rPr lang="en-US" dirty="0"/>
              <a:t>Includes AI-specific weaknesses (4 right now)</a:t>
            </a:r>
          </a:p>
          <a:p>
            <a:r>
              <a:rPr lang="en-US" dirty="0"/>
              <a:t>Also, “AI-triggered” weaknesses?</a:t>
            </a:r>
          </a:p>
          <a:p>
            <a:pPr lvl="1"/>
            <a:r>
              <a:rPr lang="en-US" dirty="0"/>
              <a:t>Deserialization, injection, etc.</a:t>
            </a:r>
          </a:p>
          <a:p>
            <a:r>
              <a:rPr lang="en-US" dirty="0"/>
              <a:t>Could add to the view as we add new weaknesses</a:t>
            </a:r>
          </a:p>
          <a:p>
            <a:r>
              <a:rPr lang="en-US" dirty="0">
                <a:hlinkClick r:id="rId2"/>
              </a:rPr>
              <a:t>https://cwe.mitre.org/data/definitions/1448.html</a:t>
            </a:r>
            <a:endParaRPr lang="en-US" dirty="0"/>
          </a:p>
          <a:p>
            <a:endParaRPr lang="en-US" dirty="0"/>
          </a:p>
        </p:txBody>
      </p:sp>
      <p:sp>
        <p:nvSpPr>
          <p:cNvPr id="4" name="Slide Number Placeholder 3">
            <a:extLst>
              <a:ext uri="{FF2B5EF4-FFF2-40B4-BE49-F238E27FC236}">
                <a16:creationId xmlns:a16="http://schemas.microsoft.com/office/drawing/2014/main" id="{8819F460-06B3-958D-2C1F-243233660DD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9324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6032C-45B6-639E-0620-E699183A2D11}"/>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58450A30-CD0A-84DB-941B-6A96D5D75A1C}"/>
              </a:ext>
            </a:extLst>
          </p:cNvPr>
          <p:cNvPicPr>
            <a:picLocks noGrp="1" noChangeAspect="1"/>
          </p:cNvPicPr>
          <p:nvPr>
            <p:ph idx="1"/>
          </p:nvPr>
        </p:nvPicPr>
        <p:blipFill>
          <a:blip r:embed="rId2"/>
          <a:stretch>
            <a:fillRect/>
          </a:stretch>
        </p:blipFill>
        <p:spPr>
          <a:xfrm>
            <a:off x="3086100" y="651510"/>
            <a:ext cx="5883231" cy="5514340"/>
          </a:xfrm>
          <a:prstGeom prst="rect">
            <a:avLst/>
          </a:prstGeom>
        </p:spPr>
      </p:pic>
      <p:sp>
        <p:nvSpPr>
          <p:cNvPr id="4" name="Slide Number Placeholder 3">
            <a:extLst>
              <a:ext uri="{FF2B5EF4-FFF2-40B4-BE49-F238E27FC236}">
                <a16:creationId xmlns:a16="http://schemas.microsoft.com/office/drawing/2014/main" id="{799F6D72-2D6D-5F1F-ACF1-A1E89793E11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399740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1B5C-32A5-7886-19AB-6C3EF4F40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92CEA-B7D6-6462-D0C2-D4B03E7E3724}"/>
              </a:ext>
            </a:extLst>
          </p:cNvPr>
          <p:cNvSpPr>
            <a:spLocks noGrp="1"/>
          </p:cNvSpPr>
          <p:nvPr>
            <p:ph type="ctrTitle" sz="quarter"/>
          </p:nvPr>
        </p:nvSpPr>
        <p:spPr/>
        <p:txBody>
          <a:bodyPr/>
          <a:lstStyle/>
          <a:p>
            <a:r>
              <a:rPr lang="en-US" dirty="0"/>
              <a:t>Content Work</a:t>
            </a:r>
          </a:p>
        </p:txBody>
      </p:sp>
      <p:sp>
        <p:nvSpPr>
          <p:cNvPr id="3" name="Slide Number Placeholder 2">
            <a:extLst>
              <a:ext uri="{FF2B5EF4-FFF2-40B4-BE49-F238E27FC236}">
                <a16:creationId xmlns:a16="http://schemas.microsoft.com/office/drawing/2014/main" id="{3690D0E1-9DC3-33ED-93AE-012CE0848F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1241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59BF-CA3E-CDE3-C060-CB3B092BB8E3}"/>
              </a:ext>
            </a:extLst>
          </p:cNvPr>
          <p:cNvSpPr>
            <a:spLocks noGrp="1"/>
          </p:cNvSpPr>
          <p:nvPr>
            <p:ph type="title"/>
          </p:nvPr>
        </p:nvSpPr>
        <p:spPr/>
        <p:txBody>
          <a:bodyPr/>
          <a:lstStyle/>
          <a:p>
            <a:r>
              <a:rPr lang="en-US" dirty="0"/>
              <a:t>Framing of AI submission reviews</a:t>
            </a:r>
          </a:p>
        </p:txBody>
      </p:sp>
      <p:sp>
        <p:nvSpPr>
          <p:cNvPr id="3" name="Content Placeholder 2">
            <a:extLst>
              <a:ext uri="{FF2B5EF4-FFF2-40B4-BE49-F238E27FC236}">
                <a16:creationId xmlns:a16="http://schemas.microsoft.com/office/drawing/2014/main" id="{DF983D4B-9C49-BB2A-4F5A-F0DB2139812B}"/>
              </a:ext>
            </a:extLst>
          </p:cNvPr>
          <p:cNvSpPr>
            <a:spLocks noGrp="1"/>
          </p:cNvSpPr>
          <p:nvPr>
            <p:ph idx="1"/>
          </p:nvPr>
        </p:nvSpPr>
        <p:spPr/>
        <p:txBody>
          <a:bodyPr/>
          <a:lstStyle/>
          <a:p>
            <a:r>
              <a:rPr lang="en-US" dirty="0"/>
              <a:t>Most/all AI-related submissions are too low-level to have their own entry</a:t>
            </a:r>
          </a:p>
          <a:p>
            <a:r>
              <a:rPr lang="en-US" dirty="0"/>
              <a:t>CWE doesn’t make separate entries for “where the bad input came from”</a:t>
            </a:r>
          </a:p>
          <a:p>
            <a:pPr lvl="1"/>
            <a:r>
              <a:rPr lang="en-US" dirty="0"/>
              <a:t>Buffer overflows have the same CWE whether it’s client-to-server or server-to-client</a:t>
            </a:r>
          </a:p>
          <a:p>
            <a:pPr lvl="1"/>
            <a:r>
              <a:rPr lang="en-US" dirty="0"/>
              <a:t>Same with XSS and others</a:t>
            </a:r>
          </a:p>
          <a:p>
            <a:r>
              <a:rPr lang="en-US" dirty="0"/>
              <a:t>If the product shouldn’t be using that input AT ALL, then maybe that’s a design issue</a:t>
            </a:r>
          </a:p>
          <a:p>
            <a:endParaRPr lang="en-US" dirty="0"/>
          </a:p>
        </p:txBody>
      </p:sp>
      <p:sp>
        <p:nvSpPr>
          <p:cNvPr id="4" name="Slide Number Placeholder 3">
            <a:extLst>
              <a:ext uri="{FF2B5EF4-FFF2-40B4-BE49-F238E27FC236}">
                <a16:creationId xmlns:a16="http://schemas.microsoft.com/office/drawing/2014/main" id="{20D2A643-72F4-E19D-15A5-2D35A404BD2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05693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57BA9-79BB-F429-DE14-0A1095591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2CDFF-65A5-78A3-804C-066E8416C6AF}"/>
              </a:ext>
            </a:extLst>
          </p:cNvPr>
          <p:cNvSpPr>
            <a:spLocks noGrp="1"/>
          </p:cNvSpPr>
          <p:nvPr>
            <p:ph type="title"/>
          </p:nvPr>
        </p:nvSpPr>
        <p:spPr/>
        <p:txBody>
          <a:bodyPr/>
          <a:lstStyle/>
          <a:p>
            <a:r>
              <a:rPr lang="en-US" dirty="0"/>
              <a:t>Active New Entry Submissions – Ongoing</a:t>
            </a:r>
          </a:p>
        </p:txBody>
      </p:sp>
      <p:sp>
        <p:nvSpPr>
          <p:cNvPr id="3" name="Content Placeholder 2">
            <a:extLst>
              <a:ext uri="{FF2B5EF4-FFF2-40B4-BE49-F238E27FC236}">
                <a16:creationId xmlns:a16="http://schemas.microsoft.com/office/drawing/2014/main" id="{3177290A-316A-66A6-24AA-55907FD36981}"/>
              </a:ext>
            </a:extLst>
          </p:cNvPr>
          <p:cNvSpPr>
            <a:spLocks noGrp="1"/>
          </p:cNvSpPr>
          <p:nvPr>
            <p:ph idx="1"/>
          </p:nvPr>
        </p:nvSpPr>
        <p:spPr/>
        <p:txBody>
          <a:bodyPr/>
          <a:lstStyle/>
          <a:p>
            <a:r>
              <a:rPr lang="en-US" sz="1800" dirty="0"/>
              <a:t>Formal writeups for Initial Reviews in progress</a:t>
            </a:r>
          </a:p>
          <a:p>
            <a:r>
              <a:rPr lang="en-US" sz="1800" dirty="0"/>
              <a:t>Additional Submissions e.g., “AI/ML Workflow Definitions”</a:t>
            </a:r>
          </a:p>
          <a:p>
            <a:r>
              <a:rPr lang="en-US" sz="1800" dirty="0"/>
              <a:t>“Bypass of Human Authorization Controls” (Eran Segal) - ES2512-73d63d33 / CDR #174</a:t>
            </a:r>
          </a:p>
          <a:p>
            <a:pPr lvl="1"/>
            <a:r>
              <a:rPr lang="en-US" sz="1800" dirty="0"/>
              <a:t>Will follow up – presented at RSA</a:t>
            </a:r>
          </a:p>
          <a:p>
            <a:pPr lvl="1"/>
            <a:r>
              <a:rPr lang="en-US" sz="1800" dirty="0"/>
              <a:t>Planning to create a more general CWE for “missing human consultation”</a:t>
            </a:r>
          </a:p>
          <a:p>
            <a:r>
              <a:rPr lang="en-US" sz="1600" dirty="0"/>
              <a:t>“Improper Neutralization of Reserved Special Tokens in AI Instruction Streams” (Robert Shala) - ES2512-1cc397f8 / CDR #173</a:t>
            </a:r>
          </a:p>
          <a:p>
            <a:pPr lvl="1"/>
            <a:r>
              <a:rPr lang="en-US" sz="1600" dirty="0"/>
              <a:t>Conducting active review based on previous WG discussion</a:t>
            </a:r>
          </a:p>
          <a:p>
            <a:r>
              <a:rPr lang="en-US" sz="1600" dirty="0"/>
              <a:t>“Unstable Internal Model Representations Triggered by Valid Token Sequences” (Kurt Seifried) - ES2601-eb7223b4 / CDR #179</a:t>
            </a:r>
          </a:p>
          <a:p>
            <a:pPr lvl="1"/>
            <a:r>
              <a:rPr lang="en-US" sz="1600" dirty="0"/>
              <a:t>Discussion from February to be integrated into initial review/consultation</a:t>
            </a:r>
          </a:p>
          <a:p>
            <a:r>
              <a:rPr lang="en-US" sz="1600" dirty="0"/>
              <a:t>“Bias in AI Models” (Kurt Seifried) - ES2402-38e20ce6</a:t>
            </a:r>
          </a:p>
          <a:p>
            <a:pPr lvl="1"/>
            <a:r>
              <a:rPr lang="en-US" sz="1600" dirty="0"/>
              <a:t>Steve to write up initial review and reply to submitter; paper on DeepSeek bias/influence on insecure code</a:t>
            </a:r>
          </a:p>
          <a:p>
            <a:endParaRPr lang="en-US" sz="1800" dirty="0"/>
          </a:p>
          <a:p>
            <a:endParaRPr lang="en-US" sz="2000" dirty="0"/>
          </a:p>
        </p:txBody>
      </p:sp>
      <p:sp>
        <p:nvSpPr>
          <p:cNvPr id="4" name="Slide Number Placeholder 3">
            <a:extLst>
              <a:ext uri="{FF2B5EF4-FFF2-40B4-BE49-F238E27FC236}">
                <a16:creationId xmlns:a16="http://schemas.microsoft.com/office/drawing/2014/main" id="{049B8CE4-4FEE-A7AD-BFBF-3C581FDE144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76654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Active New Entry Submissions – Ongoing</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endParaRPr lang="en-US" sz="1600" dirty="0"/>
          </a:p>
          <a:p>
            <a:r>
              <a:rPr lang="en-US" sz="1600" dirty="0"/>
              <a:t>New: “Cross-Model Scripting (XMS)” (Felipe Caldas) - ES2602-82fddd0e / CDR #180</a:t>
            </a:r>
          </a:p>
          <a:p>
            <a:pPr lvl="1"/>
            <a:r>
              <a:rPr lang="en-US" sz="1600" dirty="0"/>
              <a:t>To be integrated into CWE-79 (XSS) as an example</a:t>
            </a:r>
          </a:p>
          <a:p>
            <a:r>
              <a:rPr lang="en-US" sz="1600" dirty="0"/>
              <a:t>“Improper Neutralization of Retrieved Content Used in AI Prompt Construction in AI/ML Systems” (Mehmet Yilmaz) - ES2508-e15b0715 / CDR #161</a:t>
            </a:r>
          </a:p>
          <a:p>
            <a:pPr lvl="1"/>
            <a:r>
              <a:rPr lang="en-US" sz="1600" dirty="0"/>
              <a:t>Submitter provided significant extra details; still reviewing</a:t>
            </a:r>
          </a:p>
          <a:p>
            <a:r>
              <a:rPr lang="en-US" sz="1600" dirty="0"/>
              <a:t>“Improper Neutralization of Configurations Used for MCP Client” (Xinpeng Liu) ES2506-e3c78a2a</a:t>
            </a:r>
          </a:p>
          <a:p>
            <a:pPr lvl="1"/>
            <a:r>
              <a:rPr lang="en-US" sz="1600" dirty="0"/>
              <a:t>Steve to write up initial review</a:t>
            </a:r>
          </a:p>
          <a:p>
            <a:r>
              <a:rPr lang="en-US" sz="1800" dirty="0"/>
              <a:t>“Inclusion of ANSI escape codes in LLM tokenizer” (Erick Galinkin) - ES2508-95a780e3 / CDR #163</a:t>
            </a:r>
          </a:p>
          <a:p>
            <a:pPr lvl="1"/>
            <a:r>
              <a:rPr lang="en-US" sz="1800" dirty="0"/>
              <a:t>CWE-150 updated in CWE 4.20</a:t>
            </a:r>
          </a:p>
          <a:p>
            <a:endParaRPr lang="en-US" sz="1600" dirty="0"/>
          </a:p>
          <a:p>
            <a:endParaRPr lang="en-US" sz="1600" dirty="0"/>
          </a:p>
          <a:p>
            <a:pPr lvl="1"/>
            <a:endParaRPr lang="en-US" sz="1600" dirty="0"/>
          </a:p>
          <a:p>
            <a:endParaRPr lang="en-US" sz="1600" dirty="0"/>
          </a:p>
          <a:p>
            <a:endParaRPr lang="en-US" sz="1800"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26DB4-F389-7D41-4F35-74EF863C6F3C}"/>
              </a:ext>
            </a:extLst>
          </p:cNvPr>
          <p:cNvSpPr>
            <a:spLocks noGrp="1"/>
          </p:cNvSpPr>
          <p:nvPr>
            <p:ph type="title"/>
          </p:nvPr>
        </p:nvSpPr>
        <p:spPr/>
        <p:txBody>
          <a:bodyPr/>
          <a:lstStyle/>
          <a:p>
            <a:r>
              <a:rPr lang="en-US" dirty="0"/>
              <a:t>Proposal by Sasha Romanosky</a:t>
            </a:r>
          </a:p>
        </p:txBody>
      </p:sp>
      <p:sp>
        <p:nvSpPr>
          <p:cNvPr id="3" name="Content Placeholder 2">
            <a:extLst>
              <a:ext uri="{FF2B5EF4-FFF2-40B4-BE49-F238E27FC236}">
                <a16:creationId xmlns:a16="http://schemas.microsoft.com/office/drawing/2014/main" id="{75BA7908-A6DE-14BF-54FB-8040100AC926}"/>
              </a:ext>
            </a:extLst>
          </p:cNvPr>
          <p:cNvSpPr>
            <a:spLocks noGrp="1"/>
          </p:cNvSpPr>
          <p:nvPr>
            <p:ph idx="1"/>
          </p:nvPr>
        </p:nvSpPr>
        <p:spPr/>
        <p:txBody>
          <a:bodyPr/>
          <a:lstStyle/>
          <a:p>
            <a:r>
              <a:rPr lang="en-US" dirty="0"/>
              <a:t>Draft paper on “A Structured Approach to Identifying and Characterizing AI Vulnerabilities”</a:t>
            </a:r>
          </a:p>
          <a:p>
            <a:pPr lvl="1"/>
            <a:r>
              <a:rPr lang="en-US" dirty="0"/>
              <a:t>Shared with Erick and Steve a couple weeks ago</a:t>
            </a:r>
          </a:p>
          <a:p>
            <a:pPr lvl="1"/>
            <a:r>
              <a:rPr lang="en-US" dirty="0"/>
              <a:t>Unsure of the publication date</a:t>
            </a:r>
          </a:p>
          <a:p>
            <a:r>
              <a:rPr lang="en-US" dirty="0"/>
              <a:t>Looks at various components, data, tokenization, interfaces, etc.</a:t>
            </a:r>
          </a:p>
          <a:p>
            <a:r>
              <a:rPr lang="en-US" dirty="0"/>
              <a:t>Distinguishes between attacks and “vulnerability types”</a:t>
            </a:r>
          </a:p>
          <a:p>
            <a:endParaRPr lang="en-US" dirty="0"/>
          </a:p>
          <a:p>
            <a:r>
              <a:rPr lang="en-US" dirty="0"/>
              <a:t>Future</a:t>
            </a:r>
          </a:p>
          <a:p>
            <a:pPr lvl="1"/>
            <a:r>
              <a:rPr lang="en-US" dirty="0"/>
              <a:t>Line up with additional proposals by MITRE colleagues</a:t>
            </a:r>
          </a:p>
          <a:p>
            <a:pPr lvl="1"/>
            <a:r>
              <a:rPr lang="en-US" dirty="0"/>
              <a:t>Pull out “easiest” weaknesses (with clear risk) and develop into new entries</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F317B381-D9CE-F3CE-B6A8-04876F3D13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5830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9E8ED-93B8-6BDC-D665-49353D862824}"/>
              </a:ext>
            </a:extLst>
          </p:cNvPr>
          <p:cNvSpPr>
            <a:spLocks noGrp="1"/>
          </p:cNvSpPr>
          <p:nvPr>
            <p:ph type="title"/>
          </p:nvPr>
        </p:nvSpPr>
        <p:spPr/>
        <p:txBody>
          <a:bodyPr/>
          <a:lstStyle/>
          <a:p>
            <a:r>
              <a:rPr lang="en-US" dirty="0"/>
              <a:t>Additional Work</a:t>
            </a:r>
          </a:p>
        </p:txBody>
      </p:sp>
      <p:sp>
        <p:nvSpPr>
          <p:cNvPr id="3" name="Content Placeholder 2">
            <a:extLst>
              <a:ext uri="{FF2B5EF4-FFF2-40B4-BE49-F238E27FC236}">
                <a16:creationId xmlns:a16="http://schemas.microsoft.com/office/drawing/2014/main" id="{C76A3CAD-01FE-48E7-658C-C1D63CE2E027}"/>
              </a:ext>
            </a:extLst>
          </p:cNvPr>
          <p:cNvSpPr>
            <a:spLocks noGrp="1"/>
          </p:cNvSpPr>
          <p:nvPr>
            <p:ph idx="1"/>
          </p:nvPr>
        </p:nvSpPr>
        <p:spPr/>
        <p:txBody>
          <a:bodyPr/>
          <a:lstStyle/>
          <a:p>
            <a:r>
              <a:rPr lang="en-US" dirty="0"/>
              <a:t>OWASP</a:t>
            </a:r>
          </a:p>
          <a:p>
            <a:pPr lvl="1"/>
            <a:r>
              <a:rPr lang="en-US" dirty="0"/>
              <a:t>Attack-oriented?</a:t>
            </a:r>
          </a:p>
          <a:p>
            <a:r>
              <a:rPr lang="en-US" dirty="0"/>
              <a:t>ATLAS</a:t>
            </a:r>
          </a:p>
          <a:p>
            <a:pPr lvl="1"/>
            <a:r>
              <a:rPr lang="en-US" dirty="0"/>
              <a:t>Not weakness-oriented</a:t>
            </a:r>
          </a:p>
          <a:p>
            <a:endParaRPr lang="en-US" dirty="0"/>
          </a:p>
        </p:txBody>
      </p:sp>
      <p:sp>
        <p:nvSpPr>
          <p:cNvPr id="4" name="Slide Number Placeholder 3">
            <a:extLst>
              <a:ext uri="{FF2B5EF4-FFF2-40B4-BE49-F238E27FC236}">
                <a16:creationId xmlns:a16="http://schemas.microsoft.com/office/drawing/2014/main" id="{ADE30431-9CBD-D584-24B1-028AB722D427}"/>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28909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EA566-9A5F-9B3D-4219-51C9ACFEB5B0}"/>
              </a:ext>
            </a:extLst>
          </p:cNvPr>
          <p:cNvSpPr>
            <a:spLocks noGrp="1"/>
          </p:cNvSpPr>
          <p:nvPr>
            <p:ph type="title"/>
          </p:nvPr>
        </p:nvSpPr>
        <p:spPr/>
        <p:txBody>
          <a:bodyPr/>
          <a:lstStyle/>
          <a:p>
            <a:r>
              <a:rPr lang="en-US" dirty="0"/>
              <a:t>Moving Forward</a:t>
            </a:r>
          </a:p>
        </p:txBody>
      </p:sp>
      <p:sp>
        <p:nvSpPr>
          <p:cNvPr id="3" name="Content Placeholder 2">
            <a:extLst>
              <a:ext uri="{FF2B5EF4-FFF2-40B4-BE49-F238E27FC236}">
                <a16:creationId xmlns:a16="http://schemas.microsoft.com/office/drawing/2014/main" id="{C0A4EA47-6168-19BB-98E8-2E193170B2F5}"/>
              </a:ext>
            </a:extLst>
          </p:cNvPr>
          <p:cNvSpPr>
            <a:spLocks noGrp="1"/>
          </p:cNvSpPr>
          <p:nvPr>
            <p:ph idx="1"/>
          </p:nvPr>
        </p:nvSpPr>
        <p:spPr/>
        <p:txBody>
          <a:bodyPr/>
          <a:lstStyle/>
          <a:p>
            <a:r>
              <a:rPr lang="en-US" dirty="0"/>
              <a:t>Some CWE Board members are actively interested in a “push” for AI coverage in the coming months</a:t>
            </a:r>
          </a:p>
          <a:p>
            <a:r>
              <a:rPr lang="en-US" dirty="0"/>
              <a:t>Activities could include</a:t>
            </a:r>
          </a:p>
          <a:p>
            <a:pPr lvl="1"/>
            <a:r>
              <a:rPr lang="en-US" dirty="0"/>
              <a:t>Working on new-entry-focused submissions</a:t>
            </a:r>
          </a:p>
          <a:p>
            <a:pPr lvl="1"/>
            <a:r>
              <a:rPr lang="en-US" dirty="0"/>
              <a:t>More systematic coverage using public or almost-public documents</a:t>
            </a:r>
          </a:p>
          <a:p>
            <a:r>
              <a:rPr lang="en-US" dirty="0"/>
              <a:t>Each new entry is extremely labor-intensive</a:t>
            </a:r>
          </a:p>
          <a:p>
            <a:pPr lvl="1"/>
            <a:r>
              <a:rPr lang="en-US" dirty="0"/>
              <a:t>Is completeness required?</a:t>
            </a:r>
          </a:p>
          <a:p>
            <a:endParaRPr lang="en-US" dirty="0"/>
          </a:p>
        </p:txBody>
      </p:sp>
      <p:sp>
        <p:nvSpPr>
          <p:cNvPr id="4" name="Slide Number Placeholder 3">
            <a:extLst>
              <a:ext uri="{FF2B5EF4-FFF2-40B4-BE49-F238E27FC236}">
                <a16:creationId xmlns:a16="http://schemas.microsoft.com/office/drawing/2014/main" id="{5C358072-B583-31DD-2626-45B5C606D9A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61885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027DB-E249-73CF-A612-14D5FCD7E5E9}"/>
              </a:ext>
            </a:extLst>
          </p:cNvPr>
          <p:cNvSpPr>
            <a:spLocks noGrp="1"/>
          </p:cNvSpPr>
          <p:nvPr>
            <p:ph type="title"/>
          </p:nvPr>
        </p:nvSpPr>
        <p:spPr/>
        <p:txBody>
          <a:bodyPr/>
          <a:lstStyle/>
          <a:p>
            <a:r>
              <a:rPr lang="en-US" dirty="0"/>
              <a:t>Future</a:t>
            </a:r>
          </a:p>
        </p:txBody>
      </p:sp>
      <p:sp>
        <p:nvSpPr>
          <p:cNvPr id="3" name="Content Placeholder 2">
            <a:extLst>
              <a:ext uri="{FF2B5EF4-FFF2-40B4-BE49-F238E27FC236}">
                <a16:creationId xmlns:a16="http://schemas.microsoft.com/office/drawing/2014/main" id="{EF72D980-3306-D23C-97EF-12CE05E5747E}"/>
              </a:ext>
            </a:extLst>
          </p:cNvPr>
          <p:cNvSpPr>
            <a:spLocks noGrp="1"/>
          </p:cNvSpPr>
          <p:nvPr>
            <p:ph idx="1"/>
          </p:nvPr>
        </p:nvSpPr>
        <p:spPr/>
        <p:txBody>
          <a:bodyPr/>
          <a:lstStyle/>
          <a:p>
            <a:r>
              <a:rPr lang="en-US" dirty="0"/>
              <a:t>Modification meeting in 2 weeks will be canceled (</a:t>
            </a:r>
            <a:r>
              <a:rPr lang="en-US" dirty="0" err="1"/>
              <a:t>VulnCon</a:t>
            </a:r>
            <a:r>
              <a:rPr lang="en-US" dirty="0"/>
              <a:t>)</a:t>
            </a:r>
          </a:p>
          <a:p>
            <a:r>
              <a:rPr lang="en-US" dirty="0"/>
              <a:t>New entry meeting: May 1</a:t>
            </a:r>
          </a:p>
        </p:txBody>
      </p:sp>
      <p:sp>
        <p:nvSpPr>
          <p:cNvPr id="4" name="Slide Number Placeholder 3">
            <a:extLst>
              <a:ext uri="{FF2B5EF4-FFF2-40B4-BE49-F238E27FC236}">
                <a16:creationId xmlns:a16="http://schemas.microsoft.com/office/drawing/2014/main" id="{B6396BEF-15C6-340F-83C9-8E805DAD31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23517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6F343-6A3B-3C11-2714-5CF76106D27B}"/>
              </a:ext>
            </a:extLst>
          </p:cNvPr>
          <p:cNvSpPr>
            <a:spLocks noGrp="1"/>
          </p:cNvSpPr>
          <p:nvPr>
            <p:ph type="ctrTitle" sz="quarter"/>
          </p:nvPr>
        </p:nvSpPr>
        <p:spPr/>
        <p:txBody>
          <a:bodyPr/>
          <a:lstStyle/>
          <a:p>
            <a:r>
              <a:rPr lang="en-US" dirty="0"/>
              <a:t>Other slides (not used in April 3 meeting)</a:t>
            </a:r>
          </a:p>
        </p:txBody>
      </p:sp>
      <p:sp>
        <p:nvSpPr>
          <p:cNvPr id="3" name="Slide Number Placeholder 2">
            <a:extLst>
              <a:ext uri="{FF2B5EF4-FFF2-40B4-BE49-F238E27FC236}">
                <a16:creationId xmlns:a16="http://schemas.microsoft.com/office/drawing/2014/main" id="{6D6EB319-40B4-00FD-3FCE-2070B92287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37239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176CC-67D5-783C-A02E-E77F1DF1D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9BDC6-32D8-0324-3EC1-91A626BE651A}"/>
              </a:ext>
            </a:extLst>
          </p:cNvPr>
          <p:cNvSpPr>
            <a:spLocks noGrp="1"/>
          </p:cNvSpPr>
          <p:nvPr>
            <p:ph type="title"/>
          </p:nvPr>
        </p:nvSpPr>
        <p:spPr/>
        <p:txBody>
          <a:bodyPr/>
          <a:lstStyle/>
          <a:p>
            <a:r>
              <a:rPr lang="en-US" dirty="0"/>
              <a:t>Deprioritized/Delayed New Entry Submissions</a:t>
            </a:r>
          </a:p>
        </p:txBody>
      </p:sp>
      <p:sp>
        <p:nvSpPr>
          <p:cNvPr id="3" name="Content Placeholder 2">
            <a:extLst>
              <a:ext uri="{FF2B5EF4-FFF2-40B4-BE49-F238E27FC236}">
                <a16:creationId xmlns:a16="http://schemas.microsoft.com/office/drawing/2014/main" id="{755B78C9-619D-595B-3274-E2E9B1D2C11C}"/>
              </a:ext>
            </a:extLst>
          </p:cNvPr>
          <p:cNvSpPr>
            <a:spLocks noGrp="1"/>
          </p:cNvSpPr>
          <p:nvPr>
            <p:ph idx="1"/>
          </p:nvPr>
        </p:nvSpPr>
        <p:spPr/>
        <p:txBody>
          <a:bodyPr/>
          <a:lstStyle/>
          <a:p>
            <a:r>
              <a:rPr lang="en-US" sz="2000" dirty="0"/>
              <a:t>Delayed / TBD</a:t>
            </a:r>
          </a:p>
          <a:p>
            <a:pPr lvl="1"/>
            <a:r>
              <a:rPr lang="en-US" sz="2000" dirty="0"/>
              <a:t>“Insufficient Input Validation in Generative AI Applications” (Steve / AI WG) - ES2405-84711fc4</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FBB7C149-ABF8-CF62-F491-0C69AB6C366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0642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AE3A2-28FA-FB59-8075-ABC59E8225C7}"/>
              </a:ext>
            </a:extLst>
          </p:cNvPr>
          <p:cNvSpPr>
            <a:spLocks noGrp="1"/>
          </p:cNvSpPr>
          <p:nvPr>
            <p:ph type="ctrTitle" sz="quarter"/>
          </p:nvPr>
        </p:nvSpPr>
        <p:spPr/>
        <p:txBody>
          <a:bodyPr/>
          <a:lstStyle/>
          <a:p>
            <a:r>
              <a:rPr lang="en-US" dirty="0"/>
              <a:t>Bypass of Human Authorization Controls</a:t>
            </a:r>
          </a:p>
        </p:txBody>
      </p:sp>
      <p:sp>
        <p:nvSpPr>
          <p:cNvPr id="3" name="Slide Number Placeholder 2">
            <a:extLst>
              <a:ext uri="{FF2B5EF4-FFF2-40B4-BE49-F238E27FC236}">
                <a16:creationId xmlns:a16="http://schemas.microsoft.com/office/drawing/2014/main" id="{56A2C63F-94CE-54E3-FA56-44C011E7A64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71448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0393C-21A1-4342-C53C-A393A0C58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B773C-6549-4520-AB0E-15706B5F0B75}"/>
              </a:ext>
            </a:extLst>
          </p:cNvPr>
          <p:cNvSpPr>
            <a:spLocks noGrp="1"/>
          </p:cNvSpPr>
          <p:nvPr>
            <p:ph type="title"/>
          </p:nvPr>
        </p:nvSpPr>
        <p:spPr/>
        <p:txBody>
          <a:bodyPr/>
          <a:lstStyle/>
          <a:p>
            <a:r>
              <a:rPr lang="en-US" dirty="0"/>
              <a:t>Bypass of Human Authorization Controls (Eran Segal, </a:t>
            </a:r>
            <a:r>
              <a:rPr lang="en-US" dirty="0" err="1"/>
              <a:t>Kodem</a:t>
            </a:r>
            <a:r>
              <a:rPr lang="en-US" dirty="0"/>
              <a:t> Security)</a:t>
            </a:r>
          </a:p>
        </p:txBody>
      </p:sp>
      <p:sp>
        <p:nvSpPr>
          <p:cNvPr id="3" name="Content Placeholder 2">
            <a:extLst>
              <a:ext uri="{FF2B5EF4-FFF2-40B4-BE49-F238E27FC236}">
                <a16:creationId xmlns:a16="http://schemas.microsoft.com/office/drawing/2014/main" id="{39D83D17-2924-EBE1-3D7B-0EE1507FC32C}"/>
              </a:ext>
            </a:extLst>
          </p:cNvPr>
          <p:cNvSpPr>
            <a:spLocks noGrp="1"/>
          </p:cNvSpPr>
          <p:nvPr>
            <p:ph idx="1"/>
          </p:nvPr>
        </p:nvSpPr>
        <p:spPr/>
        <p:txBody>
          <a:bodyPr/>
          <a:lstStyle/>
          <a:p>
            <a:r>
              <a:rPr lang="en-US" sz="1600" dirty="0"/>
              <a:t>ID: ES2512-73d63d33 /  CDR #174</a:t>
            </a:r>
          </a:p>
          <a:p>
            <a:r>
              <a:rPr lang="en-US" sz="1600" dirty="0"/>
              <a:t>Submitted: December 24, 2025</a:t>
            </a:r>
          </a:p>
          <a:p>
            <a:r>
              <a:rPr lang="en-US" sz="1600" dirty="0"/>
              <a:t>Name: Bypass of Human Authorization Controls</a:t>
            </a:r>
          </a:p>
          <a:p>
            <a:r>
              <a:rPr lang="en-US" sz="1600" dirty="0"/>
              <a:t>Phase: Initial-Review</a:t>
            </a:r>
          </a:p>
          <a:p>
            <a:r>
              <a:rPr lang="en-US" sz="1600" dirty="0"/>
              <a:t>Description</a:t>
            </a:r>
          </a:p>
          <a:p>
            <a:pPr lvl="1"/>
            <a:r>
              <a:rPr lang="en-US" sz="1600" dirty="0"/>
              <a:t>Most of the AI agents can't trust the entire context, because they contain results from untrusted sources such as the internet or the user's input. One of the known mechanisms used is 'human-in-the-loop’… </a:t>
            </a:r>
            <a:r>
              <a:rPr lang="en-US" sz="1600" dirty="0">
                <a:highlight>
                  <a:srgbClr val="00FF00"/>
                </a:highlight>
              </a:rPr>
              <a:t>[I want to cover] the concept of bypass techniques that allow an attacker to do malicious/dangerous activity without this approval</a:t>
            </a:r>
            <a:r>
              <a:rPr lang="en-US" sz="1600" dirty="0"/>
              <a:t>.</a:t>
            </a:r>
          </a:p>
          <a:p>
            <a:pPr lvl="1"/>
            <a:r>
              <a:rPr lang="en-US" sz="1600" dirty="0"/>
              <a:t>It can be because of a configuration issue, a code issue such as not restricting the regex enough, an LLM as a judge that decides if a human is required to approve that, or even an unrelated message to the human to approve.</a:t>
            </a:r>
          </a:p>
          <a:p>
            <a:pPr lvl="1"/>
            <a:r>
              <a:rPr lang="en-US" sz="1600" dirty="0"/>
              <a:t>[This] will be presented in RSA (2026 March)</a:t>
            </a:r>
          </a:p>
          <a:p>
            <a:r>
              <a:rPr lang="en-US" sz="1600" dirty="0"/>
              <a:t>Close-but-no-cigar: CWE-357 (but a warning is actually sent)</a:t>
            </a:r>
          </a:p>
          <a:p>
            <a:r>
              <a:rPr lang="en-US" sz="1600" dirty="0"/>
              <a:t>Plan: create a more general CWE entry about “lack of human in the loop”</a:t>
            </a:r>
          </a:p>
          <a:p>
            <a:r>
              <a:rPr lang="en-US" sz="1600" dirty="0">
                <a:hlinkClick r:id="rId2"/>
              </a:rPr>
              <a:t>https://github.com/CWE-CAPEC/CWE-Content-Development-Repository/issues/174</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63C13022-6260-D186-27FD-75947EED33B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1644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C737B-AF50-0DF7-DE58-8AB855370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C7CEA-567A-6324-7E46-49C7012B3765}"/>
              </a:ext>
            </a:extLst>
          </p:cNvPr>
          <p:cNvSpPr>
            <a:spLocks noGrp="1"/>
          </p:cNvSpPr>
          <p:nvPr>
            <p:ph type="ctrTitle" sz="quarter"/>
          </p:nvPr>
        </p:nvSpPr>
        <p:spPr/>
        <p:txBody>
          <a:bodyPr/>
          <a:lstStyle/>
          <a:p>
            <a:r>
              <a:rPr lang="en-US" dirty="0"/>
              <a:t>ANSI Injection from LLMs</a:t>
            </a:r>
          </a:p>
        </p:txBody>
      </p:sp>
      <p:sp>
        <p:nvSpPr>
          <p:cNvPr id="3" name="Slide Number Placeholder 2">
            <a:extLst>
              <a:ext uri="{FF2B5EF4-FFF2-40B4-BE49-F238E27FC236}">
                <a16:creationId xmlns:a16="http://schemas.microsoft.com/office/drawing/2014/main" id="{91DFFD87-46C9-DFAD-9260-4A69BBC1462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62807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D1101-7C9F-7495-D56C-1D51522ED7A5}"/>
              </a:ext>
            </a:extLst>
          </p:cNvPr>
          <p:cNvSpPr>
            <a:spLocks noGrp="1"/>
          </p:cNvSpPr>
          <p:nvPr>
            <p:ph type="title"/>
          </p:nvPr>
        </p:nvSpPr>
        <p:spPr/>
        <p:txBody>
          <a:bodyPr/>
          <a:lstStyle/>
          <a:p>
            <a:r>
              <a:rPr lang="en-US"/>
              <a:t>Inclusion of ANSI escape codes in LLM tokenizer (Erick Galinkin)</a:t>
            </a:r>
          </a:p>
        </p:txBody>
      </p:sp>
      <p:sp>
        <p:nvSpPr>
          <p:cNvPr id="3" name="Content Placeholder 2">
            <a:extLst>
              <a:ext uri="{FF2B5EF4-FFF2-40B4-BE49-F238E27FC236}">
                <a16:creationId xmlns:a16="http://schemas.microsoft.com/office/drawing/2014/main" id="{DB6A4387-1FE7-CE01-5DE8-DF9417BCDCEC}"/>
              </a:ext>
            </a:extLst>
          </p:cNvPr>
          <p:cNvSpPr>
            <a:spLocks noGrp="1"/>
          </p:cNvSpPr>
          <p:nvPr>
            <p:ph idx="1"/>
          </p:nvPr>
        </p:nvSpPr>
        <p:spPr/>
        <p:txBody>
          <a:bodyPr/>
          <a:lstStyle/>
          <a:p>
            <a:r>
              <a:rPr lang="en-US" sz="1600" dirty="0"/>
              <a:t>ID: ES2508-95a780e3 /  CDR #163</a:t>
            </a:r>
          </a:p>
          <a:p>
            <a:r>
              <a:rPr lang="en-US" sz="1600" dirty="0"/>
              <a:t>Submitted: 2025-08-15</a:t>
            </a:r>
          </a:p>
          <a:p>
            <a:r>
              <a:rPr lang="en-US" sz="1600" dirty="0"/>
              <a:t>Name: Inclusion of ANSI escape codes in LLM tokenizer</a:t>
            </a:r>
          </a:p>
          <a:p>
            <a:r>
              <a:rPr lang="en-US" sz="1600" dirty="0"/>
              <a:t>Phase: Details-Requested</a:t>
            </a:r>
          </a:p>
          <a:p>
            <a:r>
              <a:rPr lang="en-US" sz="1600" dirty="0"/>
              <a:t>Description</a:t>
            </a:r>
          </a:p>
          <a:p>
            <a:pPr lvl="1"/>
            <a:r>
              <a:rPr lang="en-US" sz="1600" b="1" dirty="0">
                <a:highlight>
                  <a:srgbClr val="00FF00"/>
                </a:highlight>
              </a:rPr>
              <a:t>ANSI escape codes are included in a tokenizer</a:t>
            </a:r>
            <a:r>
              <a:rPr lang="en-US" sz="1600" dirty="0"/>
              <a:t>. This can result in the execution of commands if LLM generated text is displayed in a terminal emulator.</a:t>
            </a:r>
          </a:p>
          <a:p>
            <a:pPr lvl="2"/>
            <a:r>
              <a:rPr lang="en-US" sz="1600" i="1" dirty="0"/>
              <a:t>“For certain escape sequences, it may be treated as a single token”. Likelihood of outputting a single token is higher than for multiple tokens. Could be exploited when user reads logs / accesses </a:t>
            </a:r>
            <a:r>
              <a:rPr lang="en-US" sz="1600" i="1" dirty="0" err="1"/>
              <a:t>stdout</a:t>
            </a:r>
            <a:r>
              <a:rPr lang="en-US" sz="1600" i="1" dirty="0"/>
              <a:t> / stderr. Similar to a </a:t>
            </a:r>
            <a:r>
              <a:rPr lang="en-US" sz="1600" i="1" dirty="0" err="1"/>
              <a:t>lexer</a:t>
            </a:r>
            <a:r>
              <a:rPr lang="en-US" sz="1600" i="1" dirty="0"/>
              <a:t>.</a:t>
            </a:r>
          </a:p>
          <a:p>
            <a:r>
              <a:rPr lang="en-US" sz="1600" dirty="0"/>
              <a:t>Extended Description</a:t>
            </a:r>
          </a:p>
          <a:p>
            <a:pPr lvl="1"/>
            <a:r>
              <a:rPr lang="en-US" sz="1600" dirty="0">
                <a:highlight>
                  <a:srgbClr val="FFFF00"/>
                </a:highlight>
              </a:rPr>
              <a:t>ANSI escape sequences are a standard for controlling options in text terminals and terminal emulators that embed an escape character into text, which are interpreted as commands instead of text to be displayed.</a:t>
            </a:r>
            <a:r>
              <a:rPr lang="en-US" sz="1600" dirty="0"/>
              <a:t> This can result in unexpected command injection (CWE-77).</a:t>
            </a:r>
          </a:p>
          <a:p>
            <a:pPr lvl="1"/>
            <a:r>
              <a:rPr lang="en-US" sz="1600" dirty="0"/>
              <a:t>This impacts tokenizers used with large language models. Since large language models are generally expected to output human-readable text, tokenizers should not contain these escape sequences.</a:t>
            </a:r>
          </a:p>
          <a:p>
            <a:r>
              <a:rPr lang="en-US" sz="1600" dirty="0">
                <a:hlinkClick r:id="rId2"/>
              </a:rPr>
              <a:t>https://github.com/CWE-CAPEC/CWE-Content-Development-Repository/issues/163</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115BFB50-A020-F1D7-99F6-DB4D0A28442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5614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7491B-8DEB-150A-4BFF-495BCA6DD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D3F36-B417-99B5-0904-35E78CF612D3}"/>
              </a:ext>
            </a:extLst>
          </p:cNvPr>
          <p:cNvSpPr>
            <a:spLocks noGrp="1"/>
          </p:cNvSpPr>
          <p:nvPr>
            <p:ph type="title"/>
          </p:nvPr>
        </p:nvSpPr>
        <p:spPr/>
        <p:txBody>
          <a:bodyPr/>
          <a:lstStyle/>
          <a:p>
            <a:r>
              <a:rPr lang="en-US"/>
              <a:t>Issues: Inclusion of ANSI escape codes in LLM tokenizer (Erick Galinkin)</a:t>
            </a:r>
          </a:p>
        </p:txBody>
      </p:sp>
      <p:sp>
        <p:nvSpPr>
          <p:cNvPr id="3" name="Content Placeholder 2">
            <a:extLst>
              <a:ext uri="{FF2B5EF4-FFF2-40B4-BE49-F238E27FC236}">
                <a16:creationId xmlns:a16="http://schemas.microsoft.com/office/drawing/2014/main" id="{EF251B09-2795-CDF8-DEFA-98E8D21B04C0}"/>
              </a:ext>
            </a:extLst>
          </p:cNvPr>
          <p:cNvSpPr>
            <a:spLocks noGrp="1"/>
          </p:cNvSpPr>
          <p:nvPr>
            <p:ph idx="1"/>
          </p:nvPr>
        </p:nvSpPr>
        <p:spPr/>
        <p:txBody>
          <a:bodyPr/>
          <a:lstStyle/>
          <a:p>
            <a:r>
              <a:rPr lang="en-US" sz="2000" dirty="0"/>
              <a:t>Probably too low-level for its own CWE (SUB.ABS.LOWLEVEL)</a:t>
            </a:r>
          </a:p>
          <a:p>
            <a:pPr lvl="1"/>
            <a:r>
              <a:rPr lang="en-US" sz="2000" dirty="0"/>
              <a:t>Specific types of “escape” codes</a:t>
            </a:r>
          </a:p>
          <a:p>
            <a:pPr lvl="1"/>
            <a:r>
              <a:rPr lang="en-US" sz="2000" dirty="0"/>
              <a:t>LLM tokenizer</a:t>
            </a:r>
          </a:p>
          <a:p>
            <a:r>
              <a:rPr lang="en-US" sz="2000" dirty="0"/>
              <a:t>Overlaps an older submission related to ANSI codes</a:t>
            </a:r>
          </a:p>
          <a:p>
            <a:pPr lvl="1"/>
            <a:r>
              <a:rPr lang="en-US" sz="2000" dirty="0"/>
              <a:t>Improper Neutralization of ANSI Codes ('ANSI Injection’) - Tristan Figueroa-Reid - ES2406-ca98e75f / CDR #112</a:t>
            </a:r>
          </a:p>
          <a:p>
            <a:r>
              <a:rPr lang="en-US" sz="2000" dirty="0"/>
              <a:t>CWE already exists - CWE-150: Improper Neutralization of Escape, Meta, or Control Sequences</a:t>
            </a:r>
          </a:p>
          <a:p>
            <a:r>
              <a:rPr lang="en-US" sz="2000" dirty="0"/>
              <a:t>From the older submission review:</a:t>
            </a:r>
          </a:p>
          <a:p>
            <a:pPr lvl="1"/>
            <a:r>
              <a:rPr lang="en-US" sz="2000" dirty="0"/>
              <a:t>“CWE-150, already covers Improper Neutralization of Escape, Meta, or Control Sequences. ASNI codes would be classified as "Control Sequences" which is why it is covered by CWE-150. Given that CWE-150 is already a variant abstraction, the proposed submission is likely to be too low level for a new entry. It may be better suited as a modification of CWE-150.</a:t>
            </a:r>
          </a:p>
          <a:p>
            <a:r>
              <a:rPr lang="en-US" sz="2000" dirty="0"/>
              <a:t>This should be a modification task for CWE-150</a:t>
            </a:r>
          </a:p>
        </p:txBody>
      </p:sp>
      <p:sp>
        <p:nvSpPr>
          <p:cNvPr id="4" name="Slide Number Placeholder 3">
            <a:extLst>
              <a:ext uri="{FF2B5EF4-FFF2-40B4-BE49-F238E27FC236}">
                <a16:creationId xmlns:a16="http://schemas.microsoft.com/office/drawing/2014/main" id="{411664F4-BEF7-0802-2FC5-191404D964A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27398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6BD14-3DAF-9D82-1A0B-2D394FD6B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88562-75A7-38AE-1933-EAADC84F3518}"/>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DBCB333A-F578-1B86-F22E-6CB3BFA23364}"/>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4F035A96-6841-C346-D7C7-4838097DF5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358009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51A85-0EDB-7428-B104-3B44F3A717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6952F-3DCB-A491-27A2-BA082A30CB73}"/>
              </a:ext>
            </a:extLst>
          </p:cNvPr>
          <p:cNvSpPr>
            <a:spLocks noGrp="1"/>
          </p:cNvSpPr>
          <p:nvPr>
            <p:ph type="title"/>
          </p:nvPr>
        </p:nvSpPr>
        <p:spPr/>
        <p:txBody>
          <a:bodyPr/>
          <a:lstStyle/>
          <a:p>
            <a:r>
              <a:rPr lang="en-US" dirty="0"/>
              <a:t>Demonstrative example</a:t>
            </a:r>
          </a:p>
        </p:txBody>
      </p:sp>
      <p:sp>
        <p:nvSpPr>
          <p:cNvPr id="3" name="Content Placeholder 2">
            <a:extLst>
              <a:ext uri="{FF2B5EF4-FFF2-40B4-BE49-F238E27FC236}">
                <a16:creationId xmlns:a16="http://schemas.microsoft.com/office/drawing/2014/main" id="{E06AD1FA-B184-0F18-65C4-6B9A3CC400F5}"/>
              </a:ext>
            </a:extLst>
          </p:cNvPr>
          <p:cNvSpPr>
            <a:spLocks noGrp="1"/>
          </p:cNvSpPr>
          <p:nvPr>
            <p:ph idx="1"/>
          </p:nvPr>
        </p:nvSpPr>
        <p:spPr/>
        <p:txBody>
          <a:bodyPr>
            <a:normAutofit fontScale="70000" lnSpcReduction="20000"/>
          </a:bodyPr>
          <a:lstStyle/>
          <a:p>
            <a:r>
              <a:rPr lang="en-US" dirty="0"/>
              <a:t>Introductory text – </a:t>
            </a:r>
            <a:r>
              <a:rPr lang="en-US" dirty="0">
                <a:solidFill>
                  <a:srgbClr val="FF0000"/>
                </a:solidFill>
              </a:rPr>
              <a:t>&lt;&gt;</a:t>
            </a:r>
          </a:p>
          <a:p>
            <a:endParaRPr lang="en-US" dirty="0">
              <a:solidFill>
                <a:srgbClr val="FF0000"/>
              </a:solidFill>
            </a:endParaRPr>
          </a:p>
          <a:p>
            <a:r>
              <a:rPr lang="en-US" dirty="0"/>
              <a:t>“Bad” code – </a:t>
            </a:r>
            <a:r>
              <a:rPr lang="en-US" dirty="0">
                <a:solidFill>
                  <a:srgbClr val="FF0000"/>
                </a:solidFill>
              </a:rPr>
              <a:t>&lt;The product uses a tokenizer that does not restrict which token IDs are produced. It processes a file and translates it </a:t>
            </a:r>
            <a:r>
              <a:rPr lang="en-US">
                <a:solidFill>
                  <a:srgbClr val="FF0000"/>
                </a:solidFill>
              </a:rPr>
              <a:t>“faithfully”&gt;</a:t>
            </a:r>
            <a:endParaRPr lang="en-US" dirty="0">
              <a:solidFill>
                <a:srgbClr val="FF0000"/>
              </a:solidFill>
            </a:endParaRP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solidFill>
                <a:srgbClr val="FF0000"/>
              </a:solidFill>
            </a:endParaRPr>
          </a:p>
          <a:p>
            <a:r>
              <a:rPr lang="en-US" dirty="0">
                <a:solidFill>
                  <a:srgbClr val="FF0000"/>
                </a:solidFill>
              </a:rPr>
              <a:t>Example from Garak: </a:t>
            </a:r>
            <a:r>
              <a:rPr lang="en-US" dirty="0">
                <a:solidFill>
                  <a:srgbClr val="FF0000"/>
                </a:solidFill>
                <a:hlinkClick r:id="rId2"/>
              </a:rPr>
              <a:t>https://github.com/NVIDIA/garak/blob/main/garak/probes/ansiescape.py</a:t>
            </a:r>
            <a:endParaRPr lang="en-US" dirty="0">
              <a:solidFill>
                <a:srgbClr val="FF0000"/>
              </a:solidFill>
            </a:endParaRPr>
          </a:p>
          <a:p>
            <a:r>
              <a:rPr lang="en-US" dirty="0">
                <a:solidFill>
                  <a:srgbClr val="FF0000"/>
                </a:solidFill>
              </a:rPr>
              <a:t>Single-token is easier to exploit than multiple-token</a:t>
            </a:r>
          </a:p>
          <a:p>
            <a:r>
              <a:rPr lang="en-US" dirty="0">
                <a:solidFill>
                  <a:srgbClr val="FF0000"/>
                </a:solidFill>
              </a:rPr>
              <a:t>Interacting with the model on the CLI </a:t>
            </a:r>
            <a:r>
              <a:rPr lang="en-US" dirty="0">
                <a:solidFill>
                  <a:srgbClr val="FF0000"/>
                </a:solidFill>
                <a:hlinkClick r:id="rId3"/>
              </a:rPr>
              <a:t>https://interhumanagreement.substack.com/p/llm-output-can-take-over-your-computer</a:t>
            </a:r>
            <a:endParaRPr lang="en-US" dirty="0">
              <a:solidFill>
                <a:srgbClr val="FF0000"/>
              </a:solidFill>
            </a:endParaRPr>
          </a:p>
          <a:p>
            <a:r>
              <a:rPr lang="en-US" dirty="0">
                <a:solidFill>
                  <a:srgbClr val="FF0000"/>
                </a:solidFill>
              </a:rPr>
              <a:t>Stok’s talk (about 40 minutes in): get the sequences into the LLM, when code editor analyzes the code; logs shown in the terminal https://www.youtube.com/watch?v=3T2Al3jdY38</a:t>
            </a:r>
          </a:p>
          <a:p>
            <a:endParaRPr lang="en-US" dirty="0"/>
          </a:p>
        </p:txBody>
      </p:sp>
      <p:sp>
        <p:nvSpPr>
          <p:cNvPr id="4" name="Slide Number Placeholder 3">
            <a:extLst>
              <a:ext uri="{FF2B5EF4-FFF2-40B4-BE49-F238E27FC236}">
                <a16:creationId xmlns:a16="http://schemas.microsoft.com/office/drawing/2014/main" id="{8DBB2140-CB48-7FA6-B2C7-6166F62F1FC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32589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AF83D-F8B7-C3EC-BC17-48E05680A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A4C22-94B6-4087-72C4-7C2E4FF5ADF3}"/>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E2B4EC18-CC30-75C1-6492-40B20171611B}"/>
              </a:ext>
            </a:extLst>
          </p:cNvPr>
          <p:cNvSpPr>
            <a:spLocks noGrp="1"/>
          </p:cNvSpPr>
          <p:nvPr>
            <p:ph idx="1"/>
          </p:nvPr>
        </p:nvSpPr>
        <p:spPr/>
        <p:txBody>
          <a:bodyPr>
            <a:normAutofit fontScale="92500" lnSpcReduction="20000"/>
          </a:bodyPr>
          <a:lstStyle/>
          <a:p>
            <a:r>
              <a:rPr lang="en-US" sz="16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600" u="sng" dirty="0"/>
              <a:t>Values for Effectiveness</a:t>
            </a:r>
            <a:r>
              <a:rPr lang="en-US" sz="1400" dirty="0"/>
              <a:t>: </a:t>
            </a:r>
            <a:r>
              <a:rPr lang="en-US" sz="1400" b="0" dirty="0"/>
              <a:t>High, Moderate, Limited, Incidental, Discouraged Common Practice, Defense in Depth, None</a:t>
            </a:r>
          </a:p>
          <a:p>
            <a:endParaRPr lang="en-US" sz="1600" dirty="0"/>
          </a:p>
          <a:p>
            <a:r>
              <a:rPr lang="en-US" sz="1600" dirty="0"/>
              <a:t>Mitigation 1</a:t>
            </a:r>
          </a:p>
          <a:p>
            <a:pPr lvl="1"/>
            <a:r>
              <a:rPr lang="en-US" sz="1600" dirty="0"/>
              <a:t>SDLC phase: </a:t>
            </a:r>
            <a:r>
              <a:rPr lang="en-US" sz="1600" dirty="0">
                <a:solidFill>
                  <a:srgbClr val="FF0000"/>
                </a:solidFill>
              </a:rPr>
              <a:t>&lt;build/compilation – when training your tokenizer&gt;</a:t>
            </a:r>
            <a:endParaRPr lang="en-US" sz="1600" dirty="0"/>
          </a:p>
          <a:p>
            <a:pPr lvl="1"/>
            <a:r>
              <a:rPr lang="en-US" sz="1600" dirty="0"/>
              <a:t>Name/brief desc: </a:t>
            </a:r>
            <a:r>
              <a:rPr lang="en-US" sz="1600" dirty="0">
                <a:solidFill>
                  <a:srgbClr val="FF0000"/>
                </a:solidFill>
              </a:rPr>
              <a:t>&lt;remove escape codes from the tokenizer’s vocabulary (remove the map from the string to its token ID)&gt; </a:t>
            </a:r>
          </a:p>
          <a:p>
            <a:pPr lvl="1"/>
            <a:r>
              <a:rPr lang="en-US" sz="1600" dirty="0"/>
              <a:t>Effectiveness: </a:t>
            </a:r>
            <a:r>
              <a:rPr lang="en-US" sz="1600" dirty="0">
                <a:solidFill>
                  <a:srgbClr val="FF0000"/>
                </a:solidFill>
              </a:rPr>
              <a:t>&lt;limited – could still get multiple tokens strung together that form the escape code, but would take more effort&gt;</a:t>
            </a:r>
            <a:endParaRPr lang="en-US" sz="1600" dirty="0"/>
          </a:p>
          <a:p>
            <a:r>
              <a:rPr lang="en-US" sz="1600" dirty="0"/>
              <a:t>Mitigation 2</a:t>
            </a:r>
          </a:p>
          <a:p>
            <a:pPr lvl="1"/>
            <a:r>
              <a:rPr lang="en-US" sz="1600" dirty="0"/>
              <a:t>SDLC phase: </a:t>
            </a:r>
            <a:r>
              <a:rPr lang="en-US" sz="1600" dirty="0">
                <a:solidFill>
                  <a:srgbClr val="FF0000"/>
                </a:solidFill>
              </a:rPr>
              <a:t>&lt;Operation&gt; </a:t>
            </a:r>
            <a:endParaRPr lang="en-US" sz="1600" dirty="0"/>
          </a:p>
          <a:p>
            <a:pPr lvl="1"/>
            <a:r>
              <a:rPr lang="en-US" sz="1600" dirty="0"/>
              <a:t>Name/brief desc: </a:t>
            </a:r>
            <a:r>
              <a:rPr lang="en-US" sz="1600" dirty="0">
                <a:solidFill>
                  <a:srgbClr val="FF0000"/>
                </a:solidFill>
              </a:rPr>
              <a:t>&lt;examine the LLM output – neutralize / strip tokens before moving the output e.g. redirecting to the terminal&gt;</a:t>
            </a:r>
          </a:p>
          <a:p>
            <a:pPr lvl="1"/>
            <a:r>
              <a:rPr lang="en-US" sz="1600" dirty="0"/>
              <a:t>Effectiveness:</a:t>
            </a:r>
            <a:r>
              <a:rPr lang="en-US" sz="1600" dirty="0">
                <a:solidFill>
                  <a:srgbClr val="FF0000"/>
                </a:solidFill>
              </a:rPr>
              <a:t>&lt;High&gt;</a:t>
            </a:r>
            <a:endParaRPr lang="en-US" sz="1600" dirty="0"/>
          </a:p>
          <a:p>
            <a:r>
              <a:rPr lang="en-US" sz="1600" dirty="0"/>
              <a:t>Mitigation 3</a:t>
            </a:r>
          </a:p>
          <a:p>
            <a:pPr lvl="1"/>
            <a:r>
              <a:rPr lang="en-US" sz="1600" dirty="0"/>
              <a:t>SDLC phase: </a:t>
            </a:r>
            <a:r>
              <a:rPr lang="en-US" sz="1600" dirty="0">
                <a:solidFill>
                  <a:srgbClr val="FF0000"/>
                </a:solidFill>
              </a:rPr>
              <a:t>&lt;fill in here&gt; </a:t>
            </a:r>
            <a:endParaRPr lang="en-US" sz="1600" dirty="0"/>
          </a:p>
          <a:p>
            <a:pPr lvl="1"/>
            <a:r>
              <a:rPr lang="en-US" sz="1600" dirty="0"/>
              <a:t>Name/brief desc: </a:t>
            </a:r>
            <a:r>
              <a:rPr lang="en-US" sz="1600" dirty="0">
                <a:solidFill>
                  <a:srgbClr val="FF0000"/>
                </a:solidFill>
              </a:rPr>
              <a:t>&lt;fill in here&gt;</a:t>
            </a:r>
          </a:p>
          <a:p>
            <a:pPr lvl="1"/>
            <a:r>
              <a:rPr lang="en-US" sz="1600" dirty="0"/>
              <a:t>Effectiveness:</a:t>
            </a:r>
            <a:r>
              <a:rPr lang="en-US" sz="1600" dirty="0">
                <a:solidFill>
                  <a:srgbClr val="FF0000"/>
                </a:solidFill>
              </a:rPr>
              <a:t>&lt;fill in here&gt;</a:t>
            </a:r>
            <a:endParaRPr lang="en-US" sz="1600" dirty="0"/>
          </a:p>
        </p:txBody>
      </p:sp>
      <p:sp>
        <p:nvSpPr>
          <p:cNvPr id="4" name="Slide Number Placeholder 3">
            <a:extLst>
              <a:ext uri="{FF2B5EF4-FFF2-40B4-BE49-F238E27FC236}">
                <a16:creationId xmlns:a16="http://schemas.microsoft.com/office/drawing/2014/main" id="{8E179756-F16F-1D22-D5C9-B2CD9CDCB67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227252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A682D-CD9D-9495-B4CF-CD938F838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0C699-ED19-FFC3-1BAA-6D4FB87856D8}"/>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7B757818-3D6A-062C-D8CC-900952029B29}"/>
              </a:ext>
            </a:extLst>
          </p:cNvPr>
          <p:cNvSpPr>
            <a:spLocks noGrp="1"/>
          </p:cNvSpPr>
          <p:nvPr>
            <p:ph idx="1"/>
          </p:nvPr>
        </p:nvSpPr>
        <p:spPr/>
        <p:txBody>
          <a:bodyPr>
            <a:normAutofit lnSpcReduction="1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&lt;Build and compilation&gt;</a:t>
            </a:r>
          </a:p>
          <a:p>
            <a:pPr lvl="1"/>
            <a:r>
              <a:rPr lang="en-US" dirty="0"/>
              <a:t>Notes: </a:t>
            </a:r>
            <a:r>
              <a:rPr lang="en-US" dirty="0">
                <a:solidFill>
                  <a:srgbClr val="FF0000"/>
                </a:solidFill>
              </a:rPr>
              <a:t>&lt;during training, individual escape sequences are assigned individual token IDs&gt;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F875F300-4277-7A5B-CB44-6DF54FCDC03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181152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5E8A8-7ED0-8D51-6CA9-AEE695A2B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DFF55-48CB-DC9D-652B-2BE6DA0C2242}"/>
              </a:ext>
            </a:extLst>
          </p:cNvPr>
          <p:cNvSpPr>
            <a:spLocks noGrp="1"/>
          </p:cNvSpPr>
          <p:nvPr>
            <p:ph type="ctrTitle" sz="quarter"/>
          </p:nvPr>
        </p:nvSpPr>
        <p:spPr/>
        <p:txBody>
          <a:bodyPr/>
          <a:lstStyle/>
          <a:p>
            <a:r>
              <a:rPr lang="en-US" dirty="0"/>
              <a:t>Improper Neutralization of Reserved Special Tokens in AI Instruction Streams</a:t>
            </a:r>
          </a:p>
        </p:txBody>
      </p:sp>
      <p:sp>
        <p:nvSpPr>
          <p:cNvPr id="3" name="Slide Number Placeholder 2">
            <a:extLst>
              <a:ext uri="{FF2B5EF4-FFF2-40B4-BE49-F238E27FC236}">
                <a16:creationId xmlns:a16="http://schemas.microsoft.com/office/drawing/2014/main" id="{76BE6D83-712B-0871-A899-C52BD855EDB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528646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96A76-947B-D15B-1888-F5E0559458AB}"/>
              </a:ext>
            </a:extLst>
          </p:cNvPr>
          <p:cNvSpPr>
            <a:spLocks noGrp="1"/>
          </p:cNvSpPr>
          <p:nvPr>
            <p:ph type="title"/>
          </p:nvPr>
        </p:nvSpPr>
        <p:spPr/>
        <p:txBody>
          <a:bodyPr/>
          <a:lstStyle/>
          <a:p>
            <a:r>
              <a:rPr lang="en-US" dirty="0"/>
              <a:t>Improper Neutralization of Reserved Special Tokens in AI Instruction Streams (Robert Shala, Sentry)</a:t>
            </a:r>
          </a:p>
        </p:txBody>
      </p:sp>
      <p:sp>
        <p:nvSpPr>
          <p:cNvPr id="3" name="Content Placeholder 2">
            <a:extLst>
              <a:ext uri="{FF2B5EF4-FFF2-40B4-BE49-F238E27FC236}">
                <a16:creationId xmlns:a16="http://schemas.microsoft.com/office/drawing/2014/main" id="{2CA34114-7877-064E-C4FE-02FAA389093D}"/>
              </a:ext>
            </a:extLst>
          </p:cNvPr>
          <p:cNvSpPr>
            <a:spLocks noGrp="1"/>
          </p:cNvSpPr>
          <p:nvPr>
            <p:ph idx="1"/>
          </p:nvPr>
        </p:nvSpPr>
        <p:spPr/>
        <p:txBody>
          <a:bodyPr/>
          <a:lstStyle/>
          <a:p>
            <a:r>
              <a:rPr lang="en-US" dirty="0"/>
              <a:t>ID: ES2512-1cc397f8 / CDR #173 </a:t>
            </a:r>
          </a:p>
          <a:p>
            <a:r>
              <a:rPr lang="en-US" dirty="0"/>
              <a:t>Submitted: December 11, 2025</a:t>
            </a:r>
          </a:p>
          <a:p>
            <a:r>
              <a:rPr lang="en-US" dirty="0"/>
              <a:t>Phase: Initial-Review (later today)</a:t>
            </a:r>
          </a:p>
          <a:p>
            <a:r>
              <a:rPr lang="en-US" dirty="0"/>
              <a:t>Description</a:t>
            </a:r>
          </a:p>
          <a:p>
            <a:pPr lvl="1"/>
            <a:r>
              <a:rPr lang="en-US" sz="1600" dirty="0"/>
              <a:t>Special Token Injection occurs when an AI system fails to neutralize or  correctly handle reserved special tokens (e.g., role delimiters, tool-invocation markers, BOS/EOS tokens, or other non-semantic control symbols) embedded in user-controlled input. Modern AI model pipelines treat these tokens as special instructions, not content. When an attacker introduces input that the tokenizer resolves into such control tokens, the downstream LLM model interprets them as control directives.</a:t>
            </a:r>
          </a:p>
          <a:p>
            <a:pPr lvl="1"/>
            <a:r>
              <a:rPr lang="en-US" sz="1600" dirty="0"/>
              <a:t>Developers may assume that special tokens cannot be introduced from user input because they are "internal" artifacts of the model architecture. However, in practice, these tokens can be injected directly via user input, indirectly (ex. supply chain), or self-injected via tool invocation (ex. multi-agent system). If not explicitly filtered, escaped, or validated at every inference layer, the system may misinterpret such input as control directives.</a:t>
            </a:r>
            <a:endParaRPr lang="en-US" dirty="0"/>
          </a:p>
          <a:p>
            <a:r>
              <a:rPr lang="en-US" dirty="0"/>
              <a:t>https://github.com/CWE-CAPEC/CWE-Content-Development-Repository/issues/173</a:t>
            </a:r>
          </a:p>
          <a:p>
            <a:endParaRPr lang="en-US" dirty="0"/>
          </a:p>
        </p:txBody>
      </p:sp>
      <p:sp>
        <p:nvSpPr>
          <p:cNvPr id="4" name="Slide Number Placeholder 3">
            <a:extLst>
              <a:ext uri="{FF2B5EF4-FFF2-40B4-BE49-F238E27FC236}">
                <a16:creationId xmlns:a16="http://schemas.microsoft.com/office/drawing/2014/main" id="{F546A969-1929-DA95-C7DB-B8EBC6364C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403250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B872A-F2D8-83F1-537C-67860D4D17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ABD3B7-0ABD-F98A-5CF9-13E935B0418C}"/>
              </a:ext>
            </a:extLst>
          </p:cNvPr>
          <p:cNvSpPr>
            <a:spLocks noGrp="1"/>
          </p:cNvSpPr>
          <p:nvPr>
            <p:ph type="ctrTitle" sz="quarter"/>
          </p:nvPr>
        </p:nvSpPr>
        <p:spPr/>
        <p:txBody>
          <a:bodyPr/>
          <a:lstStyle/>
          <a:p>
            <a:r>
              <a:rPr lang="en-US" dirty="0"/>
              <a:t>Unstable Internal Model Representations Triggered by Valid Token Sequences </a:t>
            </a:r>
          </a:p>
        </p:txBody>
      </p:sp>
      <p:sp>
        <p:nvSpPr>
          <p:cNvPr id="3" name="Slide Number Placeholder 2">
            <a:extLst>
              <a:ext uri="{FF2B5EF4-FFF2-40B4-BE49-F238E27FC236}">
                <a16:creationId xmlns:a16="http://schemas.microsoft.com/office/drawing/2014/main" id="{1E6E25E9-E983-2178-04B9-DA7DD68DBFB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681959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BCB02-60ED-36B8-601D-658CDE4CA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7C6264-7D40-69A7-DCD3-C71C59EA45C3}"/>
              </a:ext>
            </a:extLst>
          </p:cNvPr>
          <p:cNvSpPr>
            <a:spLocks noGrp="1"/>
          </p:cNvSpPr>
          <p:nvPr>
            <p:ph type="title"/>
          </p:nvPr>
        </p:nvSpPr>
        <p:spPr/>
        <p:txBody>
          <a:bodyPr/>
          <a:lstStyle/>
          <a:p>
            <a:r>
              <a:rPr lang="en-US" sz="2800" dirty="0"/>
              <a:t>Unstable Internal Model Representations Triggered by Valid Token Sequences (Kurt Seifried, Cloud Security Alliance)</a:t>
            </a:r>
          </a:p>
        </p:txBody>
      </p:sp>
      <p:sp>
        <p:nvSpPr>
          <p:cNvPr id="3" name="Content Placeholder 2">
            <a:extLst>
              <a:ext uri="{FF2B5EF4-FFF2-40B4-BE49-F238E27FC236}">
                <a16:creationId xmlns:a16="http://schemas.microsoft.com/office/drawing/2014/main" id="{4785CA13-91AF-86F1-ADE1-60543ED16AFF}"/>
              </a:ext>
            </a:extLst>
          </p:cNvPr>
          <p:cNvSpPr>
            <a:spLocks noGrp="1"/>
          </p:cNvSpPr>
          <p:nvPr>
            <p:ph idx="1"/>
          </p:nvPr>
        </p:nvSpPr>
        <p:spPr/>
        <p:txBody>
          <a:bodyPr/>
          <a:lstStyle/>
          <a:p>
            <a:r>
              <a:rPr lang="en-US" dirty="0"/>
              <a:t>ID: ES2601-eb7223b4 / CDR #179 </a:t>
            </a:r>
          </a:p>
          <a:p>
            <a:r>
              <a:rPr lang="en-US" dirty="0"/>
              <a:t>Submitted: January 20, 2026</a:t>
            </a:r>
          </a:p>
          <a:p>
            <a:r>
              <a:rPr lang="en-US" dirty="0"/>
              <a:t>Phase: Initial-Review (later today)</a:t>
            </a:r>
          </a:p>
          <a:p>
            <a:r>
              <a:rPr lang="en-US" dirty="0"/>
              <a:t>Description</a:t>
            </a:r>
          </a:p>
          <a:p>
            <a:pPr lvl="1"/>
            <a:r>
              <a:rPr lang="en-US" sz="1600" dirty="0"/>
              <a:t>This weakness occurs when an AI system fails to ensure the stability and coherence of its internal model representations when processing valid input token sequences. Certain token patterns, while syntactically valid and intentionally accepted by the system, can induce degenerate, weakly constrained, or unstable internal states that the system was not designed to handle safely.</a:t>
            </a:r>
          </a:p>
          <a:p>
            <a:pPr lvl="1"/>
            <a:r>
              <a:rPr lang="en-US" sz="1600" dirty="0"/>
              <a:t>In many AI systems, input text is transformed by a tokenizer into discrete tokens that are then mapped into internal representations used by the model during inference. These representations are assumed to behave consistently across the valid input space. However, when this assumption does not hold, specific token sequences can trigger internal behaviors that violate downstream expectations about inference cost, output structure, or control flow.</a:t>
            </a:r>
            <a:endParaRPr lang="en-US" dirty="0"/>
          </a:p>
          <a:p>
            <a:r>
              <a:rPr lang="en-US" dirty="0"/>
              <a:t>https://github.com/CWE-CAPEC/CWE-Content-Development-Repository/issues/179</a:t>
            </a:r>
          </a:p>
          <a:p>
            <a:endParaRPr lang="en-US" dirty="0"/>
          </a:p>
        </p:txBody>
      </p:sp>
      <p:sp>
        <p:nvSpPr>
          <p:cNvPr id="4" name="Slide Number Placeholder 3">
            <a:extLst>
              <a:ext uri="{FF2B5EF4-FFF2-40B4-BE49-F238E27FC236}">
                <a16:creationId xmlns:a16="http://schemas.microsoft.com/office/drawing/2014/main" id="{28D8F2F8-0B9E-E92A-26FB-2196BA12626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50086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A6855-AC72-A8B1-6757-F4CE07D68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A667A-E9C7-1ABF-7BB3-DC534118882F}"/>
              </a:ext>
            </a:extLst>
          </p:cNvPr>
          <p:cNvSpPr>
            <a:spLocks noGrp="1"/>
          </p:cNvSpPr>
          <p:nvPr>
            <p:ph type="ctrTitle" sz="quarter"/>
          </p:nvPr>
        </p:nvSpPr>
        <p:spPr/>
        <p:txBody>
          <a:bodyPr/>
          <a:lstStyle/>
          <a:p>
            <a:r>
              <a:rPr lang="en-US" dirty="0"/>
              <a:t>Cross-Model Scripting (XMS)</a:t>
            </a:r>
          </a:p>
        </p:txBody>
      </p:sp>
      <p:sp>
        <p:nvSpPr>
          <p:cNvPr id="3" name="Slide Number Placeholder 2">
            <a:extLst>
              <a:ext uri="{FF2B5EF4-FFF2-40B4-BE49-F238E27FC236}">
                <a16:creationId xmlns:a16="http://schemas.microsoft.com/office/drawing/2014/main" id="{B0E2B729-94B7-E6F3-7985-F16A3409E7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8077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52894-EC87-12D8-C53A-738C289576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E9162-D772-F02B-6EDD-EE22236162FE}"/>
              </a:ext>
            </a:extLst>
          </p:cNvPr>
          <p:cNvSpPr>
            <a:spLocks noGrp="1"/>
          </p:cNvSpPr>
          <p:nvPr>
            <p:ph type="title"/>
          </p:nvPr>
        </p:nvSpPr>
        <p:spPr/>
        <p:txBody>
          <a:bodyPr/>
          <a:lstStyle/>
          <a:p>
            <a:r>
              <a:rPr lang="en-US" sz="2800" dirty="0"/>
              <a:t>“Cross-Model Scripting (XMS)” (Felipe Caldas) </a:t>
            </a:r>
          </a:p>
        </p:txBody>
      </p:sp>
      <p:sp>
        <p:nvSpPr>
          <p:cNvPr id="3" name="Content Placeholder 2">
            <a:extLst>
              <a:ext uri="{FF2B5EF4-FFF2-40B4-BE49-F238E27FC236}">
                <a16:creationId xmlns:a16="http://schemas.microsoft.com/office/drawing/2014/main" id="{77601EE4-A306-6825-7FC9-11FE1BB67CA7}"/>
              </a:ext>
            </a:extLst>
          </p:cNvPr>
          <p:cNvSpPr>
            <a:spLocks noGrp="1"/>
          </p:cNvSpPr>
          <p:nvPr>
            <p:ph idx="1"/>
          </p:nvPr>
        </p:nvSpPr>
        <p:spPr/>
        <p:txBody>
          <a:bodyPr/>
          <a:lstStyle/>
          <a:p>
            <a:r>
              <a:rPr lang="en-US" dirty="0"/>
              <a:t>ID: ES2602-82fddd0e / CDR #180</a:t>
            </a:r>
          </a:p>
          <a:p>
            <a:r>
              <a:rPr lang="en-US" dirty="0"/>
              <a:t>Submitted: February 6, 2026</a:t>
            </a:r>
          </a:p>
          <a:p>
            <a:r>
              <a:rPr lang="en-US" dirty="0"/>
              <a:t>Phase: Initial-Review (later today)</a:t>
            </a:r>
          </a:p>
          <a:p>
            <a:r>
              <a:rPr lang="en-US" dirty="0"/>
              <a:t>Description</a:t>
            </a:r>
          </a:p>
          <a:p>
            <a:pPr lvl="1"/>
            <a:r>
              <a:rPr lang="en-US" sz="1600" dirty="0"/>
              <a:t>Cross-Model Scripting (XMS) is a model-mediated pathway to cross-site scripting (XSS) in AI-integrated web applications. XMS does not describe a new execution context. The resulting vulnerability remains a form of XSS (CWE-79), and script execution still occurs in the browser. What distinguishes XMS is the mechanism through which unsafe script content emerges.</a:t>
            </a:r>
          </a:p>
          <a:p>
            <a:pPr lvl="1"/>
            <a:r>
              <a:rPr lang="en-US" sz="1600" dirty="0"/>
              <a:t>In AI-integrated pipelines, however, a language model may introduce an intermediate transformation layer between validation and rendering. The model may rewrite, translate, normalize, or otherwise transform previously validated input. During this transformation, canonical representations of script constructs may be restored or generated. If the modelu2019s output is subsequently rendered without contextual encoding or post-transformation validation, injection risks may reappear. </a:t>
            </a:r>
          </a:p>
          <a:p>
            <a:r>
              <a:rPr lang="en-US" dirty="0"/>
              <a:t>https://github.com/CWE-CAPEC/CWE-Content-Development-Repository/issues/180</a:t>
            </a:r>
          </a:p>
          <a:p>
            <a:endParaRPr lang="en-US" dirty="0"/>
          </a:p>
        </p:txBody>
      </p:sp>
      <p:sp>
        <p:nvSpPr>
          <p:cNvPr id="4" name="Slide Number Placeholder 3">
            <a:extLst>
              <a:ext uri="{FF2B5EF4-FFF2-40B4-BE49-F238E27FC236}">
                <a16:creationId xmlns:a16="http://schemas.microsoft.com/office/drawing/2014/main" id="{D2636967-1DF2-15A1-DB3A-F42BCEE7035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425511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0600C-F910-06DD-F4C4-3CAE52999443}"/>
              </a:ext>
            </a:extLst>
          </p:cNvPr>
          <p:cNvSpPr>
            <a:spLocks noGrp="1"/>
          </p:cNvSpPr>
          <p:nvPr>
            <p:ph type="ctrTitle" sz="quarter"/>
          </p:nvPr>
        </p:nvSpPr>
        <p:spPr/>
        <p:txBody>
          <a:bodyPr/>
          <a:lstStyle/>
          <a:p>
            <a:r>
              <a:rPr lang="en-US" dirty="0"/>
              <a:t>Other Submissions</a:t>
            </a:r>
          </a:p>
        </p:txBody>
      </p:sp>
      <p:sp>
        <p:nvSpPr>
          <p:cNvPr id="3" name="Slide Number Placeholder 2">
            <a:extLst>
              <a:ext uri="{FF2B5EF4-FFF2-40B4-BE49-F238E27FC236}">
                <a16:creationId xmlns:a16="http://schemas.microsoft.com/office/drawing/2014/main" id="{43CFA481-8EE4-2B11-77D0-2C43B64C72B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577987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B4FA-A9BB-C560-287B-74DA157A1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E2E97-8808-E69A-32B7-0931DFAA5918}"/>
              </a:ext>
            </a:extLst>
          </p:cNvPr>
          <p:cNvSpPr>
            <a:spLocks noGrp="1"/>
          </p:cNvSpPr>
          <p:nvPr>
            <p:ph type="ctrTitle" sz="quarter"/>
          </p:nvPr>
        </p:nvSpPr>
        <p:spPr/>
        <p:txBody>
          <a:bodyPr/>
          <a:lstStyle/>
          <a:p>
            <a:r>
              <a:rPr lang="en-US" dirty="0"/>
              <a:t>Other Submissions</a:t>
            </a:r>
          </a:p>
        </p:txBody>
      </p:sp>
      <p:sp>
        <p:nvSpPr>
          <p:cNvPr id="3" name="Slide Number Placeholder 2">
            <a:extLst>
              <a:ext uri="{FF2B5EF4-FFF2-40B4-BE49-F238E27FC236}">
                <a16:creationId xmlns:a16="http://schemas.microsoft.com/office/drawing/2014/main" id="{5112242D-9694-CFF7-8AC1-9BE7B7D7D32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679305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a:t>
            </a:r>
            <a:r>
              <a:rPr lang="en-US" sz="2000" b="1" dirty="0">
                <a:highlight>
                  <a:srgbClr val="00FF00"/>
                </a:highlight>
              </a:rPr>
              <a:t>when an AI model processes inputs so that it systematically and unfairly discriminates against certain groups or individuals based on inherent biases in the training data, model design, or operational context</a:t>
            </a:r>
            <a:r>
              <a:rPr lang="en-US" sz="2000" dirty="0"/>
              <a:t>. These biases can manifest in various forms, including but not limited to gender, ethnicity, age, or socioeconomic status, leading to outcomes that perpetuate stereotypes, unfair treatment, or unequal access to benefits and services. The weakness is rooted in </a:t>
            </a:r>
            <a:r>
              <a:rPr lang="en-US" sz="2000" dirty="0">
                <a:highlight>
                  <a:srgbClr val="00FF00"/>
                </a:highlight>
              </a:rPr>
              <a:t>failing to adequately identify, mitigate, and monitor biases</a:t>
            </a:r>
            <a:r>
              <a:rPr lang="en-US" sz="2000" dirty="0"/>
              <a:t>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239374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93FEB-220F-9CA4-6FDE-3B12031512AE}"/>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E145E196-E3AE-64A4-8577-ADF22931F333}"/>
              </a:ext>
            </a:extLst>
          </p:cNvPr>
          <p:cNvSpPr>
            <a:spLocks noGrp="1"/>
          </p:cNvSpPr>
          <p:nvPr>
            <p:ph idx="1"/>
          </p:nvPr>
        </p:nvSpPr>
        <p:spPr/>
        <p:txBody>
          <a:bodyPr/>
          <a:lstStyle/>
          <a:p>
            <a:r>
              <a:rPr lang="en-US" sz="1800" dirty="0"/>
              <a:t>Are there any contexts where bias has security implications?</a:t>
            </a:r>
          </a:p>
          <a:p>
            <a:r>
              <a:rPr lang="en-US" sz="1800" dirty="0"/>
              <a:t>Is “bias” out of scope?</a:t>
            </a:r>
          </a:p>
          <a:p>
            <a:pPr lvl="1"/>
            <a:r>
              <a:rPr lang="en-US" sz="1800" dirty="0"/>
              <a:t>Biased model might not be “fit for purpose”</a:t>
            </a:r>
          </a:p>
          <a:p>
            <a:pPr lvl="1"/>
            <a:r>
              <a:rPr lang="en-US" sz="1800" dirty="0"/>
              <a:t>More of a “functional QA” issue than security issue</a:t>
            </a:r>
          </a:p>
          <a:p>
            <a:r>
              <a:rPr lang="en-US" sz="1800" dirty="0"/>
              <a:t>What mistakes allow attackers to introduce more bias?</a:t>
            </a:r>
          </a:p>
          <a:p>
            <a:pPr lvl="1"/>
            <a:r>
              <a:rPr lang="en-US" sz="1800" dirty="0"/>
              <a:t>Maybe more like “users not authorized to modify data”</a:t>
            </a:r>
          </a:p>
          <a:p>
            <a:pPr lvl="1"/>
            <a:r>
              <a:rPr lang="en-US" sz="1800" dirty="0"/>
              <a:t>Possibly characterized as a more general CWE</a:t>
            </a:r>
          </a:p>
          <a:p>
            <a:pPr lvl="1"/>
            <a:r>
              <a:rPr lang="en-US" sz="1800" dirty="0"/>
              <a:t>If a threat actor knows about bias, then they may be able to affect a certain population that’s handled by the product/service (e.g. electric)</a:t>
            </a:r>
          </a:p>
          <a:p>
            <a:pPr lvl="1"/>
            <a:r>
              <a:rPr lang="en-US" sz="1800" dirty="0"/>
              <a:t>Are we getting into data provenance / data drift territory here?</a:t>
            </a:r>
          </a:p>
          <a:p>
            <a:r>
              <a:rPr lang="en-US" sz="1800" dirty="0"/>
              <a:t>Is “ability to affect bias” an integrity issue? (therefore security)</a:t>
            </a:r>
          </a:p>
          <a:p>
            <a:r>
              <a:rPr lang="en-US" sz="1800" dirty="0"/>
              <a:t>How can CWE express opinions on “AI bias” and security, if it’s not captured in CWE entries?</a:t>
            </a:r>
          </a:p>
          <a:p>
            <a:pPr lvl="1"/>
            <a:r>
              <a:rPr lang="en-US" sz="1800" dirty="0"/>
              <a:t>Medium blog post</a:t>
            </a:r>
          </a:p>
          <a:p>
            <a:pPr lvl="1"/>
            <a:r>
              <a:rPr lang="en-US" sz="1800" dirty="0"/>
              <a:t>“white paper” on CWE web site</a:t>
            </a:r>
          </a:p>
          <a:p>
            <a:endParaRPr lang="en-US" sz="1800" dirty="0"/>
          </a:p>
        </p:txBody>
      </p:sp>
      <p:sp>
        <p:nvSpPr>
          <p:cNvPr id="4" name="Slide Number Placeholder 3">
            <a:extLst>
              <a:ext uri="{FF2B5EF4-FFF2-40B4-BE49-F238E27FC236}">
                <a16:creationId xmlns:a16="http://schemas.microsoft.com/office/drawing/2014/main" id="{685B1E84-270C-A81A-BF1C-D74950EA871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731168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AED3-64B9-9F4A-E07C-98DD48B94568}"/>
              </a:ext>
            </a:extLst>
          </p:cNvPr>
          <p:cNvSpPr>
            <a:spLocks noGrp="1"/>
          </p:cNvSpPr>
          <p:nvPr>
            <p:ph type="title"/>
          </p:nvPr>
        </p:nvSpPr>
        <p:spPr/>
        <p:txBody>
          <a:bodyPr/>
          <a:lstStyle/>
          <a:p>
            <a:r>
              <a:rPr lang="en-US"/>
              <a:t>“Improper Neutralization of Configurations Used for MCP Client” (</a:t>
            </a:r>
            <a:r>
              <a:rPr lang="en-US" err="1"/>
              <a:t>Xinpeng</a:t>
            </a:r>
            <a:r>
              <a:rPr lang="en-US"/>
              <a:t> Liu) ES2506-e3c78a2a </a:t>
            </a:r>
          </a:p>
        </p:txBody>
      </p:sp>
      <p:sp>
        <p:nvSpPr>
          <p:cNvPr id="3" name="Content Placeholder 2">
            <a:extLst>
              <a:ext uri="{FF2B5EF4-FFF2-40B4-BE49-F238E27FC236}">
                <a16:creationId xmlns:a16="http://schemas.microsoft.com/office/drawing/2014/main" id="{9CA0F585-8488-AE38-3828-8BF5511D450B}"/>
              </a:ext>
            </a:extLst>
          </p:cNvPr>
          <p:cNvSpPr>
            <a:spLocks noGrp="1"/>
          </p:cNvSpPr>
          <p:nvPr>
            <p:ph idx="1"/>
          </p:nvPr>
        </p:nvSpPr>
        <p:spPr/>
        <p:txBody>
          <a:bodyPr/>
          <a:lstStyle/>
          <a:p>
            <a:r>
              <a:rPr lang="en-US" sz="1400"/>
              <a:t>Name: Improper Neutralization of Configurations Used for MCP Client</a:t>
            </a:r>
          </a:p>
          <a:p>
            <a:r>
              <a:rPr lang="en-US" sz="1400"/>
              <a:t>Description:</a:t>
            </a:r>
          </a:p>
          <a:p>
            <a:pPr lvl="1"/>
            <a:r>
              <a:rPr lang="en-US" sz="1400"/>
              <a:t>The product </a:t>
            </a:r>
            <a:r>
              <a:rPr lang="en-US" sz="1400" b="1">
                <a:highlight>
                  <a:srgbClr val="00FF00"/>
                </a:highlight>
              </a:rPr>
              <a:t>utilizes an AI Agent to generate or modify configuration files within the MCP Client</a:t>
            </a:r>
            <a:r>
              <a:rPr lang="en-US" sz="1400"/>
              <a:t>, based on input provided by the MCP Server or prompt that has not been strictly reviewed by the user (e.g. a GitHub repo link or technical blog link containing the modified "vibe-coding" guidance). However, the MCP Client </a:t>
            </a:r>
            <a:r>
              <a:rPr lang="en-US" sz="1400" b="1">
                <a:highlight>
                  <a:srgbClr val="00FF00"/>
                </a:highlight>
              </a:rPr>
              <a:t>does not properly neutralize special elements when executing the server start command in configuration files, which allows attackers to inject malicious operating system commands</a:t>
            </a:r>
            <a:r>
              <a:rPr lang="en-US" sz="1400"/>
              <a:t>. These commands are executed by the system when an arbitrary MCP Server is started, without disrupting the normal server connection, thereby remaining imperceptible to the user.</a:t>
            </a:r>
          </a:p>
          <a:p>
            <a:r>
              <a:rPr lang="en-US" sz="1400"/>
              <a:t>Submitter states this is distinct from CWE-77 (command injection) or CWE-1427 (prompt injection)</a:t>
            </a:r>
          </a:p>
          <a:p>
            <a:r>
              <a:rPr lang="en-US" sz="1400"/>
              <a:t>OS Command Injection is CWE-78</a:t>
            </a:r>
          </a:p>
          <a:p>
            <a:r>
              <a:rPr lang="en-US" sz="1400"/>
              <a:t>Consider: CWE-1426: Improper Validation of Generative AI Output</a:t>
            </a:r>
          </a:p>
          <a:p>
            <a:r>
              <a:rPr lang="en-US" sz="1400"/>
              <a:t>Low-level and very “vulnerability topology” specific – not clear it deserves its own CWE</a:t>
            </a:r>
          </a:p>
          <a:p>
            <a:r>
              <a:rPr lang="en-US" sz="1400"/>
              <a:t>… but MCP is all the rage, so there should be some recognizable CWE coverage</a:t>
            </a:r>
          </a:p>
          <a:p>
            <a:r>
              <a:rPr lang="en-US" sz="1400">
                <a:hlinkClick r:id="rId2"/>
              </a:rPr>
              <a:t>https://github.com/CWE-CAPEC/CWE-Content-Development-Repository/issues/158</a:t>
            </a:r>
            <a:endParaRPr lang="en-US" sz="1400"/>
          </a:p>
          <a:p>
            <a:r>
              <a:rPr lang="en-US" sz="1400"/>
              <a:t>https://github.com/CWE-CAPEC/CWE-Content-Development-Repository/blob/main/submissions/ES2506-e3c78a2a-new-improper-neutralization-configurations-used-mcp-client.txt</a:t>
            </a:r>
          </a:p>
        </p:txBody>
      </p:sp>
      <p:sp>
        <p:nvSpPr>
          <p:cNvPr id="4" name="Slide Number Placeholder 3">
            <a:extLst>
              <a:ext uri="{FF2B5EF4-FFF2-40B4-BE49-F238E27FC236}">
                <a16:creationId xmlns:a16="http://schemas.microsoft.com/office/drawing/2014/main" id="{BDDB89B3-A43B-E35D-5853-3F42E429AF9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518934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CF172-E2A3-6D2F-4294-C5E37951695E}"/>
              </a:ext>
            </a:extLst>
          </p:cNvPr>
          <p:cNvSpPr>
            <a:spLocks noGrp="1"/>
          </p:cNvSpPr>
          <p:nvPr>
            <p:ph type="title"/>
          </p:nvPr>
        </p:nvSpPr>
        <p:spPr/>
        <p:txBody>
          <a:bodyPr/>
          <a:lstStyle/>
          <a:p>
            <a:r>
              <a:rPr lang="en-US"/>
              <a:t>New: “Improper Neutralization of Retrieved Content Used in AI Prompt Construction in AI/ML Systems” (Mehmet Yilmaz)</a:t>
            </a:r>
            <a:br>
              <a:rPr lang="en-US"/>
            </a:br>
            <a:endParaRPr lang="en-US"/>
          </a:p>
        </p:txBody>
      </p:sp>
      <p:sp>
        <p:nvSpPr>
          <p:cNvPr id="3" name="Content Placeholder 2">
            <a:extLst>
              <a:ext uri="{FF2B5EF4-FFF2-40B4-BE49-F238E27FC236}">
                <a16:creationId xmlns:a16="http://schemas.microsoft.com/office/drawing/2014/main" id="{BD2D8855-69B0-63EC-B138-745740AF05E0}"/>
              </a:ext>
            </a:extLst>
          </p:cNvPr>
          <p:cNvSpPr>
            <a:spLocks noGrp="1"/>
          </p:cNvSpPr>
          <p:nvPr>
            <p:ph idx="1"/>
          </p:nvPr>
        </p:nvSpPr>
        <p:spPr/>
        <p:txBody>
          <a:bodyPr/>
          <a:lstStyle/>
          <a:p>
            <a:r>
              <a:rPr lang="en-US" sz="2000"/>
              <a:t>ES2508-e15b0715 / CDR #161</a:t>
            </a:r>
          </a:p>
          <a:p>
            <a:r>
              <a:rPr lang="en-US" sz="2000"/>
              <a:t>Description</a:t>
            </a:r>
          </a:p>
          <a:p>
            <a:pPr lvl="1"/>
            <a:r>
              <a:rPr lang="en-US" sz="2000"/>
              <a:t>The system </a:t>
            </a:r>
            <a:r>
              <a:rPr lang="en-US" sz="2000" b="1">
                <a:highlight>
                  <a:srgbClr val="00FF00"/>
                </a:highlight>
              </a:rPr>
              <a:t>incorporates unvalidated or improperly sanitized input from external sources </a:t>
            </a:r>
            <a:r>
              <a:rPr lang="en-US" sz="2000"/>
              <a:t>(e.g., user queries, documents, URLs, or API responses) </a:t>
            </a:r>
            <a:r>
              <a:rPr lang="en-US" sz="2000" b="1">
                <a:highlight>
                  <a:srgbClr val="00FF00"/>
                </a:highlight>
              </a:rPr>
              <a:t>into prompts sent to large language models via Retrieval-Augmented Generation (RAG) workflows</a:t>
            </a:r>
            <a:r>
              <a:rPr lang="en-US" sz="2000"/>
              <a:t>. This can lead to prompt injection, data leakage, or model manipulation, potentially resulting in unauthorized behavior, exposure of sensitive data, or model misuse.</a:t>
            </a:r>
          </a:p>
          <a:p>
            <a:r>
              <a:rPr lang="en-US" sz="2000"/>
              <a:t>Extended Description</a:t>
            </a:r>
          </a:p>
          <a:p>
            <a:pPr lvl="1"/>
            <a:r>
              <a:rPr lang="en-US" sz="2000"/>
              <a:t>RAG systems retrieve context from a vector database or document corpus to supplement LLM prompts. If untrusted or </a:t>
            </a:r>
            <a:r>
              <a:rPr lang="en-US" sz="2000" err="1"/>
              <a:t>adversarially</a:t>
            </a:r>
            <a:r>
              <a:rPr lang="en-US" sz="2000"/>
              <a:t> crafted data is ingested or used without validation, it can embed malicious instructions, hallucinate false information, or coerce the model into unsafe actions. This creates a surface for prompt injection, impersonation, jailbreaks, and denial of service.</a:t>
            </a:r>
          </a:p>
          <a:p>
            <a:r>
              <a:rPr lang="en-US" sz="2000">
                <a:hlinkClick r:id="rId2"/>
              </a:rPr>
              <a:t>https://github.com/CWE-CAPEC/CWE-Content-Development-Repository/issues/161</a:t>
            </a:r>
            <a:endParaRPr lang="en-US" sz="2000"/>
          </a:p>
          <a:p>
            <a:endParaRPr lang="en-US" sz="2000"/>
          </a:p>
          <a:p>
            <a:pPr lvl="1"/>
            <a:endParaRPr lang="en-US" sz="2000"/>
          </a:p>
        </p:txBody>
      </p:sp>
      <p:sp>
        <p:nvSpPr>
          <p:cNvPr id="4" name="Slide Number Placeholder 3">
            <a:extLst>
              <a:ext uri="{FF2B5EF4-FFF2-40B4-BE49-F238E27FC236}">
                <a16:creationId xmlns:a16="http://schemas.microsoft.com/office/drawing/2014/main" id="{694A8AA6-6100-7C9B-CAFC-6DAD6819E8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608384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highlight>
                  <a:srgbClr val="FFFF00"/>
                </a:highlight>
              </a:rPr>
              <a:t>Significant overlap problems </a:t>
            </a:r>
            <a:r>
              <a:rPr lang="en-US" sz="2000"/>
              <a:t>(see “ACTIVE ISSUES” in submission file)</a:t>
            </a:r>
          </a:p>
          <a:p>
            <a:r>
              <a:rPr lang="en-US" sz="2000"/>
              <a:t>Proposal: decline this submission (the submitter won’t mind)</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733959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F5ACC-315C-0CE3-9A23-7D1C7F1DB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E3CB5-6C1C-1AF6-02C9-82B6B3B448FD}"/>
              </a:ext>
            </a:extLst>
          </p:cNvPr>
          <p:cNvSpPr>
            <a:spLocks noGrp="1"/>
          </p:cNvSpPr>
          <p:nvPr>
            <p:ph type="ctrTitle" sz="quarter"/>
          </p:nvPr>
        </p:nvSpPr>
        <p:spPr/>
        <p:txBody>
          <a:bodyPr/>
          <a:lstStyle/>
          <a:p>
            <a:r>
              <a:rPr lang="en-US"/>
              <a:t>Next Steps</a:t>
            </a:r>
          </a:p>
        </p:txBody>
      </p:sp>
      <p:sp>
        <p:nvSpPr>
          <p:cNvPr id="3" name="Slide Number Placeholder 2">
            <a:extLst>
              <a:ext uri="{FF2B5EF4-FFF2-40B4-BE49-F238E27FC236}">
                <a16:creationId xmlns:a16="http://schemas.microsoft.com/office/drawing/2014/main" id="{E6E441E8-4831-0908-3CD0-AD920C14017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09943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633AA-2C2D-8939-4026-D51EC14631B3}"/>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8754BE33-23EB-99D2-B3D5-31779558DDA6}"/>
              </a:ext>
            </a:extLst>
          </p:cNvPr>
          <p:cNvSpPr>
            <a:spLocks noGrp="1"/>
          </p:cNvSpPr>
          <p:nvPr>
            <p:ph idx="1"/>
          </p:nvPr>
        </p:nvSpPr>
        <p:spPr/>
        <p:txBody>
          <a:bodyPr/>
          <a:lstStyle/>
          <a:p>
            <a:r>
              <a:rPr lang="en-US" dirty="0"/>
              <a:t>Next Meetings</a:t>
            </a:r>
          </a:p>
          <a:p>
            <a:pPr lvl="1"/>
            <a:r>
              <a:rPr lang="en-US" dirty="0"/>
              <a:t>January 23 (Modifications)</a:t>
            </a:r>
          </a:p>
          <a:p>
            <a:pPr lvl="1"/>
            <a:r>
              <a:rPr lang="en-US" dirty="0"/>
              <a:t>February 6 (New Entries)</a:t>
            </a:r>
          </a:p>
          <a:p>
            <a:r>
              <a:rPr lang="en-US" dirty="0"/>
              <a:t>Decide on triage mechanisms</a:t>
            </a:r>
          </a:p>
          <a:p>
            <a:r>
              <a:rPr lang="en-US" dirty="0"/>
              <a:t>Consider discussion of some submissions in CDR</a:t>
            </a:r>
          </a:p>
          <a:p>
            <a:endParaRPr lang="en-US" dirty="0"/>
          </a:p>
        </p:txBody>
      </p:sp>
      <p:sp>
        <p:nvSpPr>
          <p:cNvPr id="4" name="Slide Number Placeholder 3">
            <a:extLst>
              <a:ext uri="{FF2B5EF4-FFF2-40B4-BE49-F238E27FC236}">
                <a16:creationId xmlns:a16="http://schemas.microsoft.com/office/drawing/2014/main" id="{61289C8C-1EDE-4F9B-30D2-7DB07A4AB0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292281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96B57-A56D-31FB-AC80-914A9ABE0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6E8D5-1660-CA57-6D3B-70493948D6D6}"/>
              </a:ext>
            </a:extLst>
          </p:cNvPr>
          <p:cNvSpPr>
            <a:spLocks noGrp="1"/>
          </p:cNvSpPr>
          <p:nvPr>
            <p:ph type="ctrTitle" sz="quarter"/>
          </p:nvPr>
        </p:nvSpPr>
        <p:spPr/>
        <p:txBody>
          <a:bodyPr/>
          <a:lstStyle/>
          <a:p>
            <a:r>
              <a:rPr lang="en-US"/>
              <a:t>Backup / Older Slides</a:t>
            </a:r>
          </a:p>
        </p:txBody>
      </p:sp>
      <p:sp>
        <p:nvSpPr>
          <p:cNvPr id="3" name="Slide Number Placeholder 2">
            <a:extLst>
              <a:ext uri="{FF2B5EF4-FFF2-40B4-BE49-F238E27FC236}">
                <a16:creationId xmlns:a16="http://schemas.microsoft.com/office/drawing/2014/main" id="{5C231835-8951-8FFF-8E69-8C80BCD473E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010774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Managing the Workload</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899970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8D90-AE1E-61E6-A8AE-966211EB5CB3}"/>
              </a:ext>
            </a:extLst>
          </p:cNvPr>
          <p:cNvSpPr>
            <a:spLocks noGrp="1"/>
          </p:cNvSpPr>
          <p:nvPr>
            <p:ph type="title"/>
          </p:nvPr>
        </p:nvSpPr>
        <p:spPr/>
        <p:txBody>
          <a:bodyPr/>
          <a:lstStyle/>
          <a:p>
            <a:r>
              <a:rPr lang="en-US"/>
              <a:t>Addressing Submissions in the Working Queue</a:t>
            </a:r>
          </a:p>
        </p:txBody>
      </p:sp>
      <p:sp>
        <p:nvSpPr>
          <p:cNvPr id="3" name="Content Placeholder 2">
            <a:extLst>
              <a:ext uri="{FF2B5EF4-FFF2-40B4-BE49-F238E27FC236}">
                <a16:creationId xmlns:a16="http://schemas.microsoft.com/office/drawing/2014/main" id="{C8B3929B-252C-092D-7EEE-6EDA7076798B}"/>
              </a:ext>
            </a:extLst>
          </p:cNvPr>
          <p:cNvSpPr>
            <a:spLocks noGrp="1"/>
          </p:cNvSpPr>
          <p:nvPr>
            <p:ph idx="1"/>
          </p:nvPr>
        </p:nvSpPr>
        <p:spPr/>
        <p:txBody>
          <a:bodyPr/>
          <a:lstStyle/>
          <a:p>
            <a:r>
              <a:rPr lang="en-US"/>
              <a:t>5 or 6 submissions right now</a:t>
            </a:r>
          </a:p>
          <a:p>
            <a:r>
              <a:rPr lang="en-US"/>
              <a:t>Too much calendar time – the latest new CWE took about 6 calendar months</a:t>
            </a:r>
          </a:p>
          <a:p>
            <a:r>
              <a:rPr lang="en-US"/>
              <a:t>“Triage” was proposed in the last meeting</a:t>
            </a:r>
          </a:p>
          <a:p>
            <a:r>
              <a:rPr lang="en-US"/>
              <a:t>How much work can we carry on in CDR or elsewhere?</a:t>
            </a:r>
          </a:p>
          <a:p>
            <a:endParaRPr lang="en-US"/>
          </a:p>
          <a:p>
            <a:r>
              <a:rPr lang="en-US"/>
              <a:t>Do: provide a way for WG to see all AI-related submissions</a:t>
            </a:r>
          </a:p>
          <a:p>
            <a:r>
              <a:rPr lang="en-US"/>
              <a:t>Guidance for WG members to interact with submitters</a:t>
            </a:r>
          </a:p>
          <a:p>
            <a:endParaRPr lang="en-US"/>
          </a:p>
        </p:txBody>
      </p:sp>
      <p:sp>
        <p:nvSpPr>
          <p:cNvPr id="4" name="Slide Number Placeholder 3">
            <a:extLst>
              <a:ext uri="{FF2B5EF4-FFF2-40B4-BE49-F238E27FC236}">
                <a16:creationId xmlns:a16="http://schemas.microsoft.com/office/drawing/2014/main" id="{D6514C76-EE3E-A519-B188-762121283D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481769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12E9-CEAB-80AE-6228-9C68DCAADA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A58702-2FFC-D299-81C3-12838852F4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672A58D-16A5-AA89-8D58-D4A0EF989A1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56882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6B19-0A20-F587-0605-DB837E09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2CE89-1F0E-C02D-B140-B03903620F3C}"/>
              </a:ext>
            </a:extLst>
          </p:cNvPr>
          <p:cNvSpPr>
            <a:spLocks noGrp="1"/>
          </p:cNvSpPr>
          <p:nvPr>
            <p:ph type="ctrTitle" sz="quarter"/>
          </p:nvPr>
        </p:nvSpPr>
        <p:spPr/>
        <p:txBody>
          <a:bodyPr/>
          <a:lstStyle/>
          <a:p>
            <a:r>
              <a:rPr lang="en-US"/>
              <a:t>New Entry Development:</a:t>
            </a:r>
            <a:br>
              <a:rPr lang="en-US"/>
            </a:br>
            <a:r>
              <a:rPr lang="en-US"/>
              <a:t>ES2406-9e5fcf10: Insecure Setting of Generative AI/ML Model Inference Parameters </a:t>
            </a:r>
          </a:p>
        </p:txBody>
      </p:sp>
      <p:sp>
        <p:nvSpPr>
          <p:cNvPr id="3" name="Slide Number Placeholder 2">
            <a:extLst>
              <a:ext uri="{FF2B5EF4-FFF2-40B4-BE49-F238E27FC236}">
                <a16:creationId xmlns:a16="http://schemas.microsoft.com/office/drawing/2014/main" id="{04815683-4C0E-202A-8CAE-18224A6BE3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221903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5A9D-CA78-EE9B-F409-CD4F59410820}"/>
              </a:ext>
            </a:extLst>
          </p:cNvPr>
          <p:cNvSpPr>
            <a:spLocks noGrp="1"/>
          </p:cNvSpPr>
          <p:nvPr>
            <p:ph type="title"/>
          </p:nvPr>
        </p:nvSpPr>
        <p:spPr/>
        <p:txBody>
          <a:bodyPr/>
          <a:lstStyle/>
          <a:p>
            <a:r>
              <a:rPr lang="en-US"/>
              <a:t>ES2406-9e5fcf10 Status</a:t>
            </a:r>
          </a:p>
        </p:txBody>
      </p:sp>
      <p:sp>
        <p:nvSpPr>
          <p:cNvPr id="3" name="Content Placeholder 2">
            <a:extLst>
              <a:ext uri="{FF2B5EF4-FFF2-40B4-BE49-F238E27FC236}">
                <a16:creationId xmlns:a16="http://schemas.microsoft.com/office/drawing/2014/main" id="{5F34ED3C-1922-1677-B432-4CE04C52EF75}"/>
              </a:ext>
            </a:extLst>
          </p:cNvPr>
          <p:cNvSpPr>
            <a:spLocks noGrp="1"/>
          </p:cNvSpPr>
          <p:nvPr>
            <p:ph idx="1"/>
          </p:nvPr>
        </p:nvSpPr>
        <p:spPr/>
        <p:txBody>
          <a:bodyPr/>
          <a:lstStyle/>
          <a:p>
            <a:r>
              <a:rPr lang="en-US"/>
              <a:t>(ASAP – MITRE) Need to enter all data from previous meetings into raw submission file</a:t>
            </a:r>
          </a:p>
          <a:p>
            <a:r>
              <a:rPr lang="en-US"/>
              <a:t>Finished developing a demonstrative example</a:t>
            </a:r>
          </a:p>
          <a:p>
            <a:r>
              <a:rPr lang="en-US"/>
              <a:t>CWE assignment to happen in the next 2 weeks</a:t>
            </a:r>
          </a:p>
          <a:p>
            <a:r>
              <a:rPr lang="en-US"/>
              <a:t>(Online) Final review by WG members</a:t>
            </a:r>
          </a:p>
          <a:p>
            <a:endParaRPr lang="en-US"/>
          </a:p>
        </p:txBody>
      </p:sp>
      <p:sp>
        <p:nvSpPr>
          <p:cNvPr id="4" name="Slide Number Placeholder 3">
            <a:extLst>
              <a:ext uri="{FF2B5EF4-FFF2-40B4-BE49-F238E27FC236}">
                <a16:creationId xmlns:a16="http://schemas.microsoft.com/office/drawing/2014/main" id="{04DA8576-9683-471E-C39E-EF20E62D72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480062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B18C4-83FC-1303-CF27-D644652D5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50F8F-793D-594E-8071-F60457F47E97}"/>
              </a:ext>
            </a:extLst>
          </p:cNvPr>
          <p:cNvSpPr>
            <a:spLocks noGrp="1"/>
          </p:cNvSpPr>
          <p:nvPr>
            <p:ph type="title"/>
          </p:nvPr>
        </p:nvSpPr>
        <p:spPr/>
        <p:txBody>
          <a:bodyPr/>
          <a:lstStyle/>
          <a:p>
            <a:r>
              <a:rPr lang="en-US"/>
              <a:t>ES2406-9e5fcf10 – Basic Details</a:t>
            </a:r>
          </a:p>
        </p:txBody>
      </p:sp>
      <p:sp>
        <p:nvSpPr>
          <p:cNvPr id="3" name="Content Placeholder 2">
            <a:extLst>
              <a:ext uri="{FF2B5EF4-FFF2-40B4-BE49-F238E27FC236}">
                <a16:creationId xmlns:a16="http://schemas.microsoft.com/office/drawing/2014/main" id="{F8D36B04-5ABA-7835-4F4F-ECB15F273B98}"/>
              </a:ext>
            </a:extLst>
          </p:cNvPr>
          <p:cNvSpPr>
            <a:spLocks noGrp="1"/>
          </p:cNvSpPr>
          <p:nvPr>
            <p:ph idx="1"/>
          </p:nvPr>
        </p:nvSpPr>
        <p:spPr/>
        <p:txBody>
          <a:bodyPr/>
          <a:lstStyle/>
          <a:p>
            <a:r>
              <a:rPr lang="en-US" sz="2000"/>
              <a:t>NAME: Insecure Setting of Generative AI/ML Model Inference Parameters</a:t>
            </a:r>
          </a:p>
          <a:p>
            <a:r>
              <a:rPr lang="en-US" sz="2000"/>
              <a:t>SUMMARY:</a:t>
            </a:r>
          </a:p>
          <a:p>
            <a:pPr lvl="1"/>
            <a:r>
              <a:rPr lang="en-US" sz="2000"/>
              <a:t>The product has a component that relies on a generative AI/ML model, but the model is configured with incorrect inference parameters that produce excessive erroneous or unexpected outputs that violate the intended security policy.</a:t>
            </a:r>
          </a:p>
          <a:p>
            <a:r>
              <a:rPr lang="en-US" sz="2000"/>
              <a:t>To do: </a:t>
            </a:r>
            <a:r>
              <a:rPr lang="en-US" sz="2000">
                <a:solidFill>
                  <a:srgbClr val="FF0000"/>
                </a:solidFill>
              </a:rPr>
              <a:t>** Add the notion that this cannot be avoided – there’s always a chance; the weakness is then the chance is higher than the intended “risk tolerance” **</a:t>
            </a:r>
          </a:p>
          <a:p>
            <a:pPr lvl="1"/>
            <a:r>
              <a:rPr lang="en-US" sz="2000"/>
              <a:t>Could address with effectiveness notes in mitigations</a:t>
            </a:r>
          </a:p>
          <a:p>
            <a:pPr lvl="1"/>
            <a:r>
              <a:rPr lang="en-US" sz="2000"/>
              <a:t>Since it’s such a key point that behavior is not as directly controllable as with written code, it might be reasonable to have a sentence or two in the extended description</a:t>
            </a:r>
          </a:p>
          <a:p>
            <a:endParaRPr lang="en-US" sz="2000"/>
          </a:p>
        </p:txBody>
      </p:sp>
      <p:sp>
        <p:nvSpPr>
          <p:cNvPr id="4" name="Slide Number Placeholder 3">
            <a:extLst>
              <a:ext uri="{FF2B5EF4-FFF2-40B4-BE49-F238E27FC236}">
                <a16:creationId xmlns:a16="http://schemas.microsoft.com/office/drawing/2014/main" id="{F18B8835-5A27-6FAF-A575-2E68CD483D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140354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DAF7D-739D-0444-5C75-8CA104308DE2}"/>
              </a:ext>
            </a:extLst>
          </p:cNvPr>
          <p:cNvSpPr>
            <a:spLocks noGrp="1"/>
          </p:cNvSpPr>
          <p:nvPr>
            <p:ph type="title"/>
          </p:nvPr>
        </p:nvSpPr>
        <p:spPr/>
        <p:txBody>
          <a:bodyPr/>
          <a:lstStyle/>
          <a:p>
            <a:r>
              <a:rPr lang="en-US"/>
              <a:t>Desc Alt Proposals</a:t>
            </a:r>
          </a:p>
        </p:txBody>
      </p:sp>
      <p:sp>
        <p:nvSpPr>
          <p:cNvPr id="3" name="Content Placeholder 2">
            <a:extLst>
              <a:ext uri="{FF2B5EF4-FFF2-40B4-BE49-F238E27FC236}">
                <a16:creationId xmlns:a16="http://schemas.microsoft.com/office/drawing/2014/main" id="{FE80EE7D-31E5-1796-3CB1-C76D1E665662}"/>
              </a:ext>
            </a:extLst>
          </p:cNvPr>
          <p:cNvSpPr>
            <a:spLocks noGrp="1"/>
          </p:cNvSpPr>
          <p:nvPr>
            <p:ph idx="1"/>
          </p:nvPr>
        </p:nvSpPr>
        <p:spPr/>
        <p:txBody>
          <a:bodyPr/>
          <a:lstStyle/>
          <a:p>
            <a:r>
              <a:rPr lang="en-US" sz="2000"/>
              <a:t>V1 “The product has a component that relies on a generative AI/ML model, but the model is configured with inference parameters that produce erroneous or unexpected outputs that violate the intended security policy at a higher rate than expected from that component.”</a:t>
            </a:r>
          </a:p>
          <a:p>
            <a:r>
              <a:rPr lang="en-US" sz="2000"/>
              <a:t>Concerns: “security policy” phrasing</a:t>
            </a:r>
          </a:p>
          <a:p>
            <a:r>
              <a:rPr lang="en-US" sz="2000"/>
              <a:t>V2 “The product has a component that relies on a generative AI/ML model, but the model is configured with inference parameters that produce erroneous or unexpected outputs that exceeds the rate of security policy violation expected from that component.”</a:t>
            </a:r>
          </a:p>
          <a:p>
            <a:r>
              <a:rPr lang="en-US" sz="2000"/>
              <a:t>V3: The product has a component that relies on a generative AI/ML model configured with inference parameters that produce an unexpectedly high rate of erroneous or unexpected outputs.</a:t>
            </a:r>
          </a:p>
          <a:p>
            <a:endParaRPr lang="en-US" sz="2000"/>
          </a:p>
        </p:txBody>
      </p:sp>
      <p:sp>
        <p:nvSpPr>
          <p:cNvPr id="4" name="Slide Number Placeholder 3">
            <a:extLst>
              <a:ext uri="{FF2B5EF4-FFF2-40B4-BE49-F238E27FC236}">
                <a16:creationId xmlns:a16="http://schemas.microsoft.com/office/drawing/2014/main" id="{C4E64AD8-80B6-4695-D08B-72DCE7680F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40563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a:p>
            <a:r>
              <a:rPr lang="en-US"/>
              <a:t>3 scenarios so far:</a:t>
            </a:r>
          </a:p>
          <a:p>
            <a:pPr lvl="1"/>
            <a:r>
              <a:rPr lang="en-US"/>
              <a:t>robotic/drone control using an LLM</a:t>
            </a:r>
          </a:p>
          <a:p>
            <a:pPr lvl="1"/>
            <a:r>
              <a:rPr lang="en-US" err="1"/>
              <a:t>json</a:t>
            </a:r>
            <a:r>
              <a:rPr lang="en-US"/>
              <a:t> formatting not being correct</a:t>
            </a:r>
          </a:p>
          <a:p>
            <a:pPr lvl="1"/>
            <a:r>
              <a:rPr lang="en-US"/>
              <a:t>package hallucination example</a:t>
            </a:r>
          </a:p>
          <a:p>
            <a:r>
              <a:rPr lang="en-US"/>
              <a:t>How can we show clear security implications?</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461933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35A4-98B3-51F9-4014-C67BBAD6D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97EAA-66E6-0893-6F5F-C6B593E2C768}"/>
              </a:ext>
            </a:extLst>
          </p:cNvPr>
          <p:cNvSpPr>
            <a:spLocks noGrp="1"/>
          </p:cNvSpPr>
          <p:nvPr>
            <p:ph type="title"/>
          </p:nvPr>
        </p:nvSpPr>
        <p:spPr/>
        <p:txBody>
          <a:bodyPr/>
          <a:lstStyle/>
          <a:p>
            <a:r>
              <a:rPr lang="en-US"/>
              <a:t>Reminder: Demonstrative example structure</a:t>
            </a:r>
          </a:p>
        </p:txBody>
      </p:sp>
      <p:sp>
        <p:nvSpPr>
          <p:cNvPr id="3" name="Content Placeholder 2">
            <a:extLst>
              <a:ext uri="{FF2B5EF4-FFF2-40B4-BE49-F238E27FC236}">
                <a16:creationId xmlns:a16="http://schemas.microsoft.com/office/drawing/2014/main" id="{50B90FC3-D31F-12FA-11F4-4BFCB61C5AB4}"/>
              </a:ext>
            </a:extLst>
          </p:cNvPr>
          <p:cNvSpPr>
            <a:spLocks noGrp="1"/>
          </p:cNvSpPr>
          <p:nvPr>
            <p:ph idx="1"/>
          </p:nvPr>
        </p:nvSpPr>
        <p:spPr/>
        <p:txBody>
          <a:bodyPr>
            <a:normAutofit fontScale="92500" lnSpcReduction="10000"/>
          </a:bodyPr>
          <a:lstStyle/>
          <a:p>
            <a:r>
              <a:rPr lang="en-US"/>
              <a:t>Introductory text – basic free-form text describing what the developer is trying to do</a:t>
            </a:r>
            <a:endParaRPr lang="en-US">
              <a:solidFill>
                <a:srgbClr val="FF0000"/>
              </a:solidFill>
            </a:endParaRPr>
          </a:p>
          <a:p>
            <a:endParaRPr lang="en-US">
              <a:solidFill>
                <a:srgbClr val="FF0000"/>
              </a:solidFill>
            </a:endParaRPr>
          </a:p>
          <a:p>
            <a:r>
              <a:rPr lang="en-US"/>
              <a:t>“Bad” code – design or code that contains the target weakness</a:t>
            </a:r>
          </a:p>
          <a:p>
            <a:endParaRPr lang="en-US">
              <a:solidFill>
                <a:srgbClr val="FF0000"/>
              </a:solidFill>
            </a:endParaRPr>
          </a:p>
          <a:p>
            <a:r>
              <a:rPr lang="en-US"/>
              <a:t>Explanation of the weakness – free-form text to explain to the reader where the weakness is located and why it’s important</a:t>
            </a:r>
            <a:endParaRPr lang="en-US">
              <a:solidFill>
                <a:srgbClr val="FF0000"/>
              </a:solidFill>
            </a:endParaRPr>
          </a:p>
          <a:p>
            <a:endParaRPr lang="en-US">
              <a:solidFill>
                <a:srgbClr val="FF0000"/>
              </a:solidFill>
            </a:endParaRPr>
          </a:p>
          <a:p>
            <a:r>
              <a:rPr lang="en-US"/>
              <a:t>(optional) how the weakness is attacked/exploited – provides one or more specific attack examples, e.g. the attack string, and how the weakness is exploited</a:t>
            </a:r>
            <a:endParaRPr lang="en-US">
              <a:solidFill>
                <a:srgbClr val="FF0000"/>
              </a:solidFill>
            </a:endParaRPr>
          </a:p>
          <a:p>
            <a:endParaRPr lang="en-US">
              <a:solidFill>
                <a:srgbClr val="FF0000"/>
              </a:solidFill>
            </a:endParaRPr>
          </a:p>
          <a:p>
            <a:r>
              <a:rPr lang="en-US"/>
              <a:t>“Good” code – changes to the “Bad” code/design that fix the weakness</a:t>
            </a:r>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372B3FC-7A0E-EFC8-AA01-DA9DAE3DBA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575884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3651-8FEE-32AD-0CDF-E7FAFF63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18D72-E9BB-62A2-AEA7-4DB8092CE81E}"/>
              </a:ext>
            </a:extLst>
          </p:cNvPr>
          <p:cNvSpPr>
            <a:spLocks noGrp="1"/>
          </p:cNvSpPr>
          <p:nvPr>
            <p:ph type="title"/>
          </p:nvPr>
        </p:nvSpPr>
        <p:spPr/>
        <p:txBody>
          <a:bodyPr/>
          <a:lstStyle/>
          <a:p>
            <a:r>
              <a:rPr lang="en-US"/>
              <a:t>Demonstrative Example 3 – Introductory Text</a:t>
            </a:r>
          </a:p>
        </p:txBody>
      </p:sp>
      <p:sp>
        <p:nvSpPr>
          <p:cNvPr id="3" name="Content Placeholder 2">
            <a:extLst>
              <a:ext uri="{FF2B5EF4-FFF2-40B4-BE49-F238E27FC236}">
                <a16:creationId xmlns:a16="http://schemas.microsoft.com/office/drawing/2014/main" id="{ED01B37D-F7F7-0CB9-CC8B-17C1ED88F0E5}"/>
              </a:ext>
            </a:extLst>
          </p:cNvPr>
          <p:cNvSpPr>
            <a:spLocks noGrp="1"/>
          </p:cNvSpPr>
          <p:nvPr>
            <p:ph idx="1"/>
          </p:nvPr>
        </p:nvSpPr>
        <p:spPr/>
        <p:txBody>
          <a:bodyPr/>
          <a:lstStyle/>
          <a:p>
            <a:r>
              <a:rPr lang="en-US" sz="1600"/>
              <a:t>Introductory text: </a:t>
            </a:r>
            <a:r>
              <a:rPr lang="en-US" sz="1600">
                <a:solidFill>
                  <a:srgbClr val="FF0000"/>
                </a:solidFill>
              </a:rPr>
              <a:t>The product provides an AI assistant to help users to write code. The product has Windsurf/Cursor with an IDE integrated. Assume the model has been trained correctly.</a:t>
            </a:r>
          </a:p>
          <a:p>
            <a:pPr lvl="1"/>
            <a:r>
              <a:rPr lang="en-US" sz="1600"/>
              <a:t>Should we use a generic term for Windsurf/Cursor?</a:t>
            </a:r>
          </a:p>
          <a:p>
            <a:pPr lvl="2"/>
            <a:r>
              <a:rPr lang="en-US" sz="1600"/>
              <a:t>“uses an AI-assisted Integrated Development Environment (IDE)”</a:t>
            </a:r>
          </a:p>
          <a:p>
            <a:pPr lvl="2"/>
            <a:r>
              <a:rPr lang="en-US" sz="1600"/>
              <a:t>“AI coding assistant”</a:t>
            </a:r>
          </a:p>
          <a:p>
            <a:pPr lvl="1"/>
            <a:r>
              <a:rPr lang="en-US" sz="1600"/>
              <a:t>What would “trained correctly” mean? (“behaves normally under its default temperature” – also see chat for many other recommendations)</a:t>
            </a:r>
          </a:p>
          <a:p>
            <a:r>
              <a:rPr lang="en-US" sz="1600"/>
              <a:t>What’s the activity to support?</a:t>
            </a:r>
          </a:p>
          <a:p>
            <a:pPr lvl="1"/>
            <a:r>
              <a:rPr lang="en-US" sz="1600"/>
              <a:t>Having it write code that interacts with a product (should be caught during basic debugging/test)</a:t>
            </a:r>
          </a:p>
          <a:p>
            <a:pPr lvl="1"/>
            <a:r>
              <a:rPr lang="en-US" sz="1600" b="1"/>
              <a:t>Or as you’re writing code, it makes suggestions for libraries to import</a:t>
            </a:r>
            <a:r>
              <a:rPr lang="en-US" sz="1600"/>
              <a:t>. E.g., if importing pandas, auto-suggestions of </a:t>
            </a:r>
            <a:r>
              <a:rPr lang="en-US" sz="1600" err="1"/>
              <a:t>numPy</a:t>
            </a:r>
            <a:endParaRPr lang="en-US" sz="1600"/>
          </a:p>
          <a:p>
            <a:r>
              <a:rPr lang="en-US" sz="1600"/>
              <a:t>For simplicity, maybe assume a particular programming language?</a:t>
            </a:r>
          </a:p>
          <a:p>
            <a:pPr lvl="1"/>
            <a:r>
              <a:rPr lang="en-US" sz="1600"/>
              <a:t>Language should be understandable to many users (i.e. popular)</a:t>
            </a:r>
          </a:p>
          <a:p>
            <a:pPr lvl="1"/>
            <a:r>
              <a:rPr lang="en-US" sz="1600"/>
              <a:t>Should have well-known package-management frameworks / ecosystems</a:t>
            </a:r>
          </a:p>
          <a:p>
            <a:pPr lvl="2"/>
            <a:r>
              <a:rPr lang="en-US" sz="1600"/>
              <a:t>Python example – centralized repositories where people can introduce their own packages</a:t>
            </a:r>
          </a:p>
          <a:p>
            <a:endParaRPr lang="en-US" sz="1600"/>
          </a:p>
        </p:txBody>
      </p:sp>
      <p:sp>
        <p:nvSpPr>
          <p:cNvPr id="4" name="Slide Number Placeholder 3">
            <a:extLst>
              <a:ext uri="{FF2B5EF4-FFF2-40B4-BE49-F238E27FC236}">
                <a16:creationId xmlns:a16="http://schemas.microsoft.com/office/drawing/2014/main" id="{3FDC2628-EFE9-1335-1AFF-52F5D2D038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998743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21EDA-B547-7A11-2BAD-8737B7481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BDFCD-99C7-1277-36DA-8944BA76BA2C}"/>
              </a:ext>
            </a:extLst>
          </p:cNvPr>
          <p:cNvSpPr>
            <a:spLocks noGrp="1"/>
          </p:cNvSpPr>
          <p:nvPr>
            <p:ph type="title"/>
          </p:nvPr>
        </p:nvSpPr>
        <p:spPr/>
        <p:txBody>
          <a:bodyPr/>
          <a:lstStyle/>
          <a:p>
            <a:r>
              <a:rPr lang="en-US"/>
              <a:t>Demonstrative Example 3 – “Bad” Code</a:t>
            </a:r>
          </a:p>
        </p:txBody>
      </p:sp>
      <p:sp>
        <p:nvSpPr>
          <p:cNvPr id="3" name="Content Placeholder 2">
            <a:extLst>
              <a:ext uri="{FF2B5EF4-FFF2-40B4-BE49-F238E27FC236}">
                <a16:creationId xmlns:a16="http://schemas.microsoft.com/office/drawing/2014/main" id="{CA36D1BF-7D3D-6447-3619-3E65D5097E81}"/>
              </a:ext>
            </a:extLst>
          </p:cNvPr>
          <p:cNvSpPr>
            <a:spLocks noGrp="1"/>
          </p:cNvSpPr>
          <p:nvPr>
            <p:ph idx="1"/>
          </p:nvPr>
        </p:nvSpPr>
        <p:spPr/>
        <p:txBody>
          <a:bodyPr/>
          <a:lstStyle/>
          <a:p>
            <a:r>
              <a:rPr lang="en-US" sz="1800"/>
              <a:t>(background: package hallucination)</a:t>
            </a:r>
          </a:p>
          <a:p>
            <a:pPr lvl="1"/>
            <a:r>
              <a:rPr lang="en-US" sz="1800"/>
              <a:t>Making example more realistic: might hallucinate most when dealing with uncommon data sources / APIs that aren’t part of the training data.</a:t>
            </a:r>
          </a:p>
          <a:p>
            <a:r>
              <a:rPr lang="en-US" sz="1800"/>
              <a:t>&lt;sample config file&gt;</a:t>
            </a:r>
          </a:p>
          <a:p>
            <a:pPr lvl="1"/>
            <a:r>
              <a:rPr lang="en-US" sz="1800"/>
              <a:t>Can we generically specify a particular model?</a:t>
            </a:r>
          </a:p>
          <a:p>
            <a:pPr lvl="2"/>
            <a:r>
              <a:rPr lang="en-US" sz="1800"/>
              <a:t>(use </a:t>
            </a:r>
            <a:r>
              <a:rPr lang="en-US" sz="1800" err="1"/>
              <a:t>openai</a:t>
            </a:r>
            <a:r>
              <a:rPr lang="en-US" sz="1800"/>
              <a:t> spec that can work with a variety of model types)</a:t>
            </a:r>
          </a:p>
          <a:p>
            <a:pPr lvl="2"/>
            <a:r>
              <a:rPr lang="en-US" sz="1800"/>
              <a:t>Genericize model name e.g. “your-model-here”</a:t>
            </a:r>
          </a:p>
          <a:p>
            <a:pPr lvl="1"/>
            <a:r>
              <a:rPr lang="en-US" sz="1800" u="sng"/>
              <a:t>Temperature is set too high</a:t>
            </a:r>
          </a:p>
          <a:p>
            <a:pPr lvl="2"/>
            <a:r>
              <a:rPr lang="en-US" sz="1800"/>
              <a:t>(if we rely on </a:t>
            </a:r>
            <a:r>
              <a:rPr lang="en-US" sz="1800" err="1"/>
              <a:t>openai</a:t>
            </a:r>
            <a:r>
              <a:rPr lang="en-US" sz="1800"/>
              <a:t> spec, the max temperature is 2, and default for most is 1 – setting to 1.8 might be useful)</a:t>
            </a:r>
          </a:p>
          <a:p>
            <a:pPr lvl="1"/>
            <a:r>
              <a:rPr lang="en-US" sz="1800"/>
              <a:t>Is temperature always required to be specified?</a:t>
            </a:r>
          </a:p>
          <a:p>
            <a:pPr lvl="2"/>
            <a:r>
              <a:rPr lang="en-US" sz="1800"/>
              <a:t>If not: might be helpful to have a higher-than-hoped default temperature</a:t>
            </a:r>
          </a:p>
          <a:p>
            <a:r>
              <a:rPr lang="en-US" sz="1800"/>
              <a:t>Show short code snippets performing the suggestion</a:t>
            </a:r>
            <a:endParaRPr lang="en-US" sz="1800">
              <a:solidFill>
                <a:srgbClr val="FF0000"/>
              </a:solidFill>
            </a:endParaRPr>
          </a:p>
          <a:p>
            <a:r>
              <a:rPr lang="en-US" sz="1800"/>
              <a:t>Garak example: - </a:t>
            </a:r>
            <a:r>
              <a:rPr lang="en-US" sz="1800" b="0">
                <a:solidFill>
                  <a:srgbClr val="FF0000"/>
                </a:solidFill>
              </a:rPr>
              <a:t>Erick can pull some inputs and outputs from previous Garak run, e.g. import of an SDO package that doesn’t exist </a:t>
            </a:r>
            <a:r>
              <a:rPr lang="en-US" sz="1800"/>
              <a:t>https://github.com/NVIDIA/garak/blob/main/garak/probes/packagehallucination.py </a:t>
            </a:r>
          </a:p>
          <a:p>
            <a:endParaRPr lang="en-US" sz="1800"/>
          </a:p>
        </p:txBody>
      </p:sp>
      <p:sp>
        <p:nvSpPr>
          <p:cNvPr id="4" name="Slide Number Placeholder 3">
            <a:extLst>
              <a:ext uri="{FF2B5EF4-FFF2-40B4-BE49-F238E27FC236}">
                <a16:creationId xmlns:a16="http://schemas.microsoft.com/office/drawing/2014/main" id="{53DFC348-B4AC-89C1-A2E5-BA2ABF54CD7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051094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55B6-7C65-8AD8-D757-D77058F45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C22BD-61AB-0585-A6A0-C03ACEDA66EF}"/>
              </a:ext>
            </a:extLst>
          </p:cNvPr>
          <p:cNvSpPr>
            <a:spLocks noGrp="1"/>
          </p:cNvSpPr>
          <p:nvPr>
            <p:ph type="title"/>
          </p:nvPr>
        </p:nvSpPr>
        <p:spPr/>
        <p:txBody>
          <a:bodyPr/>
          <a:lstStyle/>
          <a:p>
            <a:r>
              <a:rPr lang="en-US"/>
              <a:t>Demonstrative example – 3 – Weakness Explanation</a:t>
            </a:r>
          </a:p>
        </p:txBody>
      </p:sp>
      <p:sp>
        <p:nvSpPr>
          <p:cNvPr id="3" name="Content Placeholder 2">
            <a:extLst>
              <a:ext uri="{FF2B5EF4-FFF2-40B4-BE49-F238E27FC236}">
                <a16:creationId xmlns:a16="http://schemas.microsoft.com/office/drawing/2014/main" id="{A331AA16-2369-4B43-DF38-B7BAB8CD25AB}"/>
              </a:ext>
            </a:extLst>
          </p:cNvPr>
          <p:cNvSpPr>
            <a:spLocks noGrp="1"/>
          </p:cNvSpPr>
          <p:nvPr>
            <p:ph idx="1"/>
          </p:nvPr>
        </p:nvSpPr>
        <p:spPr/>
        <p:txBody>
          <a:bodyPr/>
          <a:lstStyle/>
          <a:p>
            <a:r>
              <a:rPr lang="en-US" sz="2000"/>
              <a:t>Explanation of the weakness</a:t>
            </a:r>
          </a:p>
          <a:p>
            <a:pPr lvl="1"/>
            <a:r>
              <a:rPr lang="en-US" sz="2000"/>
              <a:t>“The problem is that the configuration contains a high temperature hyperparameter. This significantly increases the likelihood that the LLM will suggest a package that did not exist at training time, a behavior sometimes referred to as “package hallucination.”</a:t>
            </a:r>
          </a:p>
          <a:p>
            <a:pPr lvl="1"/>
            <a:r>
              <a:rPr lang="en-US" sz="2000"/>
              <a:t>“An adversary could anticipate which package names could be generated and create a malicious package. For example, it has been observed that the same LLM might hallucinate the same package regularly. Any code that is generated by the LLM, when run by the user, would download and execute the malicious package. This is similar to </a:t>
            </a:r>
            <a:r>
              <a:rPr lang="en-US" sz="2000" err="1"/>
              <a:t>typosquatting</a:t>
            </a:r>
            <a:r>
              <a:rPr lang="en-US" sz="2000"/>
              <a:t>.”</a:t>
            </a:r>
          </a:p>
          <a:p>
            <a:pPr lvl="1"/>
            <a:r>
              <a:rPr lang="en-US" sz="2000">
                <a:solidFill>
                  <a:srgbClr val="FF0000"/>
                </a:solidFill>
              </a:rPr>
              <a:t>Update desc to ensure that other possible behaviors could arise from higher temperature, not just package hallucination</a:t>
            </a:r>
          </a:p>
          <a:p>
            <a:pPr lvl="1"/>
            <a:r>
              <a:rPr lang="en-US" sz="2000">
                <a:solidFill>
                  <a:srgbClr val="FF0000"/>
                </a:solidFill>
              </a:rPr>
              <a:t>E.g., there might be fewer examples in training for some past insecure-behavior data, which may have lower probabilities and more likely to be sampled with high inference parameters</a:t>
            </a:r>
          </a:p>
          <a:p>
            <a:endParaRPr lang="en-US" sz="2000"/>
          </a:p>
        </p:txBody>
      </p:sp>
      <p:sp>
        <p:nvSpPr>
          <p:cNvPr id="4" name="Slide Number Placeholder 3">
            <a:extLst>
              <a:ext uri="{FF2B5EF4-FFF2-40B4-BE49-F238E27FC236}">
                <a16:creationId xmlns:a16="http://schemas.microsoft.com/office/drawing/2014/main" id="{FB8EA50D-F9AA-FAB1-33D3-C6A45ACB113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93121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977D-1622-E361-CC7C-D36816B6D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C5DF9-6863-31CC-E3D8-05E2E3E59376}"/>
              </a:ext>
            </a:extLst>
          </p:cNvPr>
          <p:cNvSpPr>
            <a:spLocks noGrp="1"/>
          </p:cNvSpPr>
          <p:nvPr>
            <p:ph type="title"/>
          </p:nvPr>
        </p:nvSpPr>
        <p:spPr/>
        <p:txBody>
          <a:bodyPr/>
          <a:lstStyle/>
          <a:p>
            <a:r>
              <a:rPr lang="en-US"/>
              <a:t>Demonstrative example – 3 – “Good” Code</a:t>
            </a:r>
          </a:p>
        </p:txBody>
      </p:sp>
      <p:sp>
        <p:nvSpPr>
          <p:cNvPr id="3" name="Content Placeholder 2">
            <a:extLst>
              <a:ext uri="{FF2B5EF4-FFF2-40B4-BE49-F238E27FC236}">
                <a16:creationId xmlns:a16="http://schemas.microsoft.com/office/drawing/2014/main" id="{4863668D-5D39-52DE-0C00-6BEDEA7DF7A0}"/>
              </a:ext>
            </a:extLst>
          </p:cNvPr>
          <p:cNvSpPr>
            <a:spLocks noGrp="1"/>
          </p:cNvSpPr>
          <p:nvPr>
            <p:ph idx="1"/>
          </p:nvPr>
        </p:nvSpPr>
        <p:spPr/>
        <p:txBody>
          <a:bodyPr/>
          <a:lstStyle/>
          <a:p>
            <a:r>
              <a:rPr lang="en-US" sz="2000"/>
              <a:t>“Good” code – code changes that fix the weakness</a:t>
            </a:r>
          </a:p>
          <a:p>
            <a:r>
              <a:rPr lang="en-US" sz="2000"/>
              <a:t>Show an updated config that changes the inference parameter</a:t>
            </a:r>
          </a:p>
          <a:p>
            <a:pPr lvl="1"/>
            <a:r>
              <a:rPr lang="en-US" sz="2000"/>
              <a:t>What value should we use for the “good” temperature? If you set it too low, you lose some of the power of the model. Too high and you have the risk. You can’t know a priori what the “best” temperature is without empirical testing – there’s no “golden config.”</a:t>
            </a:r>
          </a:p>
          <a:p>
            <a:pPr lvl="1"/>
            <a:r>
              <a:rPr lang="en-US" sz="2000"/>
              <a:t>Could use 0.8 as an example</a:t>
            </a:r>
          </a:p>
          <a:p>
            <a:pPr lvl="1"/>
            <a:r>
              <a:rPr lang="en-US" sz="2000"/>
              <a:t>Annotate the config to state that 1.0 is the default for this model</a:t>
            </a:r>
          </a:p>
          <a:p>
            <a:r>
              <a:rPr lang="en-US" sz="2000">
                <a:solidFill>
                  <a:srgbClr val="FF0000"/>
                </a:solidFill>
              </a:rPr>
              <a:t>Also, describe guardrails that test for the presence and age of the package, and if it can be trusted</a:t>
            </a:r>
          </a:p>
          <a:p>
            <a:pPr lvl="1"/>
            <a:r>
              <a:rPr lang="en-US" sz="2000"/>
              <a:t>(some models have a knowledge date cutoff)</a:t>
            </a:r>
          </a:p>
          <a:p>
            <a:r>
              <a:rPr lang="en-US" sz="2000">
                <a:solidFill>
                  <a:srgbClr val="FF0000"/>
                </a:solidFill>
              </a:rPr>
              <a:t>Include disclaimer that this doesn’t eliminate risk of package hallucination</a:t>
            </a:r>
          </a:p>
          <a:p>
            <a:pPr lvl="1"/>
            <a:r>
              <a:rPr lang="en-US" sz="2000">
                <a:solidFill>
                  <a:srgbClr val="FF0000"/>
                </a:solidFill>
              </a:rPr>
              <a:t>Also consider extended desc update</a:t>
            </a:r>
          </a:p>
        </p:txBody>
      </p:sp>
      <p:sp>
        <p:nvSpPr>
          <p:cNvPr id="4" name="Slide Number Placeholder 3">
            <a:extLst>
              <a:ext uri="{FF2B5EF4-FFF2-40B4-BE49-F238E27FC236}">
                <a16:creationId xmlns:a16="http://schemas.microsoft.com/office/drawing/2014/main" id="{12DEF036-411F-65AA-CC20-8C4F5F665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546651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1E8E-C18A-B44D-7F5D-33AE716B3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37560-AFC4-8912-6624-754909019889}"/>
              </a:ext>
            </a:extLst>
          </p:cNvPr>
          <p:cNvSpPr>
            <a:spLocks noGrp="1"/>
          </p:cNvSpPr>
          <p:nvPr>
            <p:ph type="title"/>
          </p:nvPr>
        </p:nvSpPr>
        <p:spPr/>
        <p:txBody>
          <a:bodyPr/>
          <a:lstStyle/>
          <a:p>
            <a:r>
              <a:rPr lang="en-US"/>
              <a:t>Demonstrative example – 3 - Notes</a:t>
            </a:r>
          </a:p>
        </p:txBody>
      </p:sp>
      <p:sp>
        <p:nvSpPr>
          <p:cNvPr id="3" name="Content Placeholder 2">
            <a:extLst>
              <a:ext uri="{FF2B5EF4-FFF2-40B4-BE49-F238E27FC236}">
                <a16:creationId xmlns:a16="http://schemas.microsoft.com/office/drawing/2014/main" id="{3559ACA0-5CE0-32AD-2881-59D00B85BE1C}"/>
              </a:ext>
            </a:extLst>
          </p:cNvPr>
          <p:cNvSpPr>
            <a:spLocks noGrp="1"/>
          </p:cNvSpPr>
          <p:nvPr>
            <p:ph idx="1"/>
          </p:nvPr>
        </p:nvSpPr>
        <p:spPr>
          <a:xfrm>
            <a:off x="616449" y="1333501"/>
            <a:ext cx="11236720" cy="4794737"/>
          </a:xfrm>
        </p:spPr>
        <p:txBody>
          <a:bodyPr/>
          <a:lstStyle/>
          <a:p>
            <a:r>
              <a:rPr lang="en-US" sz="2000"/>
              <a:t>Consider avoiding cases of referencing real packages found in training data but highly unlikely</a:t>
            </a:r>
          </a:p>
          <a:p>
            <a:r>
              <a:rPr lang="en-US" sz="2000"/>
              <a:t>Hallucination here may be “suggesting a package that it did not see at training time because it didn’t exist”</a:t>
            </a:r>
          </a:p>
          <a:p>
            <a:r>
              <a:rPr lang="en-US" sz="2000"/>
              <a:t>Note: the training directly influences the inference</a:t>
            </a:r>
          </a:p>
          <a:p>
            <a:r>
              <a:rPr lang="en-US" sz="2000"/>
              <a:t>In some languages, there can be assumptions of “crossover” across languages – e.g. writing Ruby code that resembles packages from </a:t>
            </a:r>
            <a:r>
              <a:rPr lang="en-US" sz="2000" err="1"/>
              <a:t>PyPy</a:t>
            </a:r>
            <a:r>
              <a:rPr lang="en-US" sz="2000"/>
              <a:t> that don’t exist in </a:t>
            </a:r>
            <a:r>
              <a:rPr lang="en-US" sz="2000" err="1"/>
              <a:t>RubyGems</a:t>
            </a:r>
            <a:r>
              <a:rPr lang="en-US" sz="2000"/>
              <a:t>.</a:t>
            </a:r>
          </a:p>
          <a:p>
            <a:r>
              <a:rPr lang="en-US" sz="2000"/>
              <a:t>Considering abandoned libraries – not a hallucination</a:t>
            </a:r>
          </a:p>
          <a:p>
            <a:endParaRPr lang="en-US" sz="2000"/>
          </a:p>
          <a:p>
            <a:r>
              <a:rPr lang="en-US" sz="2000"/>
              <a:t>"use of disallowed/vulnerable packages" could be an example of CWE-1426 (chain)</a:t>
            </a:r>
          </a:p>
          <a:p>
            <a:endParaRPr lang="en-US" sz="2000"/>
          </a:p>
        </p:txBody>
      </p:sp>
      <p:sp>
        <p:nvSpPr>
          <p:cNvPr id="4" name="Slide Number Placeholder 3">
            <a:extLst>
              <a:ext uri="{FF2B5EF4-FFF2-40B4-BE49-F238E27FC236}">
                <a16:creationId xmlns:a16="http://schemas.microsoft.com/office/drawing/2014/main" id="{4555D68C-24CF-0728-FC7E-A944E815267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70003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 – Implementation? Build and compilation?&gt;</a:t>
            </a:r>
          </a:p>
          <a:p>
            <a:pPr lvl="1"/>
            <a:r>
              <a:rPr lang="en-US"/>
              <a:t>Notes: </a:t>
            </a:r>
            <a:r>
              <a:rPr lang="en-US">
                <a:solidFill>
                  <a:srgbClr val="FF0000"/>
                </a:solidFill>
              </a:rPr>
              <a:t>&lt;During model training, when hyperparameters are set without adequate validation or understanding of their impact. “this includes tuning”&gt;</a:t>
            </a:r>
          </a:p>
          <a:p>
            <a:r>
              <a:rPr lang="en-US"/>
              <a:t>Mode 2:</a:t>
            </a:r>
          </a:p>
          <a:p>
            <a:pPr lvl="1"/>
            <a:r>
              <a:rPr lang="en-US"/>
              <a:t>SDLC phase: </a:t>
            </a:r>
            <a:r>
              <a:rPr lang="en-US">
                <a:solidFill>
                  <a:srgbClr val="FF0000"/>
                </a:solidFill>
              </a:rPr>
              <a:t>&lt;fill in here – System Configuration&gt;</a:t>
            </a:r>
          </a:p>
          <a:p>
            <a:pPr lvl="1"/>
            <a:r>
              <a:rPr lang="en-US"/>
              <a:t>Notes: </a:t>
            </a:r>
            <a:r>
              <a:rPr lang="en-US">
                <a:solidFill>
                  <a:srgbClr val="FF0000"/>
                </a:solidFill>
              </a:rPr>
              <a:t>&lt;During deployment, when model parameters are adjusted to optimize performance without comprehensive testing&gt;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&lt;Through updates or modifications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929857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&lt;Develop and adhere to robust parameter tuning processes that include extensive testing and validation&gt;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&lt;Implement feedback mechanisms to continuously assess and adjust model performance&gt;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141524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&lt;package hallucination&gt;</a:t>
            </a:r>
            <a:endParaRPr lang="en-US" sz="1600"/>
          </a:p>
          <a:p>
            <a:pPr lvl="1"/>
            <a:r>
              <a:rPr lang="en-US" sz="1600"/>
              <a:t>URL: </a:t>
            </a:r>
            <a:r>
              <a:rPr lang="en-US" sz="1600">
                <a:solidFill>
                  <a:srgbClr val="FF0000"/>
                </a:solidFill>
              </a:rPr>
              <a:t>&lt;https://arxiv.org/abs/2406.10279&gt;</a:t>
            </a:r>
            <a:endParaRPr lang="en-US" sz="1600"/>
          </a:p>
          <a:p>
            <a:r>
              <a:rPr lang="en-US" sz="1600"/>
              <a:t>Reference 2</a:t>
            </a:r>
          </a:p>
          <a:p>
            <a:pPr lvl="1"/>
            <a:r>
              <a:rPr lang="en-US" sz="1600"/>
              <a:t>Title: </a:t>
            </a:r>
            <a:r>
              <a:rPr lang="en-US" sz="1600">
                <a:solidFill>
                  <a:srgbClr val="FF0000"/>
                </a:solidFill>
              </a:rPr>
              <a:t>&lt;Garak issue&gt; </a:t>
            </a:r>
          </a:p>
          <a:p>
            <a:pPr lvl="1"/>
            <a:r>
              <a:rPr lang="en-US" sz="1600"/>
              <a:t>URL: </a:t>
            </a:r>
            <a:r>
              <a:rPr lang="en-US" sz="1600">
                <a:solidFill>
                  <a:srgbClr val="FF0000"/>
                </a:solidFill>
              </a:rPr>
              <a:t>&lt;https://github.com/NVIDIA/garak/issues/1233&gt;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630450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020B3-6997-CB5A-1E5E-10A92AA9C76F}"/>
              </a:ext>
            </a:extLst>
          </p:cNvPr>
          <p:cNvSpPr>
            <a:spLocks noGrp="1"/>
          </p:cNvSpPr>
          <p:nvPr>
            <p:ph type="ctrTitle" sz="quarter"/>
          </p:nvPr>
        </p:nvSpPr>
        <p:spPr/>
        <p:txBody>
          <a:bodyPr/>
          <a:lstStyle/>
          <a:p>
            <a:r>
              <a:rPr lang="en-US"/>
              <a:t>Already-Filled Elements</a:t>
            </a:r>
          </a:p>
        </p:txBody>
      </p:sp>
      <p:sp>
        <p:nvSpPr>
          <p:cNvPr id="3" name="Slide Number Placeholder 2">
            <a:extLst>
              <a:ext uri="{FF2B5EF4-FFF2-40B4-BE49-F238E27FC236}">
                <a16:creationId xmlns:a16="http://schemas.microsoft.com/office/drawing/2014/main" id="{EF98852D-EE8B-E12A-F204-F1AED62208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671050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&lt;automated and manual dynamic analysis&gt;</a:t>
            </a:r>
          </a:p>
          <a:p>
            <a:pPr lvl="1"/>
            <a:r>
              <a:rPr lang="en-US" sz="1800"/>
              <a:t>Desc:</a:t>
            </a:r>
            <a:r>
              <a:rPr lang="en-US" sz="1800">
                <a:solidFill>
                  <a:srgbClr val="FF0000"/>
                </a:solidFill>
              </a:rPr>
              <a:t> &lt;Manipulation of inference parameters and comparative evaluation to assess the impact of values. Build a suite of systems, then manually test (“run Garak”) – gets into things like prompt injections and other problems.&gt; (Question: given the huge variety of outcomes, how can one design testing to be comprehensive enough?) Need to warn/tell the reader that tests might not be complete, and there will still be unpredictable behavior (example from Sven on toxicity omitting Indian considerations). Consider “thought level” (“full” thoughts) versus token-level – e.g. temperature, setting to 0 should be deterministic. Could statistically measure token distribution.</a:t>
            </a:r>
          </a:p>
          <a:p>
            <a:r>
              <a:rPr lang="en-US" sz="1800"/>
              <a:t>Detection Method 2</a:t>
            </a:r>
          </a:p>
          <a:p>
            <a:pPr lvl="1"/>
            <a:r>
              <a:rPr lang="en-US" sz="1800"/>
              <a:t>Method: </a:t>
            </a:r>
            <a:r>
              <a:rPr lang="en-US" sz="1800">
                <a:solidFill>
                  <a:srgbClr val="FF0000"/>
                </a:solidFill>
              </a:rPr>
              <a:t>&lt;&gt;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846513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a:solidFill>
                  <a:srgbClr val="FF0000"/>
                </a:solidFill>
                <a:highlight>
                  <a:srgbClr val="FFFF00"/>
                </a:highlight>
              </a:rPr>
              <a:t>Why no obvious </a:t>
            </a:r>
            <a:r>
              <a:rPr lang="en-US" sz="1600" err="1">
                <a:solidFill>
                  <a:srgbClr val="FF0000"/>
                </a:solidFill>
                <a:highlight>
                  <a:srgbClr val="FFFF00"/>
                </a:highlight>
              </a:rPr>
              <a:t>obex</a:t>
            </a:r>
            <a:r>
              <a:rPr lang="en-US" sz="1600">
                <a:solidFill>
                  <a:srgbClr val="FF0000"/>
                </a:solidFill>
                <a:highlight>
                  <a:srgbClr val="FFFF00"/>
                </a:highlight>
              </a:rPr>
              <a:t> right now? Relative recency, lack of exposure. Not exactly “hypothetical” but the security impact is not well established. People are seeing this in their work, but maybe not documenting it well yet. Might be detected with chatbots since they can be inspected, but might “sneak through undetected” at back ends / lower levels. Example domain – robotics control software using LLMs, or triggering outputs that don’t comply with the software’s expected formats.</a:t>
            </a:r>
          </a:p>
          <a:p>
            <a:r>
              <a:rPr lang="en-US" sz="1600">
                <a:highlight>
                  <a:srgbClr val="FFFF00"/>
                </a:highlight>
              </a:rPr>
              <a:t>Maybe this is often associated with other weaknesses (can help exploitation of other weaknesses)</a:t>
            </a: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919213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377017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“configuration” can imply manual/human steps. If the parameters are programmatically set, this could be a misstatement (or unnecessarily restrictive). Can we say “setting”?</a:t>
            </a:r>
          </a:p>
          <a:p>
            <a:r>
              <a:rPr lang="en-US" sz="1800"/>
              <a:t>Does “parameters” include mode than hyperparameters?</a:t>
            </a:r>
          </a:p>
          <a:p>
            <a:r>
              <a:rPr lang="en-US" sz="1800"/>
              <a:t>Name 1: </a:t>
            </a:r>
            <a:r>
              <a:rPr lang="en-US" sz="1800">
                <a:solidFill>
                  <a:srgbClr val="FF0000"/>
                </a:solidFill>
              </a:rPr>
              <a:t>&lt;Insecure Setting of Generative Machine Learning Model Parameters&gt;</a:t>
            </a:r>
          </a:p>
          <a:p>
            <a:r>
              <a:rPr lang="en-US" sz="1800"/>
              <a:t>Name 2: </a:t>
            </a:r>
            <a:r>
              <a:rPr lang="en-US" sz="1800">
                <a:solidFill>
                  <a:srgbClr val="FF0000"/>
                </a:solidFill>
              </a:rPr>
              <a:t>&lt;fill in here&gt;</a:t>
            </a:r>
          </a:p>
          <a:p>
            <a:r>
              <a:rPr lang="en-US" sz="1800"/>
              <a:t>Internal Notes: </a:t>
            </a:r>
            <a:r>
              <a:rPr lang="en-US" sz="1800">
                <a:solidFill>
                  <a:srgbClr val="FF0000"/>
                </a:solidFill>
              </a:rPr>
              <a:t>&lt;Say “inference parameters” (aka “generation parameters”) – not to confuse with weights in the model itself, or “hyperparameters” that are used in training&gt;</a:t>
            </a:r>
          </a:p>
          <a:p>
            <a:r>
              <a:rPr lang="en-US" sz="1800">
                <a:solidFill>
                  <a:srgbClr val="FF0000"/>
                </a:solidFill>
              </a:rPr>
              <a:t>Does this apply to guardrails?</a:t>
            </a:r>
          </a:p>
          <a:p>
            <a:r>
              <a:rPr lang="en-US" sz="1800">
                <a:solidFill>
                  <a:srgbClr val="FF0000"/>
                </a:solidFill>
              </a:rPr>
              <a:t>Distinct from making a bad system prompt</a:t>
            </a:r>
          </a:p>
          <a:p>
            <a:endParaRPr lang="en-US" sz="1800"/>
          </a:p>
          <a:p>
            <a:endParaRPr lang="en-US" sz="180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16418072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a:t>Integrates comments from Lily, Erick, Steve, and Martin</a:t>
            </a:r>
          </a:p>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r>
              <a:rPr lang="en-US" sz="2000"/>
              <a:t>Just say “ML” here?</a:t>
            </a:r>
          </a:p>
          <a:p>
            <a:pPr lvl="1"/>
            <a:r>
              <a:rPr lang="en-US" sz="2000"/>
              <a:t>“intended security policy” is important</a:t>
            </a:r>
          </a:p>
          <a:p>
            <a:pPr lvl="1"/>
            <a:endParaRPr lang="en-US" sz="2000"/>
          </a:p>
          <a:p>
            <a:endParaRPr lang="en-US" sz="200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65</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uses a generative </a:t>
            </a:r>
            <a:r>
              <a:rPr lang="en-US" b="0" i="1">
                <a:solidFill>
                  <a:srgbClr val="1F2328"/>
                </a:solidFill>
                <a:effectLst/>
                <a:latin typeface="-apple-system"/>
              </a:rPr>
              <a:t>AI/ML</a:t>
            </a:r>
            <a:r>
              <a:rPr lang="en-US" b="0" i="0">
                <a:solidFill>
                  <a:srgbClr val="1F2328"/>
                </a:solidFill>
                <a:effectLst/>
                <a:latin typeface="-apple-system"/>
              </a:rPr>
              <a:t> model that </a:t>
            </a:r>
            <a:r>
              <a:rPr lang="en-US" b="0" i="1">
                <a:solidFill>
                  <a:srgbClr val="1F2328"/>
                </a:solidFill>
                <a:effectLst/>
                <a:latin typeface="-apple-system"/>
              </a:rPr>
              <a:t>is configured with </a:t>
            </a:r>
            <a:r>
              <a:rPr lang="en-US" b="0" i="0">
                <a:solidFill>
                  <a:srgbClr val="1F2328"/>
                </a:solidFill>
                <a:effectLst/>
                <a:latin typeface="-apple-system"/>
              </a:rPr>
              <a:t>incorrect [</a:t>
            </a:r>
            <a:r>
              <a:rPr lang="en-US" b="0" i="0">
                <a:solidFill>
                  <a:srgbClr val="1F2328"/>
                </a:solidFill>
                <a:effectLst/>
                <a:highlight>
                  <a:srgbClr val="FFFF00"/>
                </a:highlight>
                <a:latin typeface="-apple-system"/>
              </a:rPr>
              <a:t>inference parameters</a:t>
            </a:r>
            <a:r>
              <a:rPr lang="en-US" b="0" i="0">
                <a:solidFill>
                  <a:srgbClr val="1F2328"/>
                </a:solidFill>
                <a:effectLst/>
                <a:latin typeface="-apple-system"/>
              </a:rPr>
              <a:t>] that produce a high frequency of erroneous or unexpected outputs that </a:t>
            </a:r>
            <a:r>
              <a:rPr lang="en-US" b="1" i="0">
                <a:solidFill>
                  <a:srgbClr val="1F2328"/>
                </a:solidFill>
                <a:effectLst/>
                <a:latin typeface="-apple-system"/>
              </a:rPr>
              <a:t>violate the intended security policy</a:t>
            </a:r>
            <a:r>
              <a:rPr lang="en-US" b="0" i="0">
                <a:solidFill>
                  <a:srgbClr val="1F2328"/>
                </a:solidFill>
                <a:effectLst/>
                <a:latin typeface="-apple-system"/>
              </a:rPr>
              <a:t>.</a:t>
            </a:r>
            <a:endParaRPr lang="en-US" b="1">
              <a:solidFill>
                <a:srgbClr val="FF0000"/>
              </a:solidFill>
            </a:endParaRPr>
          </a:p>
        </p:txBody>
      </p:sp>
    </p:spTree>
    <p:extLst>
      <p:ext uri="{BB962C8B-B14F-4D97-AF65-F5344CB8AC3E}">
        <p14:creationId xmlns:p14="http://schemas.microsoft.com/office/powerpoint/2010/main" val="6459361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a:t>Focused on technical nuance</a:t>
            </a:r>
          </a:p>
          <a:p>
            <a:r>
              <a:rPr lang="en-US" sz="2000"/>
              <a:t>Can be multiple sentences or paragraphs</a:t>
            </a:r>
          </a:p>
          <a:p>
            <a:r>
              <a:rPr lang="en-US" sz="2000"/>
              <a:t>Avoid any emphasis on attacks, technical impacts, mitigations, etc.</a:t>
            </a:r>
          </a:p>
          <a:p>
            <a:r>
              <a:rPr lang="en-US" sz="2000"/>
              <a:t>Ext Desc 1: </a:t>
            </a:r>
            <a:r>
              <a:rPr lang="en-US" sz="2000">
                <a:solidFill>
                  <a:srgbClr val="FF0000"/>
                </a:solidFill>
              </a:rPr>
              <a:t>&lt;fill in here&gt;</a:t>
            </a:r>
          </a:p>
          <a:p>
            <a:r>
              <a:rPr lang="en-US" sz="2000"/>
              <a:t>Ext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66</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[Many proposals in CDR; skipping discussion for February 28 meeting]</a:t>
            </a:r>
          </a:p>
        </p:txBody>
      </p:sp>
    </p:spTree>
    <p:extLst>
      <p:ext uri="{BB962C8B-B14F-4D97-AF65-F5344CB8AC3E}">
        <p14:creationId xmlns:p14="http://schemas.microsoft.com/office/powerpoint/2010/main" val="34989700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a:t>(</a:t>
            </a:r>
            <a:r>
              <a:rPr lang="en-US" sz="1800" err="1">
                <a:solidFill>
                  <a:srgbClr val="FF0000"/>
                </a:solidFill>
              </a:rPr>
              <a:t>ChildOf|Other</a:t>
            </a:r>
            <a:r>
              <a:rPr lang="en-US" sz="1800"/>
              <a:t>) </a:t>
            </a:r>
            <a:r>
              <a:rPr lang="en-US" sz="1800">
                <a:solidFill>
                  <a:srgbClr val="FF0000"/>
                </a:solidFill>
              </a:rPr>
              <a:t>CWE-440: Expected Behavior Violation</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ChildOf|Other</a:t>
            </a:r>
            <a:r>
              <a:rPr lang="en-US" sz="1800"/>
              <a:t>) </a:t>
            </a:r>
            <a:r>
              <a:rPr lang="en-US" sz="1800">
                <a:solidFill>
                  <a:srgbClr val="FF0000"/>
                </a:solidFill>
              </a:rPr>
              <a:t>CWE-684: Incorrect Provision of Specified Functionality</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CWE-691: Insufficient Control Flow Management</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endParaRPr lang="en-US" sz="1800"/>
          </a:p>
          <a:p>
            <a:r>
              <a:rPr lang="en-US" sz="1800"/>
              <a:t>(</a:t>
            </a:r>
            <a:r>
              <a:rPr lang="en-US" sz="1800" err="1">
                <a:solidFill>
                  <a:srgbClr val="FF0000"/>
                </a:solidFill>
              </a:rPr>
              <a:t>ChildOf|ParentOf|Other</a:t>
            </a:r>
            <a:r>
              <a:rPr lang="en-US" sz="1800"/>
              <a:t>) proposed – CWE-665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971823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&lt;Generation of inaccurate, misleading, or nonsensical information.&gt;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&lt;Reduced reliability and trust in the application or system utilizing the model&gt;</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028834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a:t>Typical consequences when this weakness appears in real-world vulnerabilities</a:t>
            </a:r>
          </a:p>
          <a:p>
            <a:r>
              <a:rPr lang="en-US" sz="1400" u="sng"/>
              <a:t>Values for Scope</a:t>
            </a:r>
            <a:r>
              <a:rPr lang="en-US" sz="1400"/>
              <a:t>: </a:t>
            </a:r>
            <a:r>
              <a:rPr lang="en-US" sz="1100"/>
              <a:t>Confidentiality, Integrity, Availability, Access Control, Accountability, Authentication, Authorization, Non-Repudiation, Other</a:t>
            </a:r>
          </a:p>
          <a:p>
            <a:r>
              <a:rPr lang="en-US" sz="1400" u="sng"/>
              <a:t>Values for Impact</a:t>
            </a:r>
            <a:r>
              <a:rPr lang="en-US" sz="1400"/>
              <a:t>: </a:t>
            </a:r>
            <a:r>
              <a:rPr lang="en-US" sz="11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3</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&lt;Propagation of errors if outputs are used in critical decision-making processes.&gt;</a:t>
            </a:r>
          </a:p>
          <a:p>
            <a:r>
              <a:rPr lang="en-US" sz="2000" err="1"/>
              <a:t>Conseq</a:t>
            </a:r>
            <a:r>
              <a:rPr lang="en-US" sz="2000"/>
              <a:t> 4</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72186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&lt;robotic / drone control using an LLM&gt;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597833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a:t>
            </a:r>
            <a:r>
              <a:rPr lang="en-US" err="1">
                <a:solidFill>
                  <a:srgbClr val="FF0000"/>
                </a:solidFill>
              </a:rPr>
              <a:t>json</a:t>
            </a:r>
            <a:r>
              <a:rPr lang="en-US">
                <a:solidFill>
                  <a:srgbClr val="FF0000"/>
                </a:solidFill>
              </a:rPr>
              <a:t> formatting not being correct&gt;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84019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042931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Background</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No real changes since its creation</a:t>
            </a:r>
          </a:p>
          <a:p>
            <a:r>
              <a:rPr lang="en-US"/>
              <a:t>Incomplete entry</a:t>
            </a:r>
          </a:p>
          <a:p>
            <a:pPr lvl="1"/>
            <a:r>
              <a:rPr lang="en-US"/>
              <a:t>No examples (observed or demonstrative)</a:t>
            </a:r>
          </a:p>
          <a:p>
            <a:pPr lvl="1"/>
            <a:r>
              <a:rPr lang="en-US"/>
              <a:t>No mitigations</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115378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Detailed Review of CWE-1039</a:t>
            </a:r>
          </a:p>
        </p:txBody>
      </p:sp>
      <p:sp>
        <p:nvSpPr>
          <p:cNvPr id="3" name="Content Placeholder 2">
            <a:extLst>
              <a:ext uri="{FF2B5EF4-FFF2-40B4-BE49-F238E27FC236}">
                <a16:creationId xmlns:a16="http://schemas.microsoft.com/office/drawing/2014/main" id="{3201AC2E-83EC-D238-DA2E-906246DEC965}"/>
              </a:ext>
            </a:extLst>
          </p:cNvPr>
          <p:cNvSpPr>
            <a:spLocks noGrp="1"/>
          </p:cNvSpPr>
          <p:nvPr>
            <p:ph idx="1"/>
          </p:nvPr>
        </p:nvSpPr>
        <p:spPr/>
        <p:txBody>
          <a:bodyPr/>
          <a:lstStyle/>
          <a:p>
            <a:endParaRPr lang="en-US"/>
          </a:p>
          <a:p>
            <a:endParaRPr lang="en-US"/>
          </a:p>
          <a:p>
            <a:r>
              <a:rPr lang="en-US"/>
              <a:t>Marissa Dotter, MITRE</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488245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3AFD-6E2F-BA4A-BC7B-918A89DFD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12DD-543C-3E3D-E0DE-46FA46FDBA5C}"/>
              </a:ext>
            </a:extLst>
          </p:cNvPr>
          <p:cNvSpPr>
            <a:spLocks noGrp="1"/>
          </p:cNvSpPr>
          <p:nvPr>
            <p:ph type="ctrTitle" sz="quarter"/>
          </p:nvPr>
        </p:nvSpPr>
        <p:spPr/>
        <p:txBody>
          <a:bodyPr/>
          <a:lstStyle/>
          <a:p>
            <a:r>
              <a:rPr lang="en-US"/>
              <a:t>Work Planning</a:t>
            </a:r>
          </a:p>
        </p:txBody>
      </p:sp>
      <p:sp>
        <p:nvSpPr>
          <p:cNvPr id="3" name="Slide Number Placeholder 2">
            <a:extLst>
              <a:ext uri="{FF2B5EF4-FFF2-40B4-BE49-F238E27FC236}">
                <a16:creationId xmlns:a16="http://schemas.microsoft.com/office/drawing/2014/main" id="{F0CA8495-F9C7-3E91-8971-8D5B16E46A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49358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AA5-5021-9B2B-5A28-629380182E16}"/>
              </a:ext>
            </a:extLst>
          </p:cNvPr>
          <p:cNvSpPr>
            <a:spLocks noGrp="1"/>
          </p:cNvSpPr>
          <p:nvPr>
            <p:ph type="title"/>
          </p:nvPr>
        </p:nvSpPr>
        <p:spPr/>
        <p:txBody>
          <a:bodyPr/>
          <a:lstStyle/>
          <a:p>
            <a:r>
              <a:rPr lang="en-US"/>
              <a:t>Priorities for Upcoming Modifications</a:t>
            </a:r>
          </a:p>
        </p:txBody>
      </p:sp>
      <p:sp>
        <p:nvSpPr>
          <p:cNvPr id="3" name="Content Placeholder 2">
            <a:extLst>
              <a:ext uri="{FF2B5EF4-FFF2-40B4-BE49-F238E27FC236}">
                <a16:creationId xmlns:a16="http://schemas.microsoft.com/office/drawing/2014/main" id="{7241ED6B-5B9D-AF98-01C0-835D030F15E7}"/>
              </a:ext>
            </a:extLst>
          </p:cNvPr>
          <p:cNvSpPr>
            <a:spLocks noGrp="1"/>
          </p:cNvSpPr>
          <p:nvPr>
            <p:ph idx="1"/>
          </p:nvPr>
        </p:nvSpPr>
        <p:spPr/>
        <p:txBody>
          <a:bodyPr/>
          <a:lstStyle/>
          <a:p>
            <a:r>
              <a:rPr lang="en-US" sz="2000"/>
              <a:t> Should we focus on specific elements in a variety of CWEs?</a:t>
            </a:r>
          </a:p>
          <a:p>
            <a:pPr lvl="1"/>
            <a:r>
              <a:rPr lang="en-US" sz="2000"/>
              <a:t>Observed (real-world) and demonstrative examples</a:t>
            </a:r>
          </a:p>
          <a:p>
            <a:pPr lvl="2"/>
            <a:r>
              <a:rPr lang="en-US" sz="2000" err="1"/>
              <a:t>Obex</a:t>
            </a:r>
            <a:r>
              <a:rPr lang="en-US" sz="2000"/>
              <a:t> can be hard to find; </a:t>
            </a:r>
            <a:r>
              <a:rPr lang="en-US" sz="2000" err="1"/>
              <a:t>demox</a:t>
            </a:r>
            <a:r>
              <a:rPr lang="en-US" sz="2000"/>
              <a:t> are labor-intensive</a:t>
            </a:r>
          </a:p>
          <a:p>
            <a:pPr lvl="1"/>
            <a:r>
              <a:rPr lang="en-US" sz="2000"/>
              <a:t>References</a:t>
            </a:r>
          </a:p>
          <a:p>
            <a:pPr lvl="1"/>
            <a:r>
              <a:rPr lang="en-US" sz="2000"/>
              <a:t>AI-specific mitigations</a:t>
            </a:r>
          </a:p>
          <a:p>
            <a:pPr lvl="1"/>
            <a:r>
              <a:rPr lang="en-US" sz="2000"/>
              <a:t>(examples and references were suggested last year; Steve will dig them up)</a:t>
            </a:r>
          </a:p>
          <a:p>
            <a:r>
              <a:rPr lang="en-US" sz="2000"/>
              <a:t>Should we look for other CWEs that should be tagged as affecting AI/ML?</a:t>
            </a:r>
          </a:p>
          <a:p>
            <a:pPr lvl="1"/>
            <a:r>
              <a:rPr lang="en-US" sz="2000"/>
              <a:t>CWE-912: Hidden Functionality</a:t>
            </a:r>
          </a:p>
          <a:p>
            <a:r>
              <a:rPr lang="en-US" sz="2000"/>
              <a:t>Systematic review of AI-vuln related documents?</a:t>
            </a:r>
          </a:p>
          <a:p>
            <a:pPr lvl="1"/>
            <a:r>
              <a:rPr lang="en-US" sz="2000"/>
              <a:t>OWASP, NIST, ATLAS, etc.</a:t>
            </a:r>
          </a:p>
          <a:p>
            <a:pPr lvl="1"/>
            <a:r>
              <a:rPr lang="en-US" sz="2000"/>
              <a:t>Result: taxonomy mappings and references; but also time-consuming</a:t>
            </a:r>
          </a:p>
          <a:p>
            <a:r>
              <a:rPr lang="en-US" sz="2000"/>
              <a:t>Or... just any kind of modification that people think of along the way?</a:t>
            </a:r>
          </a:p>
          <a:p>
            <a:r>
              <a:rPr lang="en-US" sz="2000"/>
              <a:t>CWE 5.0 (future) – schema changes to support AI-specific data (e.g., lifecycle)</a:t>
            </a:r>
          </a:p>
          <a:p>
            <a:endParaRPr lang="en-US" sz="2000"/>
          </a:p>
        </p:txBody>
      </p:sp>
      <p:sp>
        <p:nvSpPr>
          <p:cNvPr id="4" name="Slide Number Placeholder 3">
            <a:extLst>
              <a:ext uri="{FF2B5EF4-FFF2-40B4-BE49-F238E27FC236}">
                <a16:creationId xmlns:a16="http://schemas.microsoft.com/office/drawing/2014/main" id="{088472EA-B725-8D57-C583-1A3F09C370B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903769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C91-7F89-36DC-4110-71CD5DA1A251}"/>
              </a:ext>
            </a:extLst>
          </p:cNvPr>
          <p:cNvSpPr>
            <a:spLocks noGrp="1"/>
          </p:cNvSpPr>
          <p:nvPr>
            <p:ph type="title"/>
          </p:nvPr>
        </p:nvSpPr>
        <p:spPr/>
        <p:txBody>
          <a:bodyPr/>
          <a:lstStyle/>
          <a:p>
            <a:r>
              <a:rPr lang="en-US"/>
              <a:t>How to Collaborate on Modifications?</a:t>
            </a:r>
          </a:p>
        </p:txBody>
      </p:sp>
      <p:sp>
        <p:nvSpPr>
          <p:cNvPr id="3" name="Content Placeholder 2">
            <a:extLst>
              <a:ext uri="{FF2B5EF4-FFF2-40B4-BE49-F238E27FC236}">
                <a16:creationId xmlns:a16="http://schemas.microsoft.com/office/drawing/2014/main" id="{14CCD47B-51B1-465D-AC6D-E3C7BDA0FD75}"/>
              </a:ext>
            </a:extLst>
          </p:cNvPr>
          <p:cNvSpPr>
            <a:spLocks noGrp="1"/>
          </p:cNvSpPr>
          <p:nvPr>
            <p:ph idx="1"/>
          </p:nvPr>
        </p:nvSpPr>
        <p:spPr/>
        <p:txBody>
          <a:bodyPr/>
          <a:lstStyle/>
          <a:p>
            <a:r>
              <a:rPr lang="en-US"/>
              <a:t>AIWG mailing list</a:t>
            </a:r>
          </a:p>
          <a:p>
            <a:r>
              <a:rPr lang="en-US"/>
              <a:t>Focused discussion in CDR</a:t>
            </a:r>
          </a:p>
          <a:p>
            <a:r>
              <a:rPr lang="en-US"/>
              <a:t>Could be tied to CDR submissions</a:t>
            </a:r>
          </a:p>
          <a:p>
            <a:pPr lvl="1"/>
            <a:r>
              <a:rPr lang="en-US"/>
              <a:t>Similar to how we track new entries</a:t>
            </a:r>
          </a:p>
          <a:p>
            <a:pPr lvl="1"/>
            <a:r>
              <a:rPr lang="en-US"/>
              <a:t>This isn’t essential</a:t>
            </a:r>
          </a:p>
          <a:p>
            <a:endParaRPr lang="en-US"/>
          </a:p>
          <a:p>
            <a:r>
              <a:rPr lang="en-US"/>
              <a:t>Shared document editing?</a:t>
            </a:r>
          </a:p>
          <a:p>
            <a:pPr lvl="1"/>
            <a:r>
              <a:rPr lang="en-US"/>
              <a:t>Many pros and cons</a:t>
            </a:r>
          </a:p>
          <a:p>
            <a:pPr lvl="1"/>
            <a:r>
              <a:rPr lang="en-US"/>
              <a:t>Maybe “review and comment”</a:t>
            </a:r>
          </a:p>
          <a:p>
            <a:pPr lvl="1"/>
            <a:r>
              <a:rPr lang="en-US"/>
              <a:t>Google docs? Or a shared CDR submission file (text-based)</a:t>
            </a:r>
          </a:p>
          <a:p>
            <a:pPr lvl="1"/>
            <a:endParaRPr lang="en-US"/>
          </a:p>
        </p:txBody>
      </p:sp>
      <p:sp>
        <p:nvSpPr>
          <p:cNvPr id="4" name="Slide Number Placeholder 3">
            <a:extLst>
              <a:ext uri="{FF2B5EF4-FFF2-40B4-BE49-F238E27FC236}">
                <a16:creationId xmlns:a16="http://schemas.microsoft.com/office/drawing/2014/main" id="{7698F056-51B1-7769-6040-BD720FAE4C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482340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Upcoming meetings:</a:t>
            </a:r>
          </a:p>
          <a:p>
            <a:pPr lvl="1"/>
            <a:r>
              <a:rPr lang="en-US"/>
              <a:t>Modifications: April 11 (after 4.17 release)</a:t>
            </a:r>
          </a:p>
          <a:p>
            <a:pPr lvl="1"/>
            <a:r>
              <a:rPr lang="en-US"/>
              <a:t>New entries: March 28</a:t>
            </a:r>
          </a:p>
          <a:p>
            <a:endParaRPr lang="en-US"/>
          </a:p>
          <a:p>
            <a:r>
              <a:rPr lang="en-US"/>
              <a:t>Formalize subgroup leadership</a:t>
            </a:r>
          </a:p>
          <a:p>
            <a:endParaRPr lang="en-US"/>
          </a:p>
          <a:p>
            <a:r>
              <a:rPr lang="en-US"/>
              <a:t>Focused modifications for CWE 4.17</a:t>
            </a:r>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16226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81</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be02a106b4df86d93d029eebf2bfba56">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f2297dd396098eeac1a6e48c94c7650f"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50FCDD-08B1-48D8-BB50-7A17E590A5EE}">
  <ds:schemaRefs>
    <ds:schemaRef ds:uri="f3e578be-7961-41e8-91c9-b742ecb60a74"/>
    <ds:schemaRef ds:uri="http://www.w3.org/XML/1998/namespace"/>
    <ds:schemaRef ds:uri="http://purl.org/dc/elements/1.1/"/>
    <ds:schemaRef ds:uri="http://purl.org/dc/terms/"/>
    <ds:schemaRef ds:uri="aff8eeb6-53bf-44bf-a224-fac977cd228b"/>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b5a44311-ed64-4a72-909f-c9dc6973bde2"/>
    <ds:schemaRef ds:uri="http://schemas.microsoft.com/office/2006/metadata/properties"/>
  </ds:schemaRefs>
</ds:datastoreItem>
</file>

<file path=customXml/itemProps2.xml><?xml version="1.0" encoding="utf-8"?>
<ds:datastoreItem xmlns:ds="http://schemas.openxmlformats.org/officeDocument/2006/customXml" ds:itemID="{4466E063-DFC1-40E7-96DC-CB159C8D50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8eeb6-53bf-44bf-a224-fac977cd228b"/>
    <ds:schemaRef ds:uri="f3e578be-7961-41e8-91c9-b742ecb60a74"/>
    <ds:schemaRef ds:uri="b5a44311-ed64-4a72-909f-c9dc6973bd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6BA5C9-2D71-4B86-AE8A-8C0D9BC5FB22}">
  <ds:schemaRefs>
    <ds:schemaRef ds:uri="http://schemas.microsoft.com/sharepoint/v3/contenttype/forms"/>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304</TotalTime>
  <Words>8822</Words>
  <Application>Microsoft Office PowerPoint</Application>
  <PresentationFormat>Widescreen</PresentationFormat>
  <Paragraphs>860</Paragraphs>
  <Slides>95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95</vt:i4>
      </vt:variant>
    </vt:vector>
  </HeadingPairs>
  <TitlesOfParts>
    <vt:vector size="104" baseType="lpstr">
      <vt:lpstr>-apple-system</vt:lpstr>
      <vt:lpstr>Aptos</vt:lpstr>
      <vt:lpstr>Arial</vt:lpstr>
      <vt:lpstr>Calibri</vt:lpstr>
      <vt:lpstr>Helvetica LT Std</vt:lpstr>
      <vt:lpstr>Tahoma</vt:lpstr>
      <vt:lpstr>Verdana</vt:lpstr>
      <vt:lpstr>Wingdings</vt:lpstr>
      <vt:lpstr>mitre-2018</vt:lpstr>
      <vt:lpstr>CWE AI Working Group Meeting: New Entry Subgroup </vt:lpstr>
      <vt:lpstr>Agenda</vt:lpstr>
      <vt:lpstr>Status Updates</vt:lpstr>
      <vt:lpstr>Subgroups </vt:lpstr>
      <vt:lpstr>CWE 4.20 Release</vt:lpstr>
      <vt:lpstr>View-1448: New View for AI/ML</vt:lpstr>
      <vt:lpstr>PowerPoint Presentation</vt:lpstr>
      <vt:lpstr>Content Work</vt:lpstr>
      <vt:lpstr>Framing of AI submission reviews</vt:lpstr>
      <vt:lpstr>Active New Entry Submissions – Ongoing</vt:lpstr>
      <vt:lpstr>Active New Entry Submissions – Ongoing</vt:lpstr>
      <vt:lpstr>Proposal by Sasha Romanosky</vt:lpstr>
      <vt:lpstr>Additional Work</vt:lpstr>
      <vt:lpstr>Moving Forward</vt:lpstr>
      <vt:lpstr>Future</vt:lpstr>
      <vt:lpstr>Other slides (not used in April 3 meeting)</vt:lpstr>
      <vt:lpstr>Deprioritized/Delayed New Entry Submissions</vt:lpstr>
      <vt:lpstr>Bypass of Human Authorization Controls</vt:lpstr>
      <vt:lpstr>Bypass of Human Authorization Controls (Eran Segal, Kodem Security)</vt:lpstr>
      <vt:lpstr>ANSI Injection from LLMs</vt:lpstr>
      <vt:lpstr>Inclusion of ANSI escape codes in LLM tokenizer (Erick Galinkin)</vt:lpstr>
      <vt:lpstr>Issues: Inclusion of ANSI escape codes in LLM tokenizer (Erick Galinkin)</vt:lpstr>
      <vt:lpstr>Demonstrative Examples</vt:lpstr>
      <vt:lpstr>Demonstrative example</vt:lpstr>
      <vt:lpstr>Potential Mitigations Worksheet</vt:lpstr>
      <vt:lpstr>Modes of Introduction Worksheet</vt:lpstr>
      <vt:lpstr>Improper Neutralization of Reserved Special Tokens in AI Instruction Streams</vt:lpstr>
      <vt:lpstr>Improper Neutralization of Reserved Special Tokens in AI Instruction Streams (Robert Shala, Sentry)</vt:lpstr>
      <vt:lpstr>Unstable Internal Model Representations Triggered by Valid Token Sequences </vt:lpstr>
      <vt:lpstr>Unstable Internal Model Representations Triggered by Valid Token Sequences (Kurt Seifried, Cloud Security Alliance)</vt:lpstr>
      <vt:lpstr>Cross-Model Scripting (XMS)</vt:lpstr>
      <vt:lpstr>“Cross-Model Scripting (XMS)” (Felipe Caldas) </vt:lpstr>
      <vt:lpstr>Other Submissions</vt:lpstr>
      <vt:lpstr>Other Submissions</vt:lpstr>
      <vt:lpstr>“Bias in AI Models” (Kurt Seifried) - ES2402-38e20ce6 </vt:lpstr>
      <vt:lpstr>Questions</vt:lpstr>
      <vt:lpstr>“Improper Neutralization of Configurations Used for MCP Client” (Xinpeng Liu) ES2506-e3c78a2a </vt:lpstr>
      <vt:lpstr>New: “Improper Neutralization of Retrieved Content Used in AI Prompt Construction in AI/ML Systems” (Mehmet Yilmaz) </vt:lpstr>
      <vt:lpstr>Delayed: Insufficient Input Validation in Generative AI Applications (Steve / AI WG) ES2405-84711fc4</vt:lpstr>
      <vt:lpstr>Next Steps</vt:lpstr>
      <vt:lpstr>Next Steps</vt:lpstr>
      <vt:lpstr>Backup / Older Slides</vt:lpstr>
      <vt:lpstr>Managing the Workload</vt:lpstr>
      <vt:lpstr>Addressing Submissions in the Working Queue</vt:lpstr>
      <vt:lpstr>PowerPoint Presentation</vt:lpstr>
      <vt:lpstr>New Entry Development: ES2406-9e5fcf10: Insecure Setting of Generative AI/ML Model Inference Parameters </vt:lpstr>
      <vt:lpstr>ES2406-9e5fcf10 Status</vt:lpstr>
      <vt:lpstr>ES2406-9e5fcf10 – Basic Details</vt:lpstr>
      <vt:lpstr>Desc Alt Proposals</vt:lpstr>
      <vt:lpstr>Demonstrative Examples</vt:lpstr>
      <vt:lpstr>Reminder: Demonstrative example structure</vt:lpstr>
      <vt:lpstr>Demonstrative Example 3 – Introductory Text</vt:lpstr>
      <vt:lpstr>Demonstrative Example 3 – “Bad” Code</vt:lpstr>
      <vt:lpstr>Demonstrative example – 3 – Weakness Explanation</vt:lpstr>
      <vt:lpstr>Demonstrative example – 3 – “Good” Code</vt:lpstr>
      <vt:lpstr>Demonstrative example – 3 - Notes</vt:lpstr>
      <vt:lpstr>Modes of Introduction Worksheet</vt:lpstr>
      <vt:lpstr>Potential Mitigations Worksheet</vt:lpstr>
      <vt:lpstr>References Worksheet</vt:lpstr>
      <vt:lpstr>Already-Filled Elements</vt:lpstr>
      <vt:lpstr>Detection Methods Worksheet</vt:lpstr>
      <vt:lpstr>Observed Examples Worksheet</vt:lpstr>
      <vt:lpstr>Maintenance Notes Worksheet</vt:lpstr>
      <vt:lpstr>Discussion: Name</vt:lpstr>
      <vt:lpstr>Discussion: Description</vt:lpstr>
      <vt:lpstr>Discussion: Extended Description</vt:lpstr>
      <vt:lpstr>Relationships Worksheet</vt:lpstr>
      <vt:lpstr>Common Consequences Worksheet</vt:lpstr>
      <vt:lpstr>Common Consequences - 2</vt:lpstr>
      <vt:lpstr>Demonstrative example - 1</vt:lpstr>
      <vt:lpstr>Demonstrative example - 2</vt:lpstr>
      <vt:lpstr>Modifications to CWE-1039: Automated Recognition Mechanism with Inadequate Detection or Handling of Adversarial Input Perturbations</vt:lpstr>
      <vt:lpstr>CWE-1039 Background</vt:lpstr>
      <vt:lpstr>Detailed Review of CWE-1039</vt:lpstr>
      <vt:lpstr>Work Planning</vt:lpstr>
      <vt:lpstr>Priorities for Upcoming Modifications</vt:lpstr>
      <vt:lpstr>How to Collaborate on Modifications?</vt:lpstr>
      <vt:lpstr>Next Steps</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2026-05-01T15:23:30Z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