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73"/>
  </p:notesMasterIdLst>
  <p:handoutMasterIdLst>
    <p:handoutMasterId r:id="rId74"/>
  </p:handoutMasterIdLst>
  <p:sldIdLst>
    <p:sldId id="459" r:id="rId5"/>
    <p:sldId id="475" r:id="rId6"/>
    <p:sldId id="514" r:id="rId7"/>
    <p:sldId id="605" r:id="rId8"/>
    <p:sldId id="587" r:id="rId9"/>
    <p:sldId id="604" r:id="rId10"/>
    <p:sldId id="608" r:id="rId11"/>
    <p:sldId id="606" r:id="rId12"/>
    <p:sldId id="610" r:id="rId13"/>
    <p:sldId id="600" r:id="rId14"/>
    <p:sldId id="611" r:id="rId15"/>
    <p:sldId id="612" r:id="rId16"/>
    <p:sldId id="603" r:id="rId17"/>
    <p:sldId id="607" r:id="rId18"/>
    <p:sldId id="602" r:id="rId19"/>
    <p:sldId id="589" r:id="rId20"/>
    <p:sldId id="588" r:id="rId21"/>
    <p:sldId id="590" r:id="rId22"/>
    <p:sldId id="591" r:id="rId23"/>
    <p:sldId id="595" r:id="rId24"/>
    <p:sldId id="598" r:id="rId25"/>
    <p:sldId id="599" r:id="rId26"/>
    <p:sldId id="594" r:id="rId27"/>
    <p:sldId id="601" r:id="rId28"/>
    <p:sldId id="596" r:id="rId29"/>
    <p:sldId id="597" r:id="rId30"/>
    <p:sldId id="593" r:id="rId31"/>
    <p:sldId id="592" r:id="rId32"/>
    <p:sldId id="586" r:id="rId33"/>
    <p:sldId id="533" r:id="rId34"/>
    <p:sldId id="548" r:id="rId35"/>
    <p:sldId id="542" r:id="rId36"/>
    <p:sldId id="581" r:id="rId37"/>
    <p:sldId id="585" r:id="rId38"/>
    <p:sldId id="552" r:id="rId39"/>
    <p:sldId id="502" r:id="rId40"/>
    <p:sldId id="501" r:id="rId41"/>
    <p:sldId id="493" r:id="rId42"/>
    <p:sldId id="488" r:id="rId43"/>
    <p:sldId id="505" r:id="rId44"/>
    <p:sldId id="496" r:id="rId45"/>
    <p:sldId id="494" r:id="rId46"/>
    <p:sldId id="495" r:id="rId47"/>
    <p:sldId id="503" r:id="rId48"/>
    <p:sldId id="504" r:id="rId49"/>
    <p:sldId id="584" r:id="rId50"/>
    <p:sldId id="551" r:id="rId51"/>
    <p:sldId id="539" r:id="rId52"/>
    <p:sldId id="547" r:id="rId53"/>
    <p:sldId id="541" r:id="rId54"/>
    <p:sldId id="543" r:id="rId55"/>
    <p:sldId id="554" r:id="rId56"/>
    <p:sldId id="561" r:id="rId57"/>
    <p:sldId id="562" r:id="rId58"/>
    <p:sldId id="563" r:id="rId59"/>
    <p:sldId id="564" r:id="rId60"/>
    <p:sldId id="565" r:id="rId61"/>
    <p:sldId id="566" r:id="rId62"/>
    <p:sldId id="567" r:id="rId63"/>
    <p:sldId id="568" r:id="rId64"/>
    <p:sldId id="569" r:id="rId65"/>
    <p:sldId id="570" r:id="rId66"/>
    <p:sldId id="571" r:id="rId67"/>
    <p:sldId id="572" r:id="rId68"/>
    <p:sldId id="573" r:id="rId69"/>
    <p:sldId id="574" r:id="rId70"/>
    <p:sldId id="545" r:id="rId71"/>
    <p:sldId id="534"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D0D14D-3CED-4818-A707-233262957341}" v="79" dt="2026-01-23T16:01:39.9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4660"/>
  </p:normalViewPr>
  <p:slideViewPr>
    <p:cSldViewPr snapToGrid="0">
      <p:cViewPr varScale="1">
        <p:scale>
          <a:sx n="58" d="100"/>
          <a:sy n="58" d="100"/>
        </p:scale>
        <p:origin x="456"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modMainMaster">
      <pc:chgData name="Steven M Christey" userId="f24da668-4c1f-41c0-850e-113e2bdf78cf" providerId="ADAL" clId="{4664C2C3-D7E1-4188-BB25-E34F4B7B5B59}" dt="2026-01-23T16:59:36.758" v="4922" actId="404"/>
      <pc:docMkLst>
        <pc:docMk/>
      </pc:docMkLst>
      <pc:sldChg chg="modSp mod">
        <pc:chgData name="Steven M Christey" userId="f24da668-4c1f-41c0-850e-113e2bdf78cf" providerId="ADAL" clId="{4664C2C3-D7E1-4188-BB25-E34F4B7B5B59}" dt="2026-01-23T04:04:32.836" v="686" actId="20577"/>
        <pc:sldMkLst>
          <pc:docMk/>
          <pc:sldMk cId="1454278300" sldId="459"/>
        </pc:sldMkLst>
        <pc:spChg chg="mod">
          <ac:chgData name="Steven M Christey" userId="f24da668-4c1f-41c0-850e-113e2bdf78cf" providerId="ADAL" clId="{4664C2C3-D7E1-4188-BB25-E34F4B7B5B59}" dt="2026-01-23T04:04:32.836" v="686"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1-23T16:01:01.882" v="4849" actId="20577"/>
        <pc:sldMkLst>
          <pc:docMk/>
          <pc:sldMk cId="915149386" sldId="514"/>
        </pc:sldMkLst>
        <pc:spChg chg="mod">
          <ac:chgData name="Steven M Christey" userId="f24da668-4c1f-41c0-850e-113e2bdf78cf" providerId="ADAL" clId="{4664C2C3-D7E1-4188-BB25-E34F4B7B5B59}" dt="2026-01-23T16:01:01.882" v="4849" actId="20577"/>
          <ac:spMkLst>
            <pc:docMk/>
            <pc:sldMk cId="915149386" sldId="514"/>
            <ac:spMk id="3" creationId="{D4348C02-DFCE-A2E4-D523-D69A254A7D49}"/>
          </ac:spMkLst>
        </pc:spChg>
      </pc:sldChg>
      <pc:sldChg chg="del">
        <pc:chgData name="Steven M Christey" userId="f24da668-4c1f-41c0-850e-113e2bdf78cf" providerId="ADAL" clId="{4664C2C3-D7E1-4188-BB25-E34F4B7B5B59}" dt="2026-01-23T04:06:48.844" v="850" actId="2696"/>
        <pc:sldMkLst>
          <pc:docMk/>
          <pc:sldMk cId="150708501" sldId="533"/>
        </pc:sldMkLst>
      </pc:sldChg>
      <pc:sldChg chg="add">
        <pc:chgData name="Steven M Christey" userId="f24da668-4c1f-41c0-850e-113e2bdf78cf" providerId="ADAL" clId="{4664C2C3-D7E1-4188-BB25-E34F4B7B5B59}" dt="2026-01-23T04:07:01.009" v="851"/>
        <pc:sldMkLst>
          <pc:docMk/>
          <pc:sldMk cId="3682884880" sldId="533"/>
        </pc:sldMkLst>
      </pc:sldChg>
      <pc:sldChg chg="modSp mod">
        <pc:chgData name="Steven M Christey" userId="f24da668-4c1f-41c0-850e-113e2bdf78cf" providerId="ADAL" clId="{4664C2C3-D7E1-4188-BB25-E34F4B7B5B59}" dt="2026-01-23T04:45:31.295" v="2987" actId="20577"/>
        <pc:sldMkLst>
          <pc:docMk/>
          <pc:sldMk cId="1700506989" sldId="587"/>
        </pc:sldMkLst>
        <pc:spChg chg="mod">
          <ac:chgData name="Steven M Christey" userId="f24da668-4c1f-41c0-850e-113e2bdf78cf" providerId="ADAL" clId="{4664C2C3-D7E1-4188-BB25-E34F4B7B5B59}" dt="2026-01-23T04:43:23.933" v="2815" actId="20577"/>
          <ac:spMkLst>
            <pc:docMk/>
            <pc:sldMk cId="1700506989" sldId="587"/>
            <ac:spMk id="2" creationId="{34525669-F833-970A-1992-544784B7D974}"/>
          </ac:spMkLst>
        </pc:spChg>
        <pc:spChg chg="mod">
          <ac:chgData name="Steven M Christey" userId="f24da668-4c1f-41c0-850e-113e2bdf78cf" providerId="ADAL" clId="{4664C2C3-D7E1-4188-BB25-E34F4B7B5B59}" dt="2026-01-23T04:45:31.295" v="2987" actId="20577"/>
          <ac:spMkLst>
            <pc:docMk/>
            <pc:sldMk cId="1700506989" sldId="587"/>
            <ac:spMk id="3" creationId="{7EFAFBE8-5E16-E04A-7DAB-45787517A39B}"/>
          </ac:spMkLst>
        </pc:spChg>
      </pc:sldChg>
      <pc:sldChg chg="modSp mod ord">
        <pc:chgData name="Steven M Christey" userId="f24da668-4c1f-41c0-850e-113e2bdf78cf" providerId="ADAL" clId="{4664C2C3-D7E1-4188-BB25-E34F4B7B5B59}" dt="2026-01-23T16:00:31.788" v="4835" actId="20577"/>
        <pc:sldMkLst>
          <pc:docMk/>
          <pc:sldMk cId="1448064836" sldId="600"/>
        </pc:sldMkLst>
        <pc:spChg chg="mod">
          <ac:chgData name="Steven M Christey" userId="f24da668-4c1f-41c0-850e-113e2bdf78cf" providerId="ADAL" clId="{4664C2C3-D7E1-4188-BB25-E34F4B7B5B59}" dt="2026-01-23T16:00:31.788" v="4835" actId="20577"/>
          <ac:spMkLst>
            <pc:docMk/>
            <pc:sldMk cId="1448064836" sldId="600"/>
            <ac:spMk id="3" creationId="{804254B7-80EC-9B3C-89B4-185759EF5317}"/>
          </ac:spMkLst>
        </pc:spChg>
      </pc:sldChg>
      <pc:sldChg chg="modSp mod ord">
        <pc:chgData name="Steven M Christey" userId="f24da668-4c1f-41c0-850e-113e2bdf78cf" providerId="ADAL" clId="{4664C2C3-D7E1-4188-BB25-E34F4B7B5B59}" dt="2026-01-23T16:04:29.060" v="4921" actId="20577"/>
        <pc:sldMkLst>
          <pc:docMk/>
          <pc:sldMk cId="3102423152" sldId="603"/>
        </pc:sldMkLst>
        <pc:spChg chg="mod">
          <ac:chgData name="Steven M Christey" userId="f24da668-4c1f-41c0-850e-113e2bdf78cf" providerId="ADAL" clId="{4664C2C3-D7E1-4188-BB25-E34F4B7B5B59}" dt="2026-01-23T16:04:29.060" v="4921" actId="20577"/>
          <ac:spMkLst>
            <pc:docMk/>
            <pc:sldMk cId="3102423152" sldId="603"/>
            <ac:spMk id="3" creationId="{192F5E06-C0E8-CAF3-2A5E-F02F582D2968}"/>
          </ac:spMkLst>
        </pc:spChg>
      </pc:sldChg>
      <pc:sldChg chg="modSp add mod">
        <pc:chgData name="Steven M Christey" userId="f24da668-4c1f-41c0-850e-113e2bdf78cf" providerId="ADAL" clId="{4664C2C3-D7E1-4188-BB25-E34F4B7B5B59}" dt="2026-01-23T05:28:56.352" v="3507" actId="20577"/>
        <pc:sldMkLst>
          <pc:docMk/>
          <pc:sldMk cId="4156464104" sldId="604"/>
        </pc:sldMkLst>
        <pc:spChg chg="mod">
          <ac:chgData name="Steven M Christey" userId="f24da668-4c1f-41c0-850e-113e2bdf78cf" providerId="ADAL" clId="{4664C2C3-D7E1-4188-BB25-E34F4B7B5B59}" dt="2026-01-23T04:32:55.376" v="2631" actId="20577"/>
          <ac:spMkLst>
            <pc:docMk/>
            <pc:sldMk cId="4156464104" sldId="604"/>
            <ac:spMk id="2" creationId="{032008F0-3C52-F4A8-548D-35698B43A3CB}"/>
          </ac:spMkLst>
        </pc:spChg>
        <pc:spChg chg="mod">
          <ac:chgData name="Steven M Christey" userId="f24da668-4c1f-41c0-850e-113e2bdf78cf" providerId="ADAL" clId="{4664C2C3-D7E1-4188-BB25-E34F4B7B5B59}" dt="2026-01-23T05:28:56.352" v="3507" actId="20577"/>
          <ac:spMkLst>
            <pc:docMk/>
            <pc:sldMk cId="4156464104" sldId="604"/>
            <ac:spMk id="3" creationId="{C86C0050-3E7E-C9C9-4F7C-DEB4555C2824}"/>
          </ac:spMkLst>
        </pc:spChg>
      </pc:sldChg>
      <pc:sldChg chg="addSp delSp modSp new mod">
        <pc:chgData name="Steven M Christey" userId="f24da668-4c1f-41c0-850e-113e2bdf78cf" providerId="ADAL" clId="{4664C2C3-D7E1-4188-BB25-E34F4B7B5B59}" dt="2026-01-23T04:59:10.440" v="3056" actId="20577"/>
        <pc:sldMkLst>
          <pc:docMk/>
          <pc:sldMk cId="3395146205" sldId="605"/>
        </pc:sldMkLst>
        <pc:spChg chg="mod">
          <ac:chgData name="Steven M Christey" userId="f24da668-4c1f-41c0-850e-113e2bdf78cf" providerId="ADAL" clId="{4664C2C3-D7E1-4188-BB25-E34F4B7B5B59}" dt="2026-01-23T04:59:10.440" v="3056" actId="20577"/>
          <ac:spMkLst>
            <pc:docMk/>
            <pc:sldMk cId="3395146205" sldId="605"/>
            <ac:spMk id="2" creationId="{8F3BEEF8-66F3-2D4B-B2CC-CD30A73943E6}"/>
          </ac:spMkLst>
        </pc:spChg>
        <pc:spChg chg="del">
          <ac:chgData name="Steven M Christey" userId="f24da668-4c1f-41c0-850e-113e2bdf78cf" providerId="ADAL" clId="{4664C2C3-D7E1-4188-BB25-E34F4B7B5B59}" dt="2026-01-23T04:37:02.954" v="2641" actId="931"/>
          <ac:spMkLst>
            <pc:docMk/>
            <pc:sldMk cId="3395146205" sldId="605"/>
            <ac:spMk id="3" creationId="{944D92FD-58F4-622C-F80D-E8C2F8A51F5C}"/>
          </ac:spMkLst>
        </pc:spChg>
        <pc:picChg chg="add mod">
          <ac:chgData name="Steven M Christey" userId="f24da668-4c1f-41c0-850e-113e2bdf78cf" providerId="ADAL" clId="{4664C2C3-D7E1-4188-BB25-E34F4B7B5B59}" dt="2026-01-23T04:37:34.925" v="2664" actId="1076"/>
          <ac:picMkLst>
            <pc:docMk/>
            <pc:sldMk cId="3395146205" sldId="605"/>
            <ac:picMk id="6" creationId="{101C9C1E-28EA-0E5E-C37B-1B01E0678800}"/>
          </ac:picMkLst>
        </pc:picChg>
      </pc:sldChg>
      <pc:sldChg chg="addSp delSp modSp new mod ord">
        <pc:chgData name="Steven M Christey" userId="f24da668-4c1f-41c0-850e-113e2bdf78cf" providerId="ADAL" clId="{4664C2C3-D7E1-4188-BB25-E34F4B7B5B59}" dt="2026-01-23T15:59:22.440" v="4777" actId="20577"/>
        <pc:sldMkLst>
          <pc:docMk/>
          <pc:sldMk cId="46448550" sldId="606"/>
        </pc:sldMkLst>
        <pc:spChg chg="mod">
          <ac:chgData name="Steven M Christey" userId="f24da668-4c1f-41c0-850e-113e2bdf78cf" providerId="ADAL" clId="{4664C2C3-D7E1-4188-BB25-E34F4B7B5B59}" dt="2026-01-23T04:49:16.800" v="3040" actId="20577"/>
          <ac:spMkLst>
            <pc:docMk/>
            <pc:sldMk cId="46448550" sldId="606"/>
            <ac:spMk id="2" creationId="{0C122FBA-23B8-01FA-B203-DD14A8501CD3}"/>
          </ac:spMkLst>
        </pc:spChg>
        <pc:spChg chg="add del mod">
          <ac:chgData name="Steven M Christey" userId="f24da668-4c1f-41c0-850e-113e2bdf78cf" providerId="ADAL" clId="{4664C2C3-D7E1-4188-BB25-E34F4B7B5B59}" dt="2026-01-23T15:59:22.440" v="4777" actId="20577"/>
          <ac:spMkLst>
            <pc:docMk/>
            <pc:sldMk cId="46448550" sldId="606"/>
            <ac:spMk id="3" creationId="{B7C35984-C366-E15E-1546-D1AB0C49AD57}"/>
          </ac:spMkLst>
        </pc:spChg>
        <pc:picChg chg="add mod">
          <ac:chgData name="Steven M Christey" userId="f24da668-4c1f-41c0-850e-113e2bdf78cf" providerId="ADAL" clId="{4664C2C3-D7E1-4188-BB25-E34F4B7B5B59}" dt="2026-01-23T05:10:00.465" v="3092" actId="931"/>
          <ac:picMkLst>
            <pc:docMk/>
            <pc:sldMk cId="46448550" sldId="606"/>
            <ac:picMk id="6" creationId="{7F642998-E8CC-243A-6A9B-DC7149D291D3}"/>
          </ac:picMkLst>
        </pc:picChg>
        <pc:picChg chg="add mod">
          <ac:chgData name="Steven M Christey" userId="f24da668-4c1f-41c0-850e-113e2bdf78cf" providerId="ADAL" clId="{4664C2C3-D7E1-4188-BB25-E34F4B7B5B59}" dt="2026-01-23T05:23:58.897" v="3337" actId="1076"/>
          <ac:picMkLst>
            <pc:docMk/>
            <pc:sldMk cId="46448550" sldId="606"/>
            <ac:picMk id="8" creationId="{57F0156C-964D-8215-4BBF-2CFA0005BB0D}"/>
          </ac:picMkLst>
        </pc:picChg>
      </pc:sldChg>
      <pc:sldChg chg="modSp new mod">
        <pc:chgData name="Steven M Christey" userId="f24da668-4c1f-41c0-850e-113e2bdf78cf" providerId="ADAL" clId="{4664C2C3-D7E1-4188-BB25-E34F4B7B5B59}" dt="2026-01-23T05:25:07.019" v="3390" actId="13926"/>
        <pc:sldMkLst>
          <pc:docMk/>
          <pc:sldMk cId="3714116022" sldId="607"/>
        </pc:sldMkLst>
        <pc:spChg chg="mod">
          <ac:chgData name="Steven M Christey" userId="f24da668-4c1f-41c0-850e-113e2bdf78cf" providerId="ADAL" clId="{4664C2C3-D7E1-4188-BB25-E34F4B7B5B59}" dt="2026-01-23T05:25:07.019" v="3390" actId="13926"/>
          <ac:spMkLst>
            <pc:docMk/>
            <pc:sldMk cId="3714116022" sldId="607"/>
            <ac:spMk id="2" creationId="{1863F2FB-64FB-88CE-FB60-33E93AEAE19D}"/>
          </ac:spMkLst>
        </pc:spChg>
      </pc:sldChg>
      <pc:sldChg chg="modSp new mod">
        <pc:chgData name="Steven M Christey" userId="f24da668-4c1f-41c0-850e-113e2bdf78cf" providerId="ADAL" clId="{4664C2C3-D7E1-4188-BB25-E34F4B7B5B59}" dt="2026-01-23T05:56:58.572" v="3962" actId="20577"/>
        <pc:sldMkLst>
          <pc:docMk/>
          <pc:sldMk cId="4213820352" sldId="608"/>
        </pc:sldMkLst>
        <pc:spChg chg="mod">
          <ac:chgData name="Steven M Christey" userId="f24da668-4c1f-41c0-850e-113e2bdf78cf" providerId="ADAL" clId="{4664C2C3-D7E1-4188-BB25-E34F4B7B5B59}" dt="2026-01-23T05:30:36.903" v="3541" actId="20577"/>
          <ac:spMkLst>
            <pc:docMk/>
            <pc:sldMk cId="4213820352" sldId="608"/>
            <ac:spMk id="2" creationId="{92533D73-56B8-0377-5176-545741F2A2A2}"/>
          </ac:spMkLst>
        </pc:spChg>
        <pc:spChg chg="mod">
          <ac:chgData name="Steven M Christey" userId="f24da668-4c1f-41c0-850e-113e2bdf78cf" providerId="ADAL" clId="{4664C2C3-D7E1-4188-BB25-E34F4B7B5B59}" dt="2026-01-23T05:56:58.572" v="3962" actId="20577"/>
          <ac:spMkLst>
            <pc:docMk/>
            <pc:sldMk cId="4213820352" sldId="608"/>
            <ac:spMk id="3" creationId="{DDD022E7-23DB-3E55-B34F-D445469EE3C6}"/>
          </ac:spMkLst>
        </pc:spChg>
      </pc:sldChg>
      <pc:sldChg chg="addSp delSp modSp new del mod">
        <pc:chgData name="Steven M Christey" userId="f24da668-4c1f-41c0-850e-113e2bdf78cf" providerId="ADAL" clId="{4664C2C3-D7E1-4188-BB25-E34F4B7B5B59}" dt="2026-01-23T15:58:57.758" v="4751" actId="47"/>
        <pc:sldMkLst>
          <pc:docMk/>
          <pc:sldMk cId="3590952698" sldId="609"/>
        </pc:sldMkLst>
        <pc:spChg chg="mod">
          <ac:chgData name="Steven M Christey" userId="f24da668-4c1f-41c0-850e-113e2bdf78cf" providerId="ADAL" clId="{4664C2C3-D7E1-4188-BB25-E34F4B7B5B59}" dt="2026-01-23T06:45:02.011" v="4747" actId="20577"/>
          <ac:spMkLst>
            <pc:docMk/>
            <pc:sldMk cId="3590952698" sldId="609"/>
            <ac:spMk id="2" creationId="{0E4E08B9-0D8B-1D06-3808-CF305887B308}"/>
          </ac:spMkLst>
        </pc:spChg>
        <pc:spChg chg="add del">
          <ac:chgData name="Steven M Christey" userId="f24da668-4c1f-41c0-850e-113e2bdf78cf" providerId="ADAL" clId="{4664C2C3-D7E1-4188-BB25-E34F4B7B5B59}" dt="2026-01-23T05:42:25.354" v="3680" actId="931"/>
          <ac:spMkLst>
            <pc:docMk/>
            <pc:sldMk cId="3590952698" sldId="609"/>
            <ac:spMk id="3" creationId="{F4FF23B1-3058-BB7B-D40B-421D6E5C1908}"/>
          </ac:spMkLst>
        </pc:spChg>
        <pc:picChg chg="add mod">
          <ac:chgData name="Steven M Christey" userId="f24da668-4c1f-41c0-850e-113e2bdf78cf" providerId="ADAL" clId="{4664C2C3-D7E1-4188-BB25-E34F4B7B5B59}" dt="2026-01-23T05:42:14.434" v="3679" actId="931"/>
          <ac:picMkLst>
            <pc:docMk/>
            <pc:sldMk cId="3590952698" sldId="609"/>
            <ac:picMk id="6" creationId="{18FE97D7-402C-EFB0-2347-3BC268E6C144}"/>
          </ac:picMkLst>
        </pc:picChg>
        <pc:picChg chg="add del mod">
          <ac:chgData name="Steven M Christey" userId="f24da668-4c1f-41c0-850e-113e2bdf78cf" providerId="ADAL" clId="{4664C2C3-D7E1-4188-BB25-E34F4B7B5B59}" dt="2026-01-23T05:42:14.434" v="3679" actId="931"/>
          <ac:picMkLst>
            <pc:docMk/>
            <pc:sldMk cId="3590952698" sldId="609"/>
            <ac:picMk id="8" creationId="{49472F5B-86CB-4870-5C47-1DDFE3D2861B}"/>
          </ac:picMkLst>
        </pc:picChg>
        <pc:picChg chg="add mod">
          <ac:chgData name="Steven M Christey" userId="f24da668-4c1f-41c0-850e-113e2bdf78cf" providerId="ADAL" clId="{4664C2C3-D7E1-4188-BB25-E34F4B7B5B59}" dt="2026-01-23T05:45:55.901" v="3739" actId="14100"/>
          <ac:picMkLst>
            <pc:docMk/>
            <pc:sldMk cId="3590952698" sldId="609"/>
            <ac:picMk id="10" creationId="{E4FA1683-29CD-807C-CEA4-DB0A60BBF279}"/>
          </ac:picMkLst>
        </pc:picChg>
        <pc:picChg chg="add mod">
          <ac:chgData name="Steven M Christey" userId="f24da668-4c1f-41c0-850e-113e2bdf78cf" providerId="ADAL" clId="{4664C2C3-D7E1-4188-BB25-E34F4B7B5B59}" dt="2026-01-23T05:46:04.508" v="3741" actId="14100"/>
          <ac:picMkLst>
            <pc:docMk/>
            <pc:sldMk cId="3590952698" sldId="609"/>
            <ac:picMk id="12" creationId="{BFCB2580-C932-ED19-DFFD-B125A2D7005A}"/>
          </ac:picMkLst>
        </pc:picChg>
        <pc:picChg chg="add mod">
          <ac:chgData name="Steven M Christey" userId="f24da668-4c1f-41c0-850e-113e2bdf78cf" providerId="ADAL" clId="{4664C2C3-D7E1-4188-BB25-E34F4B7B5B59}" dt="2026-01-23T05:46:10.316" v="3743" actId="14100"/>
          <ac:picMkLst>
            <pc:docMk/>
            <pc:sldMk cId="3590952698" sldId="609"/>
            <ac:picMk id="14" creationId="{98B39072-0EEE-2AA1-9B68-F7E5CE12823B}"/>
          </ac:picMkLst>
        </pc:picChg>
      </pc:sldChg>
      <pc:sldChg chg="modSp new mod modNotesTx">
        <pc:chgData name="Steven M Christey" userId="f24da668-4c1f-41c0-850e-113e2bdf78cf" providerId="ADAL" clId="{4664C2C3-D7E1-4188-BB25-E34F4B7B5B59}" dt="2026-01-23T06:43:42.227" v="4698" actId="20577"/>
        <pc:sldMkLst>
          <pc:docMk/>
          <pc:sldMk cId="2478383120" sldId="610"/>
        </pc:sldMkLst>
        <pc:spChg chg="mod">
          <ac:chgData name="Steven M Christey" userId="f24da668-4c1f-41c0-850e-113e2bdf78cf" providerId="ADAL" clId="{4664C2C3-D7E1-4188-BB25-E34F4B7B5B59}" dt="2026-01-23T05:47:48.225" v="3776" actId="20577"/>
          <ac:spMkLst>
            <pc:docMk/>
            <pc:sldMk cId="2478383120" sldId="610"/>
            <ac:spMk id="2" creationId="{0DD22B91-CF52-82DC-C95E-47CAC26D2408}"/>
          </ac:spMkLst>
        </pc:spChg>
        <pc:spChg chg="mod">
          <ac:chgData name="Steven M Christey" userId="f24da668-4c1f-41c0-850e-113e2bdf78cf" providerId="ADAL" clId="{4664C2C3-D7E1-4188-BB25-E34F4B7B5B59}" dt="2026-01-23T06:43:42.227" v="4698" actId="20577"/>
          <ac:spMkLst>
            <pc:docMk/>
            <pc:sldMk cId="2478383120" sldId="610"/>
            <ac:spMk id="3" creationId="{29D1F220-4304-EF6E-5E18-0D7B078334D3}"/>
          </ac:spMkLst>
        </pc:spChg>
      </pc:sldChg>
      <pc:sldChg chg="new del">
        <pc:chgData name="Steven M Christey" userId="f24da668-4c1f-41c0-850e-113e2bdf78cf" providerId="ADAL" clId="{4664C2C3-D7E1-4188-BB25-E34F4B7B5B59}" dt="2026-01-23T05:49:28.444" v="3941" actId="47"/>
        <pc:sldMkLst>
          <pc:docMk/>
          <pc:sldMk cId="1850710481" sldId="611"/>
        </pc:sldMkLst>
      </pc:sldChg>
      <pc:sldChg chg="modSp add mod">
        <pc:chgData name="Steven M Christey" userId="f24da668-4c1f-41c0-850e-113e2bdf78cf" providerId="ADAL" clId="{4664C2C3-D7E1-4188-BB25-E34F4B7B5B59}" dt="2026-01-23T16:59:36.758" v="4922" actId="404"/>
        <pc:sldMkLst>
          <pc:docMk/>
          <pc:sldMk cId="3074733896" sldId="611"/>
        </pc:sldMkLst>
        <pc:spChg chg="mod">
          <ac:chgData name="Steven M Christey" userId="f24da668-4c1f-41c0-850e-113e2bdf78cf" providerId="ADAL" clId="{4664C2C3-D7E1-4188-BB25-E34F4B7B5B59}" dt="2026-01-23T16:59:36.758" v="4922" actId="404"/>
          <ac:spMkLst>
            <pc:docMk/>
            <pc:sldMk cId="3074733896" sldId="611"/>
            <ac:spMk id="3" creationId="{586173D8-86D0-A6CE-F891-DD17E0490E50}"/>
          </ac:spMkLst>
        </pc:spChg>
      </pc:sldChg>
      <pc:sldChg chg="add">
        <pc:chgData name="Steven M Christey" userId="f24da668-4c1f-41c0-850e-113e2bdf78cf" providerId="ADAL" clId="{4664C2C3-D7E1-4188-BB25-E34F4B7B5B59}" dt="2026-01-23T16:01:39.975" v="4850"/>
        <pc:sldMkLst>
          <pc:docMk/>
          <pc:sldMk cId="815765649" sldId="612"/>
        </pc:sldMkLst>
      </pc:sldChg>
      <pc:sldChg chg="modSp new del mod">
        <pc:chgData name="Steven M Christey" userId="f24da668-4c1f-41c0-850e-113e2bdf78cf" providerId="ADAL" clId="{4664C2C3-D7E1-4188-BB25-E34F4B7B5B59}" dt="2026-01-23T15:58:10.775" v="4750" actId="47"/>
        <pc:sldMkLst>
          <pc:docMk/>
          <pc:sldMk cId="4224283155" sldId="612"/>
        </pc:sldMkLst>
        <pc:spChg chg="mod">
          <ac:chgData name="Steven M Christey" userId="f24da668-4c1f-41c0-850e-113e2bdf78cf" providerId="ADAL" clId="{4664C2C3-D7E1-4188-BB25-E34F4B7B5B59}" dt="2026-01-23T05:49:24.935" v="3940" actId="20577"/>
          <ac:spMkLst>
            <pc:docMk/>
            <pc:sldMk cId="4224283155" sldId="612"/>
            <ac:spMk id="2" creationId="{79DB6DAF-F210-BB75-46C1-367371C05E68}"/>
          </ac:spMkLst>
        </pc:spChg>
      </pc:sldChg>
      <pc:sldChg chg="modSp add del mod setBg">
        <pc:chgData name="Steven M Christey" userId="f24da668-4c1f-41c0-850e-113e2bdf78cf" providerId="ADAL" clId="{4664C2C3-D7E1-4188-BB25-E34F4B7B5B59}" dt="2026-01-23T15:59:58.659" v="4778" actId="47"/>
        <pc:sldMkLst>
          <pc:docMk/>
          <pc:sldMk cId="3716032907" sldId="613"/>
        </pc:sldMkLst>
        <pc:spChg chg="mod">
          <ac:chgData name="Steven M Christey" userId="f24da668-4c1f-41c0-850e-113e2bdf78cf" providerId="ADAL" clId="{4664C2C3-D7E1-4188-BB25-E34F4B7B5B59}" dt="2026-01-23T06:39:15.702" v="4428" actId="313"/>
          <ac:spMkLst>
            <pc:docMk/>
            <pc:sldMk cId="3716032907" sldId="613"/>
            <ac:spMk id="2" creationId="{CEB8F6D2-CA3B-959E-5F7C-1F476D655233}"/>
          </ac:spMkLst>
        </pc:spChg>
        <pc:picChg chg="mod">
          <ac:chgData name="Steven M Christey" userId="f24da668-4c1f-41c0-850e-113e2bdf78cf" providerId="ADAL" clId="{4664C2C3-D7E1-4188-BB25-E34F4B7B5B59}" dt="2026-01-23T06:40:08.211" v="4467" actId="14861"/>
          <ac:picMkLst>
            <pc:docMk/>
            <pc:sldMk cId="3716032907" sldId="613"/>
            <ac:picMk id="10" creationId="{8372DC45-DCB5-A60C-D7C3-16B07E7E432D}"/>
          </ac:picMkLst>
        </pc:picChg>
        <pc:picChg chg="mod">
          <ac:chgData name="Steven M Christey" userId="f24da668-4c1f-41c0-850e-113e2bdf78cf" providerId="ADAL" clId="{4664C2C3-D7E1-4188-BB25-E34F4B7B5B59}" dt="2026-01-23T06:40:08.211" v="4467" actId="14861"/>
          <ac:picMkLst>
            <pc:docMk/>
            <pc:sldMk cId="3716032907" sldId="613"/>
            <ac:picMk id="12" creationId="{7BA4EE74-6CC3-F1AA-450A-BBF901B26172}"/>
          </ac:picMkLst>
        </pc:picChg>
        <pc:picChg chg="mod">
          <ac:chgData name="Steven M Christey" userId="f24da668-4c1f-41c0-850e-113e2bdf78cf" providerId="ADAL" clId="{4664C2C3-D7E1-4188-BB25-E34F4B7B5B59}" dt="2026-01-23T06:40:08.211" v="4467" actId="14861"/>
          <ac:picMkLst>
            <pc:docMk/>
            <pc:sldMk cId="3716032907" sldId="613"/>
            <ac:picMk id="14" creationId="{AE8100F1-677A-BB9C-3B94-F58C6FFB906B}"/>
          </ac:picMkLst>
        </pc:picChg>
      </pc:sldChg>
      <pc:sldMasterChg chg="setBg modSldLayout">
        <pc:chgData name="Steven M Christey" userId="f24da668-4c1f-41c0-850e-113e2bdf78cf" providerId="ADAL" clId="{4664C2C3-D7E1-4188-BB25-E34F4B7B5B59}" dt="2026-01-23T06:40:50.186" v="4522"/>
        <pc:sldMasterMkLst>
          <pc:docMk/>
          <pc:sldMasterMk cId="571324812" sldId="2147483656"/>
        </pc:sldMasterMkLst>
        <pc:sldLayoutChg chg="modSp mod setBg">
          <pc:chgData name="Steven M Christey" userId="f24da668-4c1f-41c0-850e-113e2bdf78cf" providerId="ADAL" clId="{4664C2C3-D7E1-4188-BB25-E34F4B7B5B59}" dt="2026-01-23T06:40:50.186" v="4522"/>
          <pc:sldLayoutMkLst>
            <pc:docMk/>
            <pc:sldMasterMk cId="571324812" sldId="2147483656"/>
            <pc:sldLayoutMk cId="827350116" sldId="2147483660"/>
          </pc:sldLayoutMkLst>
          <pc:spChg chg="mod">
            <ac:chgData name="Steven M Christey" userId="f24da668-4c1f-41c0-850e-113e2bdf78cf" providerId="ADAL" clId="{4664C2C3-D7E1-4188-BB25-E34F4B7B5B59}" dt="2026-01-23T05:37:21.589" v="3651" actId="20577"/>
            <ac:spMkLst>
              <pc:docMk/>
              <pc:sldMasterMk cId="571324812" sldId="2147483656"/>
              <pc:sldLayoutMk cId="827350116" sldId="2147483660"/>
              <ac:spMk id="7" creationId="{9E70A04F-8616-609D-8225-4AD857445D04}"/>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160288765" sldId="2147483661"/>
          </pc:sldLayoutMkLst>
          <pc:spChg chg="mod">
            <ac:chgData name="Steven M Christey" userId="f24da668-4c1f-41c0-850e-113e2bdf78cf" providerId="ADAL" clId="{4664C2C3-D7E1-4188-BB25-E34F4B7B5B59}" dt="2026-01-23T05:37:27.952" v="3653" actId="20577"/>
            <ac:spMkLst>
              <pc:docMk/>
              <pc:sldMasterMk cId="571324812" sldId="2147483656"/>
              <pc:sldLayoutMk cId="4160288765" sldId="2147483661"/>
              <ac:spMk id="4" creationId="{89A8502D-2927-9695-96E9-8F406706FAB8}"/>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838690321" sldId="2147483662"/>
          </pc:sldLayoutMkLst>
          <pc:spChg chg="mod">
            <ac:chgData name="Steven M Christey" userId="f24da668-4c1f-41c0-850e-113e2bdf78cf" providerId="ADAL" clId="{4664C2C3-D7E1-4188-BB25-E34F4B7B5B59}" dt="2026-01-23T05:37:33.179" v="3655" actId="20577"/>
            <ac:spMkLst>
              <pc:docMk/>
              <pc:sldMasterMk cId="571324812" sldId="2147483656"/>
              <pc:sldLayoutMk cId="838690321" sldId="2147483662"/>
              <ac:spMk id="7" creationId="{C07B8B59-72BB-402C-0548-28CBE824E528}"/>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234124309" sldId="2147483663"/>
          </pc:sldLayoutMkLst>
          <pc:spChg chg="mod">
            <ac:chgData name="Steven M Christey" userId="f24da668-4c1f-41c0-850e-113e2bdf78cf" providerId="ADAL" clId="{4664C2C3-D7E1-4188-BB25-E34F4B7B5B59}" dt="2026-01-23T05:37:39.417" v="3657" actId="20577"/>
            <ac:spMkLst>
              <pc:docMk/>
              <pc:sldMasterMk cId="571324812" sldId="2147483656"/>
              <pc:sldLayoutMk cId="4234124309" sldId="2147483663"/>
              <ac:spMk id="4" creationId="{6DE9556C-601C-A625-8E9C-D685CD0558F6}"/>
            </ac:spMkLst>
          </pc:spChg>
        </pc:sldLayoutChg>
        <pc:sldLayoutChg chg="setBg">
          <pc:chgData name="Steven M Christey" userId="f24da668-4c1f-41c0-850e-113e2bdf78cf" providerId="ADAL" clId="{4664C2C3-D7E1-4188-BB25-E34F4B7B5B59}" dt="2026-01-23T06:40:50.186" v="4522"/>
          <pc:sldLayoutMkLst>
            <pc:docMk/>
            <pc:sldMasterMk cId="571324812" sldId="2147483656"/>
            <pc:sldLayoutMk cId="1217307357" sldId="2147483664"/>
          </pc:sldLayoutMkLst>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115249480" sldId="2147483665"/>
          </pc:sldLayoutMkLst>
          <pc:spChg chg="mod">
            <ac:chgData name="Steven M Christey" userId="f24da668-4c1f-41c0-850e-113e2bdf78cf" providerId="ADAL" clId="{4664C2C3-D7E1-4188-BB25-E34F4B7B5B59}" dt="2026-01-23T05:37:16.509" v="3649" actId="20577"/>
            <ac:spMkLst>
              <pc:docMk/>
              <pc:sldMasterMk cId="571324812" sldId="2147483656"/>
              <pc:sldLayoutMk cId="115249480" sldId="2147483665"/>
              <ac:spMk id="4" creationId="{0547FED3-2C30-F4E6-3048-5675580799A0}"/>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126487817" sldId="2147483666"/>
          </pc:sldLayoutMkLst>
          <pc:spChg chg="mod">
            <ac:chgData name="Steven M Christey" userId="f24da668-4c1f-41c0-850e-113e2bdf78cf" providerId="ADAL" clId="{4664C2C3-D7E1-4188-BB25-E34F4B7B5B59}" dt="2026-01-23T05:37:08.346" v="3647" actId="20577"/>
            <ac:spMkLst>
              <pc:docMk/>
              <pc:sldMasterMk cId="571324812" sldId="2147483656"/>
              <pc:sldLayoutMk cId="4126487817" sldId="2147483666"/>
              <ac:spMk id="20" creationId="{64B792E7-8D76-4EA8-9A42-E8F018734208}"/>
            </ac:spMkLst>
          </pc:spChg>
        </pc:sldLayoutChg>
        <pc:sldLayoutChg chg="modSp mod setBg">
          <pc:chgData name="Steven M Christey" userId="f24da668-4c1f-41c0-850e-113e2bdf78cf" providerId="ADAL" clId="{4664C2C3-D7E1-4188-BB25-E34F4B7B5B59}" dt="2026-01-23T06:40:50.186" v="4522"/>
          <pc:sldLayoutMkLst>
            <pc:docMk/>
            <pc:sldMasterMk cId="571324812" sldId="2147483656"/>
            <pc:sldLayoutMk cId="431849749" sldId="2147483667"/>
          </pc:sldLayoutMkLst>
          <pc:spChg chg="mod">
            <ac:chgData name="Steven M Christey" userId="f24da668-4c1f-41c0-850e-113e2bdf78cf" providerId="ADAL" clId="{4664C2C3-D7E1-4188-BB25-E34F4B7B5B59}" dt="2026-01-23T05:37:03.404" v="3645" actId="20577"/>
            <ac:spMkLst>
              <pc:docMk/>
              <pc:sldMasterMk cId="571324812" sldId="2147483656"/>
              <pc:sldLayoutMk cId="431849749" sldId="2147483667"/>
              <ac:spMk id="6" creationId="{DC740274-008C-0C73-052B-7BFB85A6125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1/23/2026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
            </a:r>
          </a:p>
        </p:txBody>
      </p:sp>
      <p:sp>
        <p:nvSpPr>
          <p:cNvPr id="4" name="Slide Number Placeholder 3"/>
          <p:cNvSpPr>
            <a:spLocks noGrp="1"/>
          </p:cNvSpPr>
          <p:nvPr>
            <p:ph type="sldNum" sz="quarter" idx="5"/>
          </p:nvPr>
        </p:nvSpPr>
        <p:spPr/>
        <p:txBody>
          <a:bodyPr/>
          <a:lstStyle/>
          <a:p>
            <a:fld id="{D58F3C89-9E49-4851-A18A-DAECD34FD650}" type="slidenum">
              <a:rPr lang="en-US" smtClean="0"/>
              <a:t>9</a:t>
            </a:fld>
            <a:endParaRPr lang="en-US"/>
          </a:p>
        </p:txBody>
      </p:sp>
    </p:spTree>
    <p:extLst>
      <p:ext uri="{BB962C8B-B14F-4D97-AF65-F5344CB8AC3E}">
        <p14:creationId xmlns:p14="http://schemas.microsoft.com/office/powerpoint/2010/main" val="9544261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January 23, 2025</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getting examples of “general” CWEs that affect AI/ML products</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sz="2000" dirty="0">
                <a:latin typeface="Tahoma"/>
                <a:ea typeface="Tahoma"/>
                <a:cs typeface="Tahoma"/>
              </a:rPr>
              <a:t>Self-realized co-chair: Steve Christey Coley</a:t>
            </a:r>
          </a:p>
          <a:p>
            <a:pPr marL="685922" lvl="1" indent="-307975"/>
            <a:r>
              <a:rPr lang="en-US" sz="2000" dirty="0">
                <a:latin typeface="Tahoma"/>
                <a:ea typeface="Tahoma"/>
                <a:cs typeface="Tahoma"/>
              </a:rPr>
              <a:t>More of an admission of responsibility</a:t>
            </a:r>
          </a:p>
          <a:p>
            <a:pPr marL="685922" lvl="1" indent="-307975"/>
            <a:r>
              <a:rPr lang="en-US" sz="2000" dirty="0">
                <a:latin typeface="Tahoma"/>
                <a:ea typeface="Tahoma"/>
                <a:cs typeface="Tahoma"/>
              </a:rPr>
              <a:t>Raise your hands for objections</a:t>
            </a:r>
          </a:p>
          <a:p>
            <a:pPr marL="307975" indent="-307975"/>
            <a:r>
              <a:rPr lang="en-US" sz="2000" dirty="0">
                <a:latin typeface="Tahoma"/>
                <a:ea typeface="Tahoma"/>
                <a:cs typeface="Tahoma"/>
              </a:rPr>
              <a:t>Any new subgroup members? Introductions</a:t>
            </a:r>
          </a:p>
          <a:p>
            <a:pPr marL="307975" indent="-307975"/>
            <a:r>
              <a:rPr lang="en-US" sz="2000" dirty="0">
                <a:latin typeface="Tahoma"/>
                <a:ea typeface="Tahoma"/>
                <a:cs typeface="Tahoma"/>
              </a:rPr>
              <a:t>CWE 4.19 released: December 4, 2025</a:t>
            </a:r>
          </a:p>
          <a:p>
            <a:pPr marL="307975" indent="-307975"/>
            <a:r>
              <a:rPr lang="en-US" sz="2000" dirty="0">
                <a:latin typeface="Tahoma"/>
                <a:ea typeface="Tahoma"/>
                <a:cs typeface="Tahoma"/>
              </a:rPr>
              <a:t>CWE 4.19.1 released: January 21, 2025</a:t>
            </a:r>
          </a:p>
          <a:p>
            <a:pPr marL="685922" lvl="1" indent="-307975"/>
            <a:r>
              <a:rPr lang="en-US" sz="2000" dirty="0">
                <a:latin typeface="Tahoma"/>
                <a:ea typeface="Tahoma"/>
                <a:cs typeface="Tahoma"/>
              </a:rPr>
              <a:t>“oops” (Top 25 corrections)</a:t>
            </a:r>
          </a:p>
          <a:p>
            <a:pPr marL="307975" indent="-307975"/>
            <a:r>
              <a:rPr lang="en-US" sz="2000" dirty="0">
                <a:latin typeface="Tahoma"/>
                <a:ea typeface="Tahoma"/>
                <a:cs typeface="Tahoma"/>
              </a:rPr>
              <a:t>AI-related CDR</a:t>
            </a:r>
          </a:p>
          <a:p>
            <a:pPr marL="685922" lvl="1" indent="-307975"/>
            <a:r>
              <a:rPr lang="en-US" sz="2000" dirty="0">
                <a:latin typeface="Tahoma"/>
                <a:ea typeface="Tahoma"/>
                <a:cs typeface="Tahoma"/>
              </a:rPr>
              <a:t>5 to 7 AI-related submissions; at least one new submission</a:t>
            </a:r>
          </a:p>
          <a:p>
            <a:pPr marL="307975" indent="-307975"/>
            <a:r>
              <a:rPr lang="en-US" sz="2000" dirty="0">
                <a:latin typeface="Tahoma"/>
                <a:ea typeface="Tahoma"/>
                <a:cs typeface="Tahoma"/>
              </a:rPr>
              <a:t>To do: addition of new subgroup leaders</a:t>
            </a:r>
          </a:p>
          <a:p>
            <a:pPr marL="685287" lvl="1" indent="-303530"/>
            <a:r>
              <a:rPr lang="en-US" sz="2000" dirty="0"/>
              <a:t>Erick, Steve, Alec to follow up with volunteers</a:t>
            </a:r>
          </a:p>
          <a:p>
            <a:pPr marL="685287" lvl="1" indent="-303530"/>
            <a:r>
              <a:rPr lang="en-US" sz="2000" dirty="0"/>
              <a:t>Target: end of </a:t>
            </a:r>
            <a:r>
              <a:rPr lang="en-US" sz="2000" strike="sngStrike" dirty="0"/>
              <a:t>May</a:t>
            </a:r>
            <a:r>
              <a:rPr lang="en-US" sz="2000" dirty="0"/>
              <a:t> </a:t>
            </a:r>
            <a:r>
              <a:rPr lang="en-US" sz="2000" strike="sngStrike" dirty="0"/>
              <a:t>June</a:t>
            </a:r>
            <a:r>
              <a:rPr lang="en-US" sz="2000" dirty="0"/>
              <a:t> (troll-note to Erick and Steve: c’mon now)</a:t>
            </a:r>
            <a:endParaRPr lang="en-US" sz="2000" strike="sngStrike" dirty="0"/>
          </a:p>
          <a:p>
            <a:pPr marL="685800" lvl="1" indent="-303530"/>
            <a:endParaRPr lang="en-US" sz="2000"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EEF8-66F3-2D4B-B2CC-CD30A73943E6}"/>
              </a:ext>
            </a:extLst>
          </p:cNvPr>
          <p:cNvSpPr>
            <a:spLocks noGrp="1"/>
          </p:cNvSpPr>
          <p:nvPr>
            <p:ph type="title"/>
          </p:nvPr>
        </p:nvSpPr>
        <p:spPr/>
        <p:txBody>
          <a:bodyPr/>
          <a:lstStyle/>
          <a:p>
            <a:r>
              <a:rPr lang="en-US" dirty="0"/>
              <a:t>Summary of Last Modification Meeting?</a:t>
            </a:r>
            <a:br>
              <a:rPr lang="en-US" dirty="0"/>
            </a:br>
            <a:r>
              <a:rPr lang="en-US" dirty="0"/>
              <a:t>(November 2025)</a:t>
            </a:r>
          </a:p>
        </p:txBody>
      </p:sp>
      <p:pic>
        <p:nvPicPr>
          <p:cNvPr id="6" name="Content Placeholder 5">
            <a:extLst>
              <a:ext uri="{FF2B5EF4-FFF2-40B4-BE49-F238E27FC236}">
                <a16:creationId xmlns:a16="http://schemas.microsoft.com/office/drawing/2014/main" id="{101C9C1E-28EA-0E5E-C37B-1B01E0678800}"/>
              </a:ext>
            </a:extLst>
          </p:cNvPr>
          <p:cNvPicPr>
            <a:picLocks noGrp="1" noChangeAspect="1"/>
          </p:cNvPicPr>
          <p:nvPr>
            <p:ph idx="1"/>
          </p:nvPr>
        </p:nvPicPr>
        <p:blipFill>
          <a:blip r:embed="rId2"/>
          <a:stretch>
            <a:fillRect/>
          </a:stretch>
        </p:blipFill>
        <p:spPr>
          <a:xfrm>
            <a:off x="1478071" y="1346094"/>
            <a:ext cx="8442543" cy="4753684"/>
          </a:xfrm>
        </p:spPr>
      </p:pic>
      <p:sp>
        <p:nvSpPr>
          <p:cNvPr id="4" name="Slide Number Placeholder 3">
            <a:extLst>
              <a:ext uri="{FF2B5EF4-FFF2-40B4-BE49-F238E27FC236}">
                <a16:creationId xmlns:a16="http://schemas.microsoft.com/office/drawing/2014/main" id="{40E9ED6C-CC16-29FA-29A6-63345EECF55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5146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sz="2800" dirty="0"/>
              <a:t>What We Did (s/We/What Steve Thought We/): 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sz="2000" dirty="0"/>
              <a:t>Original Situation</a:t>
            </a:r>
          </a:p>
          <a:p>
            <a:pPr lvl="1"/>
            <a:r>
              <a:rPr lang="en-US" sz="2000" dirty="0"/>
              <a:t>Since AI/ML is software, it could be subject to nearly all 900+ weaknesses</a:t>
            </a:r>
          </a:p>
          <a:p>
            <a:pPr lvl="2"/>
            <a:r>
              <a:rPr lang="en-US" sz="2000" dirty="0"/>
              <a:t>As of CWE 4.19.1, there are 17 CWEs tagged with AI/ML label</a:t>
            </a:r>
          </a:p>
          <a:p>
            <a:pPr lvl="1"/>
            <a:r>
              <a:rPr lang="en-US" sz="2000" dirty="0"/>
              <a:t>3 to 5 AI-only entries? Can’t count ‘</a:t>
            </a:r>
            <a:r>
              <a:rPr lang="en-US" sz="2000" dirty="0" err="1"/>
              <a:t>em</a:t>
            </a:r>
            <a:r>
              <a:rPr lang="en-US" sz="2000" dirty="0"/>
              <a:t> at the moment, schema-wise</a:t>
            </a:r>
          </a:p>
          <a:p>
            <a:pPr lvl="1"/>
            <a:r>
              <a:rPr lang="en-US" sz="2000" dirty="0"/>
              <a:t>Do data-science related CWEs count as “AI”?</a:t>
            </a:r>
          </a:p>
          <a:p>
            <a:r>
              <a:rPr lang="en-US" sz="2000" dirty="0"/>
              <a:t>Original Goal: determine other general CWEs that seem to appear frequently in AI/ML components</a:t>
            </a:r>
          </a:p>
          <a:p>
            <a:r>
              <a:rPr lang="en-US" sz="2000" dirty="0"/>
              <a:t>Original Plan</a:t>
            </a:r>
          </a:p>
          <a:p>
            <a:pPr lvl="1"/>
            <a:r>
              <a:rPr lang="en-US" sz="2000" dirty="0"/>
              <a:t>(Success) identify AI/ML related products</a:t>
            </a:r>
          </a:p>
          <a:p>
            <a:pPr lvl="1"/>
            <a:r>
              <a:rPr lang="en-US" sz="2000" dirty="0"/>
              <a:t>(Success) Search NVD for descriptions for those products</a:t>
            </a:r>
          </a:p>
          <a:p>
            <a:pPr lvl="1"/>
            <a:r>
              <a:rPr lang="en-US" sz="2000" dirty="0"/>
              <a:t>(fail?) Find observed examples!</a:t>
            </a:r>
          </a:p>
          <a:p>
            <a:pPr lvl="2"/>
            <a:r>
              <a:rPr lang="en-US" sz="2000" dirty="0"/>
              <a:t>AI modification subgroup: “this is a Misuse Of Our Time And Expertise”</a:t>
            </a:r>
          </a:p>
          <a:p>
            <a:pPr lvl="3"/>
            <a:r>
              <a:rPr lang="en-US" sz="2000" dirty="0"/>
              <a:t>Steve: huh. Interesting.</a:t>
            </a:r>
          </a:p>
          <a:p>
            <a:endParaRPr lang="en-US" sz="2000"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FEE7-2FBA-4418-CF6F-82504B4C4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008F0-3C52-F4A8-548D-35698B43A3CB}"/>
              </a:ext>
            </a:extLst>
          </p:cNvPr>
          <p:cNvSpPr>
            <a:spLocks noGrp="1"/>
          </p:cNvSpPr>
          <p:nvPr>
            <p:ph type="title"/>
          </p:nvPr>
        </p:nvSpPr>
        <p:spPr/>
        <p:txBody>
          <a:bodyPr/>
          <a:lstStyle/>
          <a:p>
            <a:r>
              <a:rPr lang="en-US" sz="2800" dirty="0"/>
              <a:t>New Plan? Based on Feedback</a:t>
            </a:r>
          </a:p>
        </p:txBody>
      </p:sp>
      <p:sp>
        <p:nvSpPr>
          <p:cNvPr id="3" name="Content Placeholder 2">
            <a:extLst>
              <a:ext uri="{FF2B5EF4-FFF2-40B4-BE49-F238E27FC236}">
                <a16:creationId xmlns:a16="http://schemas.microsoft.com/office/drawing/2014/main" id="{C86C0050-3E7E-C9C9-4F7C-DEB4555C2824}"/>
              </a:ext>
            </a:extLst>
          </p:cNvPr>
          <p:cNvSpPr>
            <a:spLocks noGrp="1"/>
          </p:cNvSpPr>
          <p:nvPr>
            <p:ph idx="1"/>
          </p:nvPr>
        </p:nvSpPr>
        <p:spPr/>
        <p:txBody>
          <a:bodyPr/>
          <a:lstStyle/>
          <a:p>
            <a:r>
              <a:rPr lang="en-US" sz="1600" dirty="0"/>
              <a:t>New Plan (?)</a:t>
            </a:r>
          </a:p>
          <a:p>
            <a:pPr lvl="1"/>
            <a:r>
              <a:rPr lang="en-US" sz="1600" dirty="0"/>
              <a:t>Find </a:t>
            </a:r>
            <a:r>
              <a:rPr lang="en-US" sz="1600" dirty="0" err="1"/>
              <a:t>obex</a:t>
            </a:r>
            <a:r>
              <a:rPr lang="en-US" sz="1600" dirty="0"/>
              <a:t> for </a:t>
            </a:r>
            <a:r>
              <a:rPr lang="en-US" sz="1600" b="1" dirty="0"/>
              <a:t>AI-</a:t>
            </a:r>
            <a:r>
              <a:rPr lang="en-US" sz="1600" b="1" u="sng" dirty="0"/>
              <a:t>specific</a:t>
            </a:r>
            <a:r>
              <a:rPr lang="en-US" sz="1600" dirty="0"/>
              <a:t> weaknesses</a:t>
            </a:r>
          </a:p>
          <a:p>
            <a:pPr lvl="1"/>
            <a:r>
              <a:rPr lang="en-US" sz="1600" dirty="0"/>
              <a:t>But… but… this is the Modification subgroup?</a:t>
            </a:r>
          </a:p>
          <a:p>
            <a:pPr lvl="1"/>
            <a:r>
              <a:rPr lang="en-US" sz="1600" dirty="0"/>
              <a:t>We have Observed Examples (and Demonstrative Examples) for each AI-related CWE so far</a:t>
            </a:r>
          </a:p>
          <a:p>
            <a:r>
              <a:rPr lang="en-US" sz="1600" dirty="0"/>
              <a:t>Current Context</a:t>
            </a:r>
          </a:p>
          <a:p>
            <a:pPr lvl="1"/>
            <a:r>
              <a:rPr lang="en-US" sz="1600" dirty="0"/>
              <a:t>This WG brainstormed names of many products related to AI</a:t>
            </a:r>
          </a:p>
          <a:p>
            <a:pPr lvl="2"/>
            <a:r>
              <a:rPr lang="en-US" sz="1600" dirty="0"/>
              <a:t>Many were AI-supporting products (data science), or products that used AI</a:t>
            </a:r>
          </a:p>
          <a:p>
            <a:pPr lvl="1"/>
            <a:r>
              <a:rPr lang="en-US" sz="1600" dirty="0"/>
              <a:t>CWE Team searched recent CVE descriptions for AI-related products</a:t>
            </a:r>
          </a:p>
          <a:p>
            <a:pPr lvl="2"/>
            <a:r>
              <a:rPr lang="en-US" sz="1600" dirty="0"/>
              <a:t>866 matches as of last count</a:t>
            </a:r>
          </a:p>
          <a:p>
            <a:pPr lvl="3"/>
            <a:r>
              <a:rPr lang="en-US" sz="1600" dirty="0">
                <a:solidFill>
                  <a:srgbClr val="C00000"/>
                </a:solidFill>
              </a:rPr>
              <a:t>58 are NVD-CWE-</a:t>
            </a:r>
            <a:r>
              <a:rPr lang="en-US" sz="1600" dirty="0" err="1">
                <a:solidFill>
                  <a:srgbClr val="C00000"/>
                </a:solidFill>
              </a:rPr>
              <a:t>noinfo</a:t>
            </a:r>
            <a:endParaRPr lang="en-US" sz="1600" dirty="0">
              <a:solidFill>
                <a:srgbClr val="C00000"/>
              </a:solidFill>
            </a:endParaRPr>
          </a:p>
          <a:p>
            <a:pPr lvl="3"/>
            <a:r>
              <a:rPr lang="en-US" sz="1600" dirty="0">
                <a:solidFill>
                  <a:srgbClr val="C00000"/>
                </a:solidFill>
              </a:rPr>
              <a:t>36 others have no CWE (and, 17 “NVD-CWE-Other”)</a:t>
            </a:r>
          </a:p>
          <a:p>
            <a:pPr lvl="2"/>
            <a:r>
              <a:rPr lang="en-US" sz="1600" dirty="0"/>
              <a:t>164 unique products or product combinations</a:t>
            </a:r>
          </a:p>
          <a:p>
            <a:pPr lvl="3"/>
            <a:r>
              <a:rPr lang="en-US" sz="1600" dirty="0"/>
              <a:t>Many products flagged because LLM/GPT/etc. was in the name</a:t>
            </a:r>
          </a:p>
          <a:p>
            <a:pPr lvl="2"/>
            <a:r>
              <a:rPr lang="en-US" sz="1600" dirty="0"/>
              <a:t>NVD’s CPE data was incomplete.</a:t>
            </a:r>
          </a:p>
          <a:p>
            <a:pPr lvl="3"/>
            <a:r>
              <a:rPr lang="en-US" sz="1600" dirty="0"/>
              <a:t>Ideas on using AI to infer CPEs? (it’s been done)</a:t>
            </a:r>
          </a:p>
          <a:p>
            <a:endParaRPr lang="en-US" sz="1600" dirty="0"/>
          </a:p>
          <a:p>
            <a:endParaRPr lang="en-US" sz="1600" dirty="0"/>
          </a:p>
        </p:txBody>
      </p:sp>
      <p:sp>
        <p:nvSpPr>
          <p:cNvPr id="4" name="Slide Number Placeholder 3">
            <a:extLst>
              <a:ext uri="{FF2B5EF4-FFF2-40B4-BE49-F238E27FC236}">
                <a16:creationId xmlns:a16="http://schemas.microsoft.com/office/drawing/2014/main" id="{2BBA4BEF-FFD1-7AFA-B812-C047748FFA8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56464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3D73-56B8-0377-5176-545741F2A2A2}"/>
              </a:ext>
            </a:extLst>
          </p:cNvPr>
          <p:cNvSpPr>
            <a:spLocks noGrp="1"/>
          </p:cNvSpPr>
          <p:nvPr>
            <p:ph type="title"/>
          </p:nvPr>
        </p:nvSpPr>
        <p:spPr/>
        <p:txBody>
          <a:bodyPr/>
          <a:lstStyle/>
          <a:p>
            <a:r>
              <a:rPr lang="en-US" dirty="0"/>
              <a:t>Interesting CWEs (biased human sample)</a:t>
            </a:r>
          </a:p>
        </p:txBody>
      </p:sp>
      <p:sp>
        <p:nvSpPr>
          <p:cNvPr id="3" name="Content Placeholder 2">
            <a:extLst>
              <a:ext uri="{FF2B5EF4-FFF2-40B4-BE49-F238E27FC236}">
                <a16:creationId xmlns:a16="http://schemas.microsoft.com/office/drawing/2014/main" id="{DDD022E7-23DB-3E55-B34F-D445469EE3C6}"/>
              </a:ext>
            </a:extLst>
          </p:cNvPr>
          <p:cNvSpPr>
            <a:spLocks noGrp="1"/>
          </p:cNvSpPr>
          <p:nvPr>
            <p:ph idx="1"/>
          </p:nvPr>
        </p:nvSpPr>
        <p:spPr/>
        <p:txBody>
          <a:bodyPr/>
          <a:lstStyle/>
          <a:p>
            <a:r>
              <a:rPr lang="en-US" dirty="0"/>
              <a:t>Where did AI learn this? Or is it just regular software errors?</a:t>
            </a:r>
          </a:p>
          <a:p>
            <a:pPr lvl="1"/>
            <a:r>
              <a:rPr lang="en-US" dirty="0"/>
              <a:t>53 CWE-617: Reachable Assertion</a:t>
            </a:r>
          </a:p>
          <a:p>
            <a:pPr lvl="1"/>
            <a:r>
              <a:rPr lang="en-US" dirty="0"/>
              <a:t>53 CWE-20: Improper Input Validation</a:t>
            </a:r>
          </a:p>
          <a:p>
            <a:pPr lvl="1"/>
            <a:r>
              <a:rPr lang="en-US" dirty="0"/>
              <a:t>38 CWE-862: Missing Authorization</a:t>
            </a:r>
          </a:p>
          <a:p>
            <a:pPr lvl="1"/>
            <a:r>
              <a:rPr lang="en-US" dirty="0"/>
              <a:t>4 CWE-475: Undefined Behavior for Input to API</a:t>
            </a:r>
          </a:p>
          <a:p>
            <a:pPr lvl="1"/>
            <a:r>
              <a:rPr lang="en-US" dirty="0"/>
              <a:t>3 CWE-840: Business Logic Errors</a:t>
            </a:r>
          </a:p>
          <a:p>
            <a:pPr lvl="2"/>
            <a:r>
              <a:rPr lang="en-US" dirty="0"/>
              <a:t>Not even a weakness! (it’s a category)</a:t>
            </a:r>
          </a:p>
          <a:p>
            <a:pPr lvl="1"/>
            <a:endParaRPr lang="en-US" dirty="0"/>
          </a:p>
          <a:p>
            <a:r>
              <a:rPr lang="en-US" dirty="0">
                <a:solidFill>
                  <a:srgbClr val="C00000"/>
                </a:solidFill>
              </a:rPr>
              <a:t>1 CWE-1039: Inadequate Detection or Handling of Adversarial Input Perturbations in Automated Recognition Mechanism</a:t>
            </a:r>
          </a:p>
          <a:p>
            <a:r>
              <a:rPr lang="en-US" dirty="0">
                <a:solidFill>
                  <a:srgbClr val="C00000"/>
                </a:solidFill>
              </a:rPr>
              <a:t>1 CWE-1426: Improper Validation of Generative AI Output</a:t>
            </a:r>
          </a:p>
        </p:txBody>
      </p:sp>
      <p:sp>
        <p:nvSpPr>
          <p:cNvPr id="4" name="Slide Number Placeholder 3">
            <a:extLst>
              <a:ext uri="{FF2B5EF4-FFF2-40B4-BE49-F238E27FC236}">
                <a16:creationId xmlns:a16="http://schemas.microsoft.com/office/drawing/2014/main" id="{5766C86D-47D0-78EE-1755-04E8275AB3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13820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22FBA-23B8-01FA-B203-DD14A8501CD3}"/>
              </a:ext>
            </a:extLst>
          </p:cNvPr>
          <p:cNvSpPr>
            <a:spLocks noGrp="1"/>
          </p:cNvSpPr>
          <p:nvPr>
            <p:ph type="title"/>
          </p:nvPr>
        </p:nvSpPr>
        <p:spPr/>
        <p:txBody>
          <a:bodyPr/>
          <a:lstStyle/>
          <a:p>
            <a:r>
              <a:rPr lang="en-US" dirty="0"/>
              <a:t>Could We? Should We? Memory…</a:t>
            </a:r>
          </a:p>
        </p:txBody>
      </p:sp>
      <p:sp>
        <p:nvSpPr>
          <p:cNvPr id="3" name="Content Placeholder 2">
            <a:extLst>
              <a:ext uri="{FF2B5EF4-FFF2-40B4-BE49-F238E27FC236}">
                <a16:creationId xmlns:a16="http://schemas.microsoft.com/office/drawing/2014/main" id="{B7C35984-C366-E15E-1546-D1AB0C49AD57}"/>
              </a:ext>
            </a:extLst>
          </p:cNvPr>
          <p:cNvSpPr>
            <a:spLocks noGrp="1"/>
          </p:cNvSpPr>
          <p:nvPr>
            <p:ph idx="1"/>
          </p:nvPr>
        </p:nvSpPr>
        <p:spPr>
          <a:xfrm>
            <a:off x="616449" y="1371601"/>
            <a:ext cx="4812078" cy="4794737"/>
          </a:xfrm>
        </p:spPr>
        <p:txBody>
          <a:bodyPr/>
          <a:lstStyle/>
          <a:p>
            <a:r>
              <a:rPr lang="en-US" dirty="0"/>
              <a:t>We’ve only</a:t>
            </a:r>
          </a:p>
          <a:p>
            <a:r>
              <a:rPr lang="en-US" dirty="0"/>
              <a:t>Been looking at C</a:t>
            </a:r>
            <a:r>
              <a:rPr lang="en-US" dirty="0">
                <a:highlight>
                  <a:srgbClr val="FFFF00"/>
                </a:highlight>
              </a:rPr>
              <a:t>B</a:t>
            </a:r>
            <a:r>
              <a:rPr lang="en-US" dirty="0"/>
              <a:t>E</a:t>
            </a:r>
          </a:p>
          <a:p>
            <a:pPr lvl="1"/>
            <a:r>
              <a:rPr lang="en-US" dirty="0"/>
              <a:t>That’s how auto-transcripts spell it</a:t>
            </a:r>
          </a:p>
          <a:p>
            <a:r>
              <a:rPr lang="en-US" dirty="0"/>
              <a:t>But it’s only some… times!</a:t>
            </a:r>
          </a:p>
          <a:p>
            <a:r>
              <a:rPr lang="en-US" dirty="0"/>
              <a:t>So we get laughter</a:t>
            </a:r>
          </a:p>
          <a:p>
            <a:pPr lvl="1"/>
            <a:r>
              <a:rPr lang="en-US" dirty="0"/>
              <a:t>We will remember</a:t>
            </a:r>
          </a:p>
          <a:p>
            <a:pPr lvl="1"/>
            <a:r>
              <a:rPr lang="en-US" dirty="0"/>
              <a:t>The </a:t>
            </a:r>
            <a:r>
              <a:rPr lang="en-US" dirty="0" err="1"/>
              <a:t>berr</a:t>
            </a:r>
            <a:r>
              <a:rPr lang="en-US" dirty="0"/>
              <a:t>…</a:t>
            </a:r>
            <a:r>
              <a:rPr lang="en-US" dirty="0" err="1"/>
              <a:t>ies</a:t>
            </a:r>
            <a:endParaRPr lang="en-US" dirty="0"/>
          </a:p>
          <a:p>
            <a:endParaRPr lang="en-US" dirty="0"/>
          </a:p>
          <a:p>
            <a:r>
              <a:rPr lang="en-US" dirty="0"/>
              <a:t>I had a point?</a:t>
            </a:r>
          </a:p>
          <a:p>
            <a:endParaRPr lang="en-US" dirty="0"/>
          </a:p>
        </p:txBody>
      </p:sp>
      <p:sp>
        <p:nvSpPr>
          <p:cNvPr id="4" name="Slide Number Placeholder 3">
            <a:extLst>
              <a:ext uri="{FF2B5EF4-FFF2-40B4-BE49-F238E27FC236}">
                <a16:creationId xmlns:a16="http://schemas.microsoft.com/office/drawing/2014/main" id="{2D011767-D96D-7AAA-1746-69F218B4DA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8" name="Picture 7" descr="Website&#10;&#10;AI-generated content may be incorrect.">
            <a:extLst>
              <a:ext uri="{FF2B5EF4-FFF2-40B4-BE49-F238E27FC236}">
                <a16:creationId xmlns:a16="http://schemas.microsoft.com/office/drawing/2014/main" id="{57F0156C-964D-8215-4BBF-2CFA0005BB0D}"/>
              </a:ext>
            </a:extLst>
          </p:cNvPr>
          <p:cNvPicPr>
            <a:picLocks noChangeAspect="1"/>
          </p:cNvPicPr>
          <p:nvPr/>
        </p:nvPicPr>
        <p:blipFill>
          <a:blip r:embed="rId2"/>
          <a:stretch>
            <a:fillRect/>
          </a:stretch>
        </p:blipFill>
        <p:spPr>
          <a:xfrm>
            <a:off x="5798872" y="3063710"/>
            <a:ext cx="5521310" cy="3102628"/>
          </a:xfrm>
          <a:prstGeom prst="rect">
            <a:avLst/>
          </a:prstGeom>
        </p:spPr>
      </p:pic>
    </p:spTree>
    <p:extLst>
      <p:ext uri="{BB962C8B-B14F-4D97-AF65-F5344CB8AC3E}">
        <p14:creationId xmlns:p14="http://schemas.microsoft.com/office/powerpoint/2010/main" val="46448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2B91-CF52-82DC-C95E-47CAC26D2408}"/>
              </a:ext>
            </a:extLst>
          </p:cNvPr>
          <p:cNvSpPr>
            <a:spLocks noGrp="1"/>
          </p:cNvSpPr>
          <p:nvPr>
            <p:ph type="title"/>
          </p:nvPr>
        </p:nvSpPr>
        <p:spPr/>
        <p:txBody>
          <a:bodyPr/>
          <a:lstStyle/>
          <a:p>
            <a:r>
              <a:rPr lang="en-US" dirty="0"/>
              <a:t>Oh, Right, the Point.</a:t>
            </a:r>
          </a:p>
        </p:txBody>
      </p:sp>
      <p:sp>
        <p:nvSpPr>
          <p:cNvPr id="3" name="Content Placeholder 2">
            <a:extLst>
              <a:ext uri="{FF2B5EF4-FFF2-40B4-BE49-F238E27FC236}">
                <a16:creationId xmlns:a16="http://schemas.microsoft.com/office/drawing/2014/main" id="{29D1F220-4304-EF6E-5E18-0D7B078334D3}"/>
              </a:ext>
            </a:extLst>
          </p:cNvPr>
          <p:cNvSpPr>
            <a:spLocks noGrp="1"/>
          </p:cNvSpPr>
          <p:nvPr>
            <p:ph idx="1"/>
          </p:nvPr>
        </p:nvSpPr>
        <p:spPr/>
        <p:txBody>
          <a:bodyPr/>
          <a:lstStyle/>
          <a:p>
            <a:r>
              <a:rPr lang="en-US" dirty="0"/>
              <a:t>What “we remember,” at least in CVE, might not be what we’re looking for</a:t>
            </a:r>
          </a:p>
          <a:p>
            <a:r>
              <a:rPr lang="en-US" dirty="0"/>
              <a:t>What “we simply forget,” could be… omission of critical weakness-related details?</a:t>
            </a:r>
          </a:p>
          <a:p>
            <a:pPr lvl="1"/>
            <a:r>
              <a:rPr lang="en-US" dirty="0"/>
              <a:t>JUST LIKE CLOUD DID TO US 2-3 YEARS AGO</a:t>
            </a:r>
          </a:p>
          <a:p>
            <a:endParaRPr lang="en-US" dirty="0"/>
          </a:p>
          <a:p>
            <a:r>
              <a:rPr lang="en-US" dirty="0"/>
              <a:t>Challenge:</a:t>
            </a:r>
          </a:p>
          <a:p>
            <a:pPr lvl="1"/>
            <a:r>
              <a:rPr lang="en-US" dirty="0"/>
              <a:t>If you/we can’t find CVEs with AI-related CWEs</a:t>
            </a:r>
          </a:p>
          <a:p>
            <a:pPr lvl="1"/>
            <a:r>
              <a:rPr lang="en-US" dirty="0"/>
              <a:t>… then can you provide examples of real-world vulns/weaknesses in which:</a:t>
            </a:r>
          </a:p>
          <a:p>
            <a:pPr lvl="2"/>
            <a:r>
              <a:rPr lang="en-US" dirty="0"/>
              <a:t>There are sufficient technical details</a:t>
            </a:r>
          </a:p>
          <a:p>
            <a:pPr lvl="2"/>
            <a:r>
              <a:rPr lang="en-US" dirty="0"/>
              <a:t>The reference emphasizes (or at least has a section for) what the developer did wrong [or at least, didn’t do right]</a:t>
            </a:r>
          </a:p>
          <a:p>
            <a:pPr lvl="2"/>
            <a:endParaRPr lang="en-US" dirty="0"/>
          </a:p>
          <a:p>
            <a:pPr lvl="2"/>
            <a:endParaRPr lang="en-US" dirty="0"/>
          </a:p>
          <a:p>
            <a:pPr lvl="2"/>
            <a:endParaRPr lang="en-US" dirty="0"/>
          </a:p>
        </p:txBody>
      </p:sp>
      <p:sp>
        <p:nvSpPr>
          <p:cNvPr id="4" name="Slide Number Placeholder 3">
            <a:extLst>
              <a:ext uri="{FF2B5EF4-FFF2-40B4-BE49-F238E27FC236}">
                <a16:creationId xmlns:a16="http://schemas.microsoft.com/office/drawing/2014/main" id="{6D26F156-F7A1-61AC-83D4-DCA7CDD1A7F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78383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F339-D82E-44B4-0D51-3A4CC1FF029A}"/>
              </a:ext>
            </a:extLst>
          </p:cNvPr>
          <p:cNvSpPr>
            <a:spLocks noGrp="1"/>
          </p:cNvSpPr>
          <p:nvPr>
            <p:ph type="title"/>
          </p:nvPr>
        </p:nvSpPr>
        <p:spPr/>
        <p:txBody>
          <a:bodyPr/>
          <a:lstStyle/>
          <a:p>
            <a:r>
              <a:rPr lang="en-US" dirty="0"/>
              <a:t>Selecting an Observed Example (</a:t>
            </a:r>
            <a:r>
              <a:rPr lang="en-US" dirty="0" err="1"/>
              <a:t>obex</a:t>
            </a:r>
            <a:r>
              <a:rPr lang="en-US" dirty="0"/>
              <a:t>)</a:t>
            </a:r>
          </a:p>
        </p:txBody>
      </p:sp>
      <p:sp>
        <p:nvSpPr>
          <p:cNvPr id="3" name="Content Placeholder 2">
            <a:extLst>
              <a:ext uri="{FF2B5EF4-FFF2-40B4-BE49-F238E27FC236}">
                <a16:creationId xmlns:a16="http://schemas.microsoft.com/office/drawing/2014/main" id="{804254B7-80EC-9B3C-89B4-185759EF5317}"/>
              </a:ext>
            </a:extLst>
          </p:cNvPr>
          <p:cNvSpPr>
            <a:spLocks noGrp="1"/>
          </p:cNvSpPr>
          <p:nvPr>
            <p:ph idx="1"/>
          </p:nvPr>
        </p:nvSpPr>
        <p:spPr/>
        <p:txBody>
          <a:bodyPr/>
          <a:lstStyle/>
          <a:p>
            <a:r>
              <a:rPr lang="en-US" dirty="0"/>
              <a:t>Goal: easily understandable to the CWE user</a:t>
            </a:r>
          </a:p>
          <a:p>
            <a:r>
              <a:rPr lang="en-US" dirty="0"/>
              <a:t>CVE (or vuln report) description and/or references should clearly identify the weakness</a:t>
            </a:r>
          </a:p>
          <a:p>
            <a:r>
              <a:rPr lang="en-US" dirty="0"/>
              <a:t>Strong preference: technical details available</a:t>
            </a:r>
          </a:p>
          <a:p>
            <a:r>
              <a:rPr lang="en-US" dirty="0"/>
              <a:t>Easily understandable?</a:t>
            </a:r>
          </a:p>
          <a:p>
            <a:pPr lvl="1"/>
            <a:r>
              <a:rPr lang="en-US" dirty="0"/>
              <a:t>Avoid deep nuances or complicated attack scenarios</a:t>
            </a:r>
          </a:p>
          <a:p>
            <a:endParaRPr lang="en-US" dirty="0"/>
          </a:p>
          <a:p>
            <a:r>
              <a:rPr lang="en-US" dirty="0"/>
              <a:t>(groups of </a:t>
            </a:r>
            <a:r>
              <a:rPr lang="en-US" dirty="0" err="1"/>
              <a:t>obex</a:t>
            </a:r>
            <a:r>
              <a:rPr lang="en-US" dirty="0"/>
              <a:t> within a CWE)</a:t>
            </a:r>
          </a:p>
          <a:p>
            <a:r>
              <a:rPr lang="en-US" dirty="0"/>
              <a:t>Diversity of product types represented, variations on the weakness, maybe attack surface</a:t>
            </a:r>
          </a:p>
          <a:p>
            <a:endParaRPr lang="en-US" dirty="0"/>
          </a:p>
          <a:p>
            <a:endParaRPr lang="en-US" dirty="0"/>
          </a:p>
        </p:txBody>
      </p:sp>
      <p:sp>
        <p:nvSpPr>
          <p:cNvPr id="4" name="Slide Number Placeholder 3">
            <a:extLst>
              <a:ext uri="{FF2B5EF4-FFF2-40B4-BE49-F238E27FC236}">
                <a16:creationId xmlns:a16="http://schemas.microsoft.com/office/drawing/2014/main" id="{747DFCB5-7443-1A4B-BA6E-16862AED15A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8064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5026-FD2A-D2BD-A8F3-BDF1233CF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75E05-B425-6469-8E77-A12EC69294B9}"/>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586173D8-86D0-A6CE-F891-DD17E0490E50}"/>
              </a:ext>
            </a:extLst>
          </p:cNvPr>
          <p:cNvSpPr>
            <a:spLocks noGrp="1"/>
          </p:cNvSpPr>
          <p:nvPr>
            <p:ph idx="1"/>
          </p:nvPr>
        </p:nvSpPr>
        <p:spPr/>
        <p:txBody>
          <a:bodyPr/>
          <a:lstStyle/>
          <a:p>
            <a:r>
              <a:rPr lang="en-US" sz="1200" dirty="0"/>
              <a:t>Discussed in the May meeting</a:t>
            </a:r>
          </a:p>
          <a:p>
            <a:r>
              <a:rPr lang="en-US" sz="1200" dirty="0"/>
              <a:t>ML Platforms</a:t>
            </a:r>
          </a:p>
          <a:p>
            <a:pPr lvl="1"/>
            <a:r>
              <a:rPr lang="en-US" sz="1200" dirty="0"/>
              <a:t>TensorFlow (400+ CVEs), H20, </a:t>
            </a:r>
            <a:r>
              <a:rPr lang="en-US" sz="1200" dirty="0" err="1"/>
              <a:t>PyTorch</a:t>
            </a:r>
            <a:r>
              <a:rPr lang="en-US" sz="1200" dirty="0"/>
              <a:t>, JAX, </a:t>
            </a:r>
            <a:r>
              <a:rPr lang="en-US" sz="1200" dirty="0" err="1">
                <a:solidFill>
                  <a:srgbClr val="FF0000"/>
                </a:solidFill>
              </a:rPr>
              <a:t>LMStudio</a:t>
            </a:r>
            <a:r>
              <a:rPr lang="en-US" sz="1200" dirty="0">
                <a:solidFill>
                  <a:srgbClr val="FF0000"/>
                </a:solidFill>
              </a:rPr>
              <a:t>, </a:t>
            </a:r>
            <a:r>
              <a:rPr lang="en-US" sz="1200" dirty="0" err="1">
                <a:solidFill>
                  <a:srgbClr val="FF0000"/>
                </a:solidFill>
              </a:rPr>
              <a:t>OLlama</a:t>
            </a:r>
            <a:endParaRPr lang="en-US" sz="1200" dirty="0">
              <a:solidFill>
                <a:srgbClr val="FF0000"/>
              </a:solidFill>
            </a:endParaRPr>
          </a:p>
          <a:p>
            <a:r>
              <a:rPr lang="en-US" sz="1200" dirty="0"/>
              <a:t>(other examples during meeting)</a:t>
            </a:r>
          </a:p>
          <a:p>
            <a:pPr lvl="1"/>
            <a:r>
              <a:rPr lang="en-US" sz="1200" dirty="0" err="1"/>
              <a:t>HuggingFace</a:t>
            </a:r>
            <a:r>
              <a:rPr lang="en-US" sz="1200" dirty="0"/>
              <a:t> – “friendly” API/SDK similar to GitHub; one example of a “model provider”. (Also Nemo)</a:t>
            </a:r>
          </a:p>
          <a:p>
            <a:pPr lvl="1"/>
            <a:r>
              <a:rPr lang="en-US" sz="1200" dirty="0" err="1"/>
              <a:t>vLLM</a:t>
            </a:r>
            <a:r>
              <a:rPr lang="en-US" sz="1200" dirty="0"/>
              <a:t>, TRT-LLM (</a:t>
            </a:r>
            <a:r>
              <a:rPr lang="en-US" sz="1200" dirty="0" err="1"/>
              <a:t>TensorRT</a:t>
            </a:r>
            <a:r>
              <a:rPr lang="en-US" sz="1200" dirty="0"/>
              <a:t>-LLM) – “model-serving frameworks” – servers that handle distribution, load balancing, etc., and provide APIs</a:t>
            </a:r>
          </a:p>
          <a:p>
            <a:pPr lvl="1"/>
            <a:r>
              <a:rPr lang="en-US" sz="1200" dirty="0" err="1"/>
              <a:t>MLFlow</a:t>
            </a:r>
            <a:endParaRPr lang="en-US" sz="1200" dirty="0"/>
          </a:p>
          <a:p>
            <a:pPr lvl="1"/>
            <a:r>
              <a:rPr lang="en-US" sz="1200" dirty="0"/>
              <a:t>Google Vertex AI is another, Amazon </a:t>
            </a:r>
            <a:r>
              <a:rPr lang="en-US" sz="1200" dirty="0" err="1"/>
              <a:t>Sagemaker</a:t>
            </a:r>
            <a:r>
              <a:rPr lang="en-US" sz="1200" dirty="0"/>
              <a:t>, and IBM Watson Studio</a:t>
            </a:r>
          </a:p>
          <a:p>
            <a:pPr lvl="1"/>
            <a:r>
              <a:rPr lang="en-US" sz="1200" dirty="0"/>
              <a:t>Kaggle, Microsoft </a:t>
            </a:r>
            <a:r>
              <a:rPr lang="en-US" sz="1200" dirty="0" err="1"/>
              <a:t>AutoML</a:t>
            </a:r>
            <a:r>
              <a:rPr lang="en-US" sz="1200" dirty="0"/>
              <a:t>, </a:t>
            </a:r>
            <a:r>
              <a:rPr lang="en-US" sz="1200" dirty="0" err="1"/>
              <a:t>LMStudio</a:t>
            </a:r>
            <a:r>
              <a:rPr lang="en-US" sz="1200" dirty="0"/>
              <a:t> </a:t>
            </a:r>
          </a:p>
          <a:p>
            <a:r>
              <a:rPr lang="en-US" sz="1200" dirty="0"/>
              <a:t>Libraries / SDKs</a:t>
            </a:r>
          </a:p>
          <a:p>
            <a:pPr lvl="1"/>
            <a:r>
              <a:rPr lang="en-US" sz="1200" dirty="0" err="1"/>
              <a:t>Gradio</a:t>
            </a:r>
            <a:r>
              <a:rPr lang="en-US" sz="1200" dirty="0"/>
              <a:t>, </a:t>
            </a:r>
            <a:r>
              <a:rPr lang="en-US" sz="1200" dirty="0" err="1"/>
              <a:t>ZenML</a:t>
            </a:r>
            <a:r>
              <a:rPr lang="en-US" sz="1200" dirty="0"/>
              <a:t>, </a:t>
            </a:r>
            <a:r>
              <a:rPr lang="en-US" sz="1200" dirty="0" err="1"/>
              <a:t>Taipy</a:t>
            </a:r>
            <a:r>
              <a:rPr lang="en-US" sz="1200" dirty="0"/>
              <a:t>, ACON,, </a:t>
            </a:r>
            <a:r>
              <a:rPr lang="en-US" sz="1200" dirty="0" err="1"/>
              <a:t>HuggingFace</a:t>
            </a:r>
            <a:r>
              <a:rPr lang="en-US" sz="1200" dirty="0"/>
              <a:t> Transformer, KERAS, data-science-centric libraries like (Scikit-learn, </a:t>
            </a:r>
            <a:r>
              <a:rPr lang="en-US" sz="1200" dirty="0" err="1"/>
              <a:t>numpy</a:t>
            </a:r>
            <a:r>
              <a:rPr lang="en-US" sz="1200" dirty="0"/>
              <a:t>, </a:t>
            </a:r>
            <a:r>
              <a:rPr lang="en-US" sz="1200" dirty="0" err="1"/>
              <a:t>matplot</a:t>
            </a:r>
            <a:r>
              <a:rPr lang="en-US" sz="1200" dirty="0"/>
              <a:t> lib)</a:t>
            </a:r>
          </a:p>
          <a:p>
            <a:r>
              <a:rPr lang="en-US" sz="1200" dirty="0"/>
              <a:t>Frameworks</a:t>
            </a:r>
          </a:p>
          <a:p>
            <a:pPr lvl="1"/>
            <a:r>
              <a:rPr lang="en-US" sz="1200" dirty="0"/>
              <a:t>Rasa, </a:t>
            </a:r>
            <a:r>
              <a:rPr lang="en-US" sz="1200" dirty="0" err="1"/>
              <a:t>DialogFlowCX</a:t>
            </a:r>
            <a:r>
              <a:rPr lang="en-US" sz="1200" dirty="0"/>
              <a:t>, </a:t>
            </a:r>
            <a:r>
              <a:rPr lang="en-US" sz="1200" dirty="0" err="1"/>
              <a:t>LangChain</a:t>
            </a:r>
            <a:r>
              <a:rPr lang="en-US" sz="1200" dirty="0"/>
              <a:t> framework for agentic AI, </a:t>
            </a:r>
            <a:r>
              <a:rPr lang="en-US" sz="1200" dirty="0" err="1"/>
              <a:t>Onnx</a:t>
            </a:r>
            <a:r>
              <a:rPr lang="en-US" sz="1200" dirty="0"/>
              <a:t>, </a:t>
            </a:r>
            <a:r>
              <a:rPr lang="en-US" sz="1200" dirty="0" err="1"/>
              <a:t>DeepPavlov</a:t>
            </a:r>
            <a:r>
              <a:rPr lang="en-US" sz="1200" dirty="0"/>
              <a:t>, Vision models like YOLO</a:t>
            </a:r>
          </a:p>
          <a:p>
            <a:r>
              <a:rPr lang="en-US" sz="1200" dirty="0"/>
              <a:t>The models themselves (</a:t>
            </a:r>
            <a:r>
              <a:rPr lang="en-US" sz="1200" dirty="0" err="1"/>
              <a:t>LLama</a:t>
            </a:r>
            <a:r>
              <a:rPr lang="en-US" sz="1200" dirty="0"/>
              <a:t>, </a:t>
            </a:r>
            <a:r>
              <a:rPr lang="en-US" sz="1200" dirty="0" err="1"/>
              <a:t>Deepseek</a:t>
            </a:r>
            <a:r>
              <a:rPr lang="en-US" sz="1200" dirty="0"/>
              <a:t>, Claude, Mistral, GPT family, Gemini, Grok, Qwen). Consider open-source versus hosted, where versions might be better tracked/stable in OSS</a:t>
            </a:r>
          </a:p>
          <a:p>
            <a:r>
              <a:rPr lang="en-US" sz="1200" dirty="0" err="1"/>
              <a:t>HuggingFace</a:t>
            </a:r>
            <a:r>
              <a:rPr lang="en-US" sz="1200" dirty="0"/>
              <a:t> and Black Duck are doing some work in the supply-chain area. Linux / SSF is working in AI BOMs</a:t>
            </a:r>
          </a:p>
          <a:p>
            <a:r>
              <a:rPr lang="en-US" sz="1200" dirty="0"/>
              <a:t>Can auto-load models – subverting that could cause some damage</a:t>
            </a:r>
          </a:p>
          <a:p>
            <a:r>
              <a:rPr lang="en-US" sz="1200" dirty="0"/>
              <a:t>“AI features” in various products</a:t>
            </a:r>
          </a:p>
        </p:txBody>
      </p:sp>
      <p:sp>
        <p:nvSpPr>
          <p:cNvPr id="4" name="Slide Number Placeholder 3">
            <a:extLst>
              <a:ext uri="{FF2B5EF4-FFF2-40B4-BE49-F238E27FC236}">
                <a16:creationId xmlns:a16="http://schemas.microsoft.com/office/drawing/2014/main" id="{75E609DE-03E3-2E5C-B2A1-5D5C9EFDCB7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74733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DFA8-9751-5A2D-A626-394DAA65E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4D531-9F73-430E-EE76-E07A57C76647}"/>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77D609F8-9D93-67DA-A920-78A3BB8226D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C5E1C59B-AA8E-98BC-0170-06A2B5CBB5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5765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D3827-DC11-52D0-8A55-6E4B78EE4999}"/>
              </a:ext>
            </a:extLst>
          </p:cNvPr>
          <p:cNvSpPr>
            <a:spLocks noGrp="1"/>
          </p:cNvSpPr>
          <p:nvPr>
            <p:ph type="title"/>
          </p:nvPr>
        </p:nvSpPr>
        <p:spPr/>
        <p:txBody>
          <a:bodyPr/>
          <a:lstStyle/>
          <a:p>
            <a:r>
              <a:rPr lang="en-US" dirty="0"/>
              <a:t>Upcoming Dates</a:t>
            </a:r>
          </a:p>
        </p:txBody>
      </p:sp>
      <p:sp>
        <p:nvSpPr>
          <p:cNvPr id="3" name="Content Placeholder 2">
            <a:extLst>
              <a:ext uri="{FF2B5EF4-FFF2-40B4-BE49-F238E27FC236}">
                <a16:creationId xmlns:a16="http://schemas.microsoft.com/office/drawing/2014/main" id="{192F5E06-C0E8-CAF3-2A5E-F02F582D2968}"/>
              </a:ext>
            </a:extLst>
          </p:cNvPr>
          <p:cNvSpPr>
            <a:spLocks noGrp="1"/>
          </p:cNvSpPr>
          <p:nvPr>
            <p:ph idx="1"/>
          </p:nvPr>
        </p:nvSpPr>
        <p:spPr/>
        <p:txBody>
          <a:bodyPr/>
          <a:lstStyle/>
          <a:p>
            <a:r>
              <a:rPr lang="en-US" dirty="0"/>
              <a:t>Next CWE release (4.20) sometime around April 2026</a:t>
            </a:r>
          </a:p>
          <a:p>
            <a:r>
              <a:rPr lang="en-US" dirty="0"/>
              <a:t>Next new-entry meeting – February 6</a:t>
            </a:r>
          </a:p>
          <a:p>
            <a:r>
              <a:rPr lang="en-US" dirty="0"/>
              <a:t>Next modification meeting – February 20</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E836F51-A8F4-27EB-24F0-F6364C296FD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02423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3F2FB-64FB-88CE-FB60-33E93AEAE19D}"/>
              </a:ext>
            </a:extLst>
          </p:cNvPr>
          <p:cNvSpPr>
            <a:spLocks noGrp="1"/>
          </p:cNvSpPr>
          <p:nvPr>
            <p:ph type="ctrTitle" sz="quarter"/>
          </p:nvPr>
        </p:nvSpPr>
        <p:spPr/>
        <p:txBody>
          <a:bodyPr/>
          <a:lstStyle/>
          <a:p>
            <a:r>
              <a:rPr lang="en-US" dirty="0">
                <a:highlight>
                  <a:srgbClr val="FFFF00"/>
                </a:highlight>
              </a:rPr>
              <a:t>OTHER SLIDES (TBD AS OF JANUARY 22)</a:t>
            </a:r>
          </a:p>
        </p:txBody>
      </p:sp>
      <p:sp>
        <p:nvSpPr>
          <p:cNvPr id="3" name="Slide Number Placeholder 2">
            <a:extLst>
              <a:ext uri="{FF2B5EF4-FFF2-40B4-BE49-F238E27FC236}">
                <a16:creationId xmlns:a16="http://schemas.microsoft.com/office/drawing/2014/main" id="{B17C2C5D-9062-3EDE-6AA1-C9BA3973265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14116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785F-BFA5-A7E9-3D81-B5982001E9CA}"/>
              </a:ext>
            </a:extLst>
          </p:cNvPr>
          <p:cNvSpPr>
            <a:spLocks noGrp="1"/>
          </p:cNvSpPr>
          <p:nvPr>
            <p:ph type="title"/>
          </p:nvPr>
        </p:nvSpPr>
        <p:spPr/>
        <p:txBody>
          <a:bodyPr/>
          <a:lstStyle/>
          <a:p>
            <a:r>
              <a:rPr lang="en-US" dirty="0"/>
              <a:t>Submission to Focus Discussion / Review</a:t>
            </a:r>
          </a:p>
        </p:txBody>
      </p:sp>
      <p:sp>
        <p:nvSpPr>
          <p:cNvPr id="3" name="Content Placeholder 2">
            <a:extLst>
              <a:ext uri="{FF2B5EF4-FFF2-40B4-BE49-F238E27FC236}">
                <a16:creationId xmlns:a16="http://schemas.microsoft.com/office/drawing/2014/main" id="{1F8A9096-2A41-BA25-9E32-C3D9F6B3E34F}"/>
              </a:ext>
            </a:extLst>
          </p:cNvPr>
          <p:cNvSpPr>
            <a:spLocks noGrp="1"/>
          </p:cNvSpPr>
          <p:nvPr>
            <p:ph idx="1"/>
          </p:nvPr>
        </p:nvSpPr>
        <p:spPr/>
        <p:txBody>
          <a:bodyPr/>
          <a:lstStyle/>
          <a:p>
            <a:endParaRPr lang="en-US" dirty="0"/>
          </a:p>
          <a:p>
            <a:r>
              <a:rPr lang="en-US" dirty="0"/>
              <a:t>Should we focus only on AI-specific or ML-specific weaknesses, instead of “regular” CWEs in traditional software?</a:t>
            </a:r>
          </a:p>
          <a:p>
            <a:r>
              <a:rPr lang="en-US" dirty="0"/>
              <a:t>AI/ML is a “vector” in which a weakness is produced</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r>
              <a:rPr lang="en-US" dirty="0"/>
              <a:t>Observed example report will be re-run and made available ASAP</a:t>
            </a:r>
          </a:p>
          <a:p>
            <a:endParaRPr lang="en-US" dirty="0"/>
          </a:p>
        </p:txBody>
      </p:sp>
      <p:sp>
        <p:nvSpPr>
          <p:cNvPr id="4" name="Slide Number Placeholder 3">
            <a:extLst>
              <a:ext uri="{FF2B5EF4-FFF2-40B4-BE49-F238E27FC236}">
                <a16:creationId xmlns:a16="http://schemas.microsoft.com/office/drawing/2014/main" id="{3357EC01-788B-404B-F8D7-0F6ECF94CD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29345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rPr>
              <a:t>LMStudio</a:t>
            </a:r>
            <a:r>
              <a:rPr lang="en-US" sz="1400" dirty="0">
                <a:solidFill>
                  <a:srgbClr val="FF0000"/>
                </a:solidFill>
              </a:rPr>
              <a:t>, </a:t>
            </a:r>
            <a:r>
              <a:rPr lang="en-US" sz="1400" dirty="0" err="1">
                <a:solidFill>
                  <a:srgbClr val="FF0000"/>
                </a:solidFill>
              </a:rPr>
              <a:t>OLlama</a:t>
            </a:r>
            <a:endParaRPr lang="en-US" sz="1400" dirty="0">
              <a:solidFill>
                <a:srgbClr val="FF0000"/>
              </a:solidFill>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t>Google Vertex AI is another, Amazon </a:t>
            </a:r>
            <a:r>
              <a:rPr lang="en-US" sz="1400" dirty="0" err="1"/>
              <a:t>Sagemaker</a:t>
            </a:r>
            <a:r>
              <a:rPr lang="en-US" sz="1400" dirty="0"/>
              <a:t>, and IBM Watson Studio</a:t>
            </a:r>
          </a:p>
          <a:p>
            <a:pPr lvl="1"/>
            <a:r>
              <a:rPr lang="en-US" sz="1400" dirty="0"/>
              <a:t>Kaggle, Microsoft </a:t>
            </a:r>
            <a:r>
              <a:rPr lang="en-US" sz="1400" dirty="0" err="1"/>
              <a:t>AutoML</a:t>
            </a:r>
            <a:r>
              <a:rPr lang="en-US" sz="1400" dirty="0"/>
              <a:t>, </a:t>
            </a:r>
            <a:r>
              <a:rPr lang="en-US" sz="1400" dirty="0" err="1"/>
              <a:t>LMStudio</a:t>
            </a:r>
            <a:r>
              <a:rPr lang="en-US" sz="1400" dirty="0"/>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t>HuggingFace</a:t>
            </a:r>
            <a:r>
              <a:rPr lang="en-US" sz="1400" dirty="0"/>
              <a:t> Transformer, KERAS, data-science-centric libraries like (Scikit-learn, </a:t>
            </a:r>
            <a:r>
              <a:rPr lang="en-US" sz="1400" dirty="0" err="1"/>
              <a:t>numpy</a:t>
            </a:r>
            <a:r>
              <a:rPr lang="en-US" sz="1400" dirty="0"/>
              <a:t>, </a:t>
            </a:r>
            <a:r>
              <a:rPr lang="en-US" sz="1400" dirty="0" err="1"/>
              <a:t>matplot</a:t>
            </a:r>
            <a:r>
              <a:rPr lang="en-US" sz="1400" dirty="0"/>
              <a:t> lib)</a:t>
            </a:r>
          </a:p>
          <a:p>
            <a:r>
              <a:rPr lang="en-US" sz="1400" dirty="0"/>
              <a:t>Frameworks</a:t>
            </a:r>
          </a:p>
          <a:p>
            <a:pPr lvl="1"/>
            <a:r>
              <a:rPr lang="en-US" sz="1400" dirty="0"/>
              <a:t>Rasa, </a:t>
            </a:r>
            <a:r>
              <a:rPr lang="en-US" sz="1400" dirty="0" err="1"/>
              <a:t>DialogFlowCX</a:t>
            </a:r>
            <a:r>
              <a:rPr lang="en-US" sz="1400" dirty="0"/>
              <a:t>, </a:t>
            </a:r>
            <a:r>
              <a:rPr lang="en-US" sz="1400" dirty="0" err="1"/>
              <a:t>LangChain</a:t>
            </a:r>
            <a:r>
              <a:rPr lang="en-US" sz="1400" dirty="0"/>
              <a:t> framework for agentic AI, </a:t>
            </a:r>
            <a:r>
              <a:rPr lang="en-US" sz="1400" dirty="0" err="1"/>
              <a:t>Onnx</a:t>
            </a:r>
            <a:r>
              <a:rPr lang="en-US" sz="1400" dirty="0"/>
              <a:t>, </a:t>
            </a:r>
            <a:r>
              <a:rPr lang="en-US" sz="1400" dirty="0" err="1"/>
              <a:t>DeepPavlov</a:t>
            </a:r>
            <a:r>
              <a:rPr lang="en-US" sz="1400" dirty="0"/>
              <a:t>, Vision models like YOLO</a:t>
            </a:r>
          </a:p>
          <a:p>
            <a:r>
              <a:rPr lang="en-US" sz="1400" dirty="0"/>
              <a:t>The models themselves (</a:t>
            </a:r>
            <a:r>
              <a:rPr lang="en-US" sz="1400" dirty="0" err="1"/>
              <a:t>LLama</a:t>
            </a:r>
            <a:r>
              <a:rPr lang="en-US" sz="1400" dirty="0"/>
              <a:t>, </a:t>
            </a:r>
            <a:r>
              <a:rPr lang="en-US" sz="1400" dirty="0" err="1"/>
              <a:t>Deepseek</a:t>
            </a:r>
            <a:r>
              <a:rPr lang="en-US" sz="1400" dirty="0"/>
              <a:t>, Claude, Mistral, GPT family, Gemini, Grok, Qwen).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4C6-101D-706E-ADE5-967031525A6A}"/>
              </a:ext>
            </a:extLst>
          </p:cNvPr>
          <p:cNvSpPr>
            <a:spLocks noGrp="1"/>
          </p:cNvSpPr>
          <p:nvPr>
            <p:ph type="title"/>
          </p:nvPr>
        </p:nvSpPr>
        <p:spPr/>
        <p:txBody>
          <a:bodyPr/>
          <a:lstStyle/>
          <a:p>
            <a:r>
              <a:rPr lang="en-US" dirty="0"/>
              <a:t>Initial Findings – Finding AI/ML Related CVEs</a:t>
            </a:r>
          </a:p>
        </p:txBody>
      </p:sp>
      <p:sp>
        <p:nvSpPr>
          <p:cNvPr id="3" name="Content Placeholder 2">
            <a:extLst>
              <a:ext uri="{FF2B5EF4-FFF2-40B4-BE49-F238E27FC236}">
                <a16:creationId xmlns:a16="http://schemas.microsoft.com/office/drawing/2014/main" id="{62F6D486-F5B9-4EB9-7D76-9D8DD439D4F3}"/>
              </a:ext>
            </a:extLst>
          </p:cNvPr>
          <p:cNvSpPr>
            <a:spLocks noGrp="1"/>
          </p:cNvSpPr>
          <p:nvPr>
            <p:ph idx="1"/>
          </p:nvPr>
        </p:nvSpPr>
        <p:spPr/>
        <p:txBody>
          <a:bodyPr/>
          <a:lstStyle/>
          <a:p>
            <a:r>
              <a:rPr lang="en-US" dirty="0"/>
              <a:t>Using “enriched” NVD data from June 1, 2024 to June 1, 2025</a:t>
            </a:r>
          </a:p>
          <a:p>
            <a:pPr lvl="1"/>
            <a:r>
              <a:rPr lang="en-US" dirty="0"/>
              <a:t>Just happened to be available</a:t>
            </a:r>
          </a:p>
          <a:p>
            <a:r>
              <a:rPr lang="en-US" dirty="0"/>
              <a:t>Keyword matches against listed products</a:t>
            </a:r>
          </a:p>
          <a:p>
            <a:pPr lvl="1"/>
            <a:r>
              <a:rPr lang="en-US" dirty="0"/>
              <a:t>Lots of false negatives due to spelling variations (“XY” vs. “X Y”)</a:t>
            </a:r>
          </a:p>
          <a:p>
            <a:pPr lvl="1"/>
            <a:r>
              <a:rPr lang="en-US" dirty="0"/>
              <a:t>Could attempt CPE data – which is likely incomplete</a:t>
            </a:r>
          </a:p>
          <a:p>
            <a:r>
              <a:rPr lang="en-US" dirty="0"/>
              <a:t>299 CVEs found (so far)</a:t>
            </a:r>
          </a:p>
          <a:p>
            <a:r>
              <a:rPr lang="en-US" dirty="0"/>
              <a:t>Various false positives</a:t>
            </a:r>
          </a:p>
          <a:p>
            <a:r>
              <a:rPr lang="en-US" dirty="0"/>
              <a:t>Incorrect CWE mappings</a:t>
            </a:r>
          </a:p>
          <a:p>
            <a:pPr lvl="1"/>
            <a:r>
              <a:rPr lang="en-US" dirty="0"/>
              <a:t>e.g., one CVE has CWE-20 (improper input validation) but is clearly for relative path traversal (CWE-23)</a:t>
            </a:r>
          </a:p>
          <a:p>
            <a:endParaRPr lang="en-US" dirty="0"/>
          </a:p>
        </p:txBody>
      </p:sp>
      <p:sp>
        <p:nvSpPr>
          <p:cNvPr id="4" name="Slide Number Placeholder 3">
            <a:extLst>
              <a:ext uri="{FF2B5EF4-FFF2-40B4-BE49-F238E27FC236}">
                <a16:creationId xmlns:a16="http://schemas.microsoft.com/office/drawing/2014/main" id="{DFEAB0F3-FD12-5B1E-5531-13F7B6EDDC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027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C55A-E333-2243-4E9E-3BAC951D3A5D}"/>
              </a:ext>
            </a:extLst>
          </p:cNvPr>
          <p:cNvSpPr>
            <a:spLocks noGrp="1"/>
          </p:cNvSpPr>
          <p:nvPr>
            <p:ph type="title"/>
          </p:nvPr>
        </p:nvSpPr>
        <p:spPr/>
        <p:txBody>
          <a:bodyPr/>
          <a:lstStyle/>
          <a:p>
            <a:r>
              <a:rPr lang="en-US" dirty="0"/>
              <a:t>Initial Findings – Most Common CWE Mappings</a:t>
            </a:r>
          </a:p>
        </p:txBody>
      </p:sp>
      <p:sp>
        <p:nvSpPr>
          <p:cNvPr id="3" name="Content Placeholder 2">
            <a:extLst>
              <a:ext uri="{FF2B5EF4-FFF2-40B4-BE49-F238E27FC236}">
                <a16:creationId xmlns:a16="http://schemas.microsoft.com/office/drawing/2014/main" id="{2CB2715F-530D-1C6A-4453-B5E535D82374}"/>
              </a:ext>
            </a:extLst>
          </p:cNvPr>
          <p:cNvSpPr>
            <a:spLocks noGrp="1"/>
          </p:cNvSpPr>
          <p:nvPr>
            <p:ph idx="1"/>
          </p:nvPr>
        </p:nvSpPr>
        <p:spPr>
          <a:xfrm>
            <a:off x="616449" y="1371601"/>
            <a:ext cx="5478329" cy="4794737"/>
          </a:xfrm>
        </p:spPr>
        <p:txBody>
          <a:bodyPr/>
          <a:lstStyle/>
          <a:p>
            <a:r>
              <a:rPr lang="en-US" sz="2000" dirty="0"/>
              <a:t>CWEs:</a:t>
            </a:r>
          </a:p>
          <a:p>
            <a:pPr lvl="1"/>
            <a:r>
              <a:rPr lang="en-US" sz="2000" dirty="0"/>
              <a:t>23 CWE-502 – untrusted deserialization</a:t>
            </a:r>
          </a:p>
          <a:p>
            <a:pPr lvl="1"/>
            <a:r>
              <a:rPr lang="en-US" sz="2000" dirty="0"/>
              <a:t>21 CWE-22 – path traversal</a:t>
            </a:r>
          </a:p>
          <a:p>
            <a:pPr lvl="1"/>
            <a:r>
              <a:rPr lang="en-US" sz="2000" dirty="0"/>
              <a:t>20 </a:t>
            </a:r>
            <a:r>
              <a:rPr lang="en-US" sz="2000" dirty="0">
                <a:solidFill>
                  <a:srgbClr val="FF0000"/>
                </a:solidFill>
              </a:rPr>
              <a:t>NVD-CWE-</a:t>
            </a:r>
            <a:r>
              <a:rPr lang="en-US" sz="2000" dirty="0" err="1">
                <a:solidFill>
                  <a:srgbClr val="FF0000"/>
                </a:solidFill>
              </a:rPr>
              <a:t>noinfo</a:t>
            </a:r>
            <a:endParaRPr lang="en-US" sz="2000" dirty="0">
              <a:solidFill>
                <a:srgbClr val="FF0000"/>
              </a:solidFill>
            </a:endParaRPr>
          </a:p>
          <a:p>
            <a:pPr lvl="1"/>
            <a:r>
              <a:rPr lang="en-US" sz="2000" dirty="0"/>
              <a:t>20 CWE-400 – high-level resource consumption</a:t>
            </a:r>
          </a:p>
          <a:p>
            <a:pPr lvl="1"/>
            <a:r>
              <a:rPr lang="en-US" sz="2000" dirty="0"/>
              <a:t>19 CWE-79 - XSS</a:t>
            </a:r>
          </a:p>
          <a:p>
            <a:pPr lvl="1"/>
            <a:r>
              <a:rPr lang="en-US" sz="2000" dirty="0"/>
              <a:t>18 CWE-918 - SSRF</a:t>
            </a:r>
          </a:p>
          <a:p>
            <a:pPr lvl="1"/>
            <a:r>
              <a:rPr lang="en-US" sz="2000" dirty="0"/>
              <a:t>15 CWE-94 – code injection</a:t>
            </a:r>
          </a:p>
          <a:p>
            <a:pPr lvl="1"/>
            <a:r>
              <a:rPr lang="en-US" sz="2000" dirty="0"/>
              <a:t>11 CWE-284 – access control</a:t>
            </a:r>
          </a:p>
          <a:p>
            <a:endParaRPr lang="en-US" sz="2000" dirty="0"/>
          </a:p>
        </p:txBody>
      </p:sp>
      <p:sp>
        <p:nvSpPr>
          <p:cNvPr id="4" name="Slide Number Placeholder 3">
            <a:extLst>
              <a:ext uri="{FF2B5EF4-FFF2-40B4-BE49-F238E27FC236}">
                <a16:creationId xmlns:a16="http://schemas.microsoft.com/office/drawing/2014/main" id="{3690E29C-8636-26CC-4467-0813BFDE5B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Content Placeholder 2">
            <a:extLst>
              <a:ext uri="{FF2B5EF4-FFF2-40B4-BE49-F238E27FC236}">
                <a16:creationId xmlns:a16="http://schemas.microsoft.com/office/drawing/2014/main" id="{A579C1F4-F10C-0D13-69C5-B750E6EF16C9}"/>
              </a:ext>
            </a:extLst>
          </p:cNvPr>
          <p:cNvSpPr txBox="1">
            <a:spLocks/>
          </p:cNvSpPr>
          <p:nvPr/>
        </p:nvSpPr>
        <p:spPr>
          <a:xfrm>
            <a:off x="6000251" y="1473201"/>
            <a:ext cx="5575300"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CWEs:</a:t>
            </a:r>
          </a:p>
          <a:p>
            <a:pPr lvl="1"/>
            <a:r>
              <a:rPr lang="en-US" sz="2000" dirty="0"/>
              <a:t>9 CWE-89 - SQLi</a:t>
            </a:r>
          </a:p>
          <a:p>
            <a:pPr lvl="1"/>
            <a:r>
              <a:rPr lang="en-US" sz="2000" dirty="0"/>
              <a:t>9 CWE-352 - CSRF</a:t>
            </a:r>
          </a:p>
          <a:p>
            <a:pPr lvl="1"/>
            <a:r>
              <a:rPr lang="en-US" sz="2000" dirty="0"/>
              <a:t>9 CWE-20 – input validation</a:t>
            </a:r>
          </a:p>
          <a:p>
            <a:pPr lvl="1"/>
            <a:r>
              <a:rPr lang="en-US" sz="2000" dirty="0"/>
              <a:t>9 CWE-119 – high-level buffer overflows</a:t>
            </a:r>
          </a:p>
          <a:p>
            <a:pPr lvl="1"/>
            <a:r>
              <a:rPr lang="en-US" sz="2000" dirty="0"/>
              <a:t>8 CWE-77 – command injection</a:t>
            </a:r>
          </a:p>
          <a:p>
            <a:pPr lvl="1"/>
            <a:r>
              <a:rPr lang="en-US" sz="2000" dirty="0"/>
              <a:t>7 CWE-78 – OS command injection</a:t>
            </a:r>
          </a:p>
          <a:p>
            <a:pPr lvl="1"/>
            <a:r>
              <a:rPr lang="en-US" sz="2000" dirty="0"/>
              <a:t>7 CWE-434 – untrusted file upload</a:t>
            </a:r>
          </a:p>
          <a:p>
            <a:endParaRPr lang="en-US" sz="2000" dirty="0"/>
          </a:p>
        </p:txBody>
      </p:sp>
    </p:spTree>
    <p:extLst>
      <p:ext uri="{BB962C8B-B14F-4D97-AF65-F5344CB8AC3E}">
        <p14:creationId xmlns:p14="http://schemas.microsoft.com/office/powerpoint/2010/main" val="1583770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A079-559E-04FB-78DE-066E3648C623}"/>
              </a:ext>
            </a:extLst>
          </p:cNvPr>
          <p:cNvSpPr>
            <a:spLocks noGrp="1"/>
          </p:cNvSpPr>
          <p:nvPr>
            <p:ph type="ctrTitle" sz="quarter"/>
          </p:nvPr>
        </p:nvSpPr>
        <p:spPr/>
        <p:txBody>
          <a:bodyPr/>
          <a:lstStyle/>
          <a:p>
            <a:r>
              <a:rPr lang="en-US" dirty="0"/>
              <a:t>“Demo” – Potential Observed Examples Report</a:t>
            </a:r>
          </a:p>
        </p:txBody>
      </p:sp>
      <p:sp>
        <p:nvSpPr>
          <p:cNvPr id="3" name="Slide Number Placeholder 2">
            <a:extLst>
              <a:ext uri="{FF2B5EF4-FFF2-40B4-BE49-F238E27FC236}">
                <a16:creationId xmlns:a16="http://schemas.microsoft.com/office/drawing/2014/main" id="{EDD4055E-1704-F1D5-0879-53B9E21A8DF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64881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82884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f3e578be-7961-41e8-91c9-b742ecb60a74"/>
    <ds:schemaRef ds:uri="http://schemas.microsoft.com/office/2006/documentManagement/types"/>
    <ds:schemaRef ds:uri="http://purl.org/dc/dcmitype/"/>
    <ds:schemaRef ds:uri="http://schemas.openxmlformats.org/package/2006/metadata/core-properties"/>
    <ds:schemaRef ds:uri="http://purl.org/dc/terms/"/>
    <ds:schemaRef ds:uri="http://schemas.microsoft.com/office/2006/metadata/properties"/>
    <ds:schemaRef ds:uri="http://www.w3.org/XML/1998/namespace"/>
    <ds:schemaRef ds:uri="b5a44311-ed64-4a72-909f-c9dc6973bde2"/>
    <ds:schemaRef ds:uri="http://schemas.microsoft.com/office/infopath/2007/PartnerControls"/>
    <ds:schemaRef ds:uri="aff8eeb6-53bf-44bf-a224-fac977cd228b"/>
    <ds:schemaRef ds:uri="http://purl.org/dc/elements/1.1/"/>
  </ds:schemaRefs>
</ds:datastoreItem>
</file>

<file path=customXml/itemProps2.xml><?xml version="1.0" encoding="utf-8"?>
<ds:datastoreItem xmlns:ds="http://schemas.openxmlformats.org/officeDocument/2006/customXml" ds:itemID="{10F6FC14-EC19-43FE-8CEF-35F00732D9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1179</TotalTime>
  <Words>6141</Words>
  <Application>Microsoft Office PowerPoint</Application>
  <PresentationFormat>Widescreen</PresentationFormat>
  <Paragraphs>711</Paragraphs>
  <Slides>68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Summary of Last Modification Meeting? (November 2025)</vt:lpstr>
      <vt:lpstr>What We Did (s/We/What Steve Thought We/): Identifying Observed / Demonstrative Examples for “General” CWEs</vt:lpstr>
      <vt:lpstr>New Plan? Based on Feedback</vt:lpstr>
      <vt:lpstr>Interesting CWEs (biased human sample)</vt:lpstr>
      <vt:lpstr>Could We? Should We? Memory…</vt:lpstr>
      <vt:lpstr>Oh, Right, the Point.</vt:lpstr>
      <vt:lpstr>Selecting an Observed Example (obex)</vt:lpstr>
      <vt:lpstr>“Classes” of AI/ML Products</vt:lpstr>
      <vt:lpstr>“Classes” of AI/ML Products (2)</vt:lpstr>
      <vt:lpstr>Upcoming Dates</vt:lpstr>
      <vt:lpstr>OTHER SLIDES (TBD AS OF JANUARY 22)</vt:lpstr>
      <vt:lpstr>Submission to Focus Discussion / Review</vt:lpstr>
      <vt:lpstr>Basic Process</vt:lpstr>
      <vt:lpstr>Initial Investigation – from May</vt:lpstr>
      <vt:lpstr>“Classes” of AI/ML Products</vt:lpstr>
      <vt:lpstr>“Classes” of AI/ML Products (2)</vt:lpstr>
      <vt:lpstr>CVE-Driven Analysis</vt:lpstr>
      <vt:lpstr>Initial Findings – Finding AI/ML Related CVEs</vt:lpstr>
      <vt:lpstr>Initial Findings – Most Common CWE Mappings</vt:lpstr>
      <vt:lpstr>Anecdotal Observations of Common Weaknesses</vt:lpstr>
      <vt:lpstr>“Demo” – Potential Observed Examples Report</vt:lpstr>
      <vt:lpstr>Demonstrative Examples</vt:lpstr>
      <vt:lpstr>Demonstrative example - 1</vt:lpstr>
      <vt:lpstr>Collaboration on Data Gathering</vt:lpstr>
      <vt:lpstr>Next Steps</vt:lpstr>
      <vt:lpstr>Other / Older Slides</vt:lpstr>
      <vt:lpstr>Subgroups </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2026-01-23T16:59:45Z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