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91"/>
  </p:notesMasterIdLst>
  <p:handoutMasterIdLst>
    <p:handoutMasterId r:id="rId92"/>
  </p:handoutMasterIdLst>
  <p:sldIdLst>
    <p:sldId id="459" r:id="rId5"/>
    <p:sldId id="475" r:id="rId6"/>
    <p:sldId id="514" r:id="rId7"/>
    <p:sldId id="630" r:id="rId8"/>
    <p:sldId id="614" r:id="rId9"/>
    <p:sldId id="615" r:id="rId10"/>
    <p:sldId id="616" r:id="rId11"/>
    <p:sldId id="617" r:id="rId12"/>
    <p:sldId id="618" r:id="rId13"/>
    <p:sldId id="619" r:id="rId14"/>
    <p:sldId id="620" r:id="rId15"/>
    <p:sldId id="621" r:id="rId16"/>
    <p:sldId id="622" r:id="rId17"/>
    <p:sldId id="623" r:id="rId18"/>
    <p:sldId id="624" r:id="rId19"/>
    <p:sldId id="625" r:id="rId20"/>
    <p:sldId id="626" r:id="rId21"/>
    <p:sldId id="627" r:id="rId22"/>
    <p:sldId id="628" r:id="rId23"/>
    <p:sldId id="629" r:id="rId24"/>
    <p:sldId id="613" r:id="rId25"/>
    <p:sldId id="605" r:id="rId26"/>
    <p:sldId id="587" r:id="rId27"/>
    <p:sldId id="604" r:id="rId28"/>
    <p:sldId id="608" r:id="rId29"/>
    <p:sldId id="606" r:id="rId30"/>
    <p:sldId id="610" r:id="rId31"/>
    <p:sldId id="600" r:id="rId32"/>
    <p:sldId id="611" r:id="rId33"/>
    <p:sldId id="612" r:id="rId34"/>
    <p:sldId id="603" r:id="rId35"/>
    <p:sldId id="607" r:id="rId36"/>
    <p:sldId id="602" r:id="rId37"/>
    <p:sldId id="589" r:id="rId38"/>
    <p:sldId id="588" r:id="rId39"/>
    <p:sldId id="590" r:id="rId40"/>
    <p:sldId id="591" r:id="rId41"/>
    <p:sldId id="595" r:id="rId42"/>
    <p:sldId id="598" r:id="rId43"/>
    <p:sldId id="599" r:id="rId44"/>
    <p:sldId id="594" r:id="rId45"/>
    <p:sldId id="601" r:id="rId46"/>
    <p:sldId id="596" r:id="rId47"/>
    <p:sldId id="597" r:id="rId48"/>
    <p:sldId id="593" r:id="rId49"/>
    <p:sldId id="592" r:id="rId50"/>
    <p:sldId id="586" r:id="rId51"/>
    <p:sldId id="533" r:id="rId52"/>
    <p:sldId id="548" r:id="rId53"/>
    <p:sldId id="542" r:id="rId54"/>
    <p:sldId id="581" r:id="rId55"/>
    <p:sldId id="585" r:id="rId56"/>
    <p:sldId id="552" r:id="rId57"/>
    <p:sldId id="502" r:id="rId58"/>
    <p:sldId id="501" r:id="rId59"/>
    <p:sldId id="493" r:id="rId60"/>
    <p:sldId id="488" r:id="rId61"/>
    <p:sldId id="505" r:id="rId62"/>
    <p:sldId id="496" r:id="rId63"/>
    <p:sldId id="494" r:id="rId64"/>
    <p:sldId id="495" r:id="rId65"/>
    <p:sldId id="503" r:id="rId66"/>
    <p:sldId id="504" r:id="rId67"/>
    <p:sldId id="584" r:id="rId68"/>
    <p:sldId id="551" r:id="rId69"/>
    <p:sldId id="539" r:id="rId70"/>
    <p:sldId id="547" r:id="rId71"/>
    <p:sldId id="541" r:id="rId72"/>
    <p:sldId id="543" r:id="rId73"/>
    <p:sldId id="554" r:id="rId74"/>
    <p:sldId id="561" r:id="rId75"/>
    <p:sldId id="562" r:id="rId76"/>
    <p:sldId id="563" r:id="rId77"/>
    <p:sldId id="564" r:id="rId78"/>
    <p:sldId id="565" r:id="rId79"/>
    <p:sldId id="566" r:id="rId80"/>
    <p:sldId id="567" r:id="rId81"/>
    <p:sldId id="568" r:id="rId82"/>
    <p:sldId id="569" r:id="rId83"/>
    <p:sldId id="570" r:id="rId84"/>
    <p:sldId id="571" r:id="rId85"/>
    <p:sldId id="572" r:id="rId86"/>
    <p:sldId id="573" r:id="rId87"/>
    <p:sldId id="574" r:id="rId88"/>
    <p:sldId id="545" r:id="rId89"/>
    <p:sldId id="534"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94660"/>
  </p:normalViewPr>
  <p:slideViewPr>
    <p:cSldViewPr snapToGrid="0">
      <p:cViewPr varScale="1">
        <p:scale>
          <a:sx n="67" d="100"/>
          <a:sy n="67" d="100"/>
        </p:scale>
        <p:origin x="514"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modMainMaster">
      <pc:chgData name="Steven M Christey" userId="f24da668-4c1f-41c0-850e-113e2bdf78cf" providerId="ADAL" clId="{4664C2C3-D7E1-4188-BB25-E34F4B7B5B59}" dt="2026-05-15T15:08:59.093" v="6378" actId="20577"/>
      <pc:docMkLst>
        <pc:docMk/>
      </pc:docMkLst>
      <pc:sldChg chg="modSp mod">
        <pc:chgData name="Steven M Christey" userId="f24da668-4c1f-41c0-850e-113e2bdf78cf" providerId="ADAL" clId="{4664C2C3-D7E1-4188-BB25-E34F4B7B5B59}" dt="2026-05-15T15:00:05.258" v="6037" actId="20577"/>
        <pc:sldMkLst>
          <pc:docMk/>
          <pc:sldMk cId="1454278300" sldId="459"/>
        </pc:sldMkLst>
        <pc:spChg chg="mod">
          <ac:chgData name="Steven M Christey" userId="f24da668-4c1f-41c0-850e-113e2bdf78cf" providerId="ADAL" clId="{4664C2C3-D7E1-4188-BB25-E34F4B7B5B59}" dt="2026-05-15T15:00:05.258" v="6037"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5-15T15:08:59.093" v="6378" actId="20577"/>
        <pc:sldMkLst>
          <pc:docMk/>
          <pc:sldMk cId="915149386" sldId="514"/>
        </pc:sldMkLst>
        <pc:spChg chg="mod">
          <ac:chgData name="Steven M Christey" userId="f24da668-4c1f-41c0-850e-113e2bdf78cf" providerId="ADAL" clId="{4664C2C3-D7E1-4188-BB25-E34F4B7B5B59}" dt="2026-05-15T15:08:59.093" v="6378" actId="20577"/>
          <ac:spMkLst>
            <pc:docMk/>
            <pc:sldMk cId="915149386" sldId="514"/>
            <ac:spMk id="3" creationId="{D4348C02-DFCE-A2E4-D523-D69A254A7D49}"/>
          </ac:spMkLst>
        </pc:spChg>
      </pc:sldChg>
      <pc:sldChg chg="modSp new mod">
        <pc:chgData name="Steven M Christey" userId="f24da668-4c1f-41c0-850e-113e2bdf78cf" providerId="ADAL" clId="{4664C2C3-D7E1-4188-BB25-E34F4B7B5B59}" dt="2026-05-15T15:06:44.941" v="6351" actId="20577"/>
        <pc:sldMkLst>
          <pc:docMk/>
          <pc:sldMk cId="2706888884" sldId="630"/>
        </pc:sldMkLst>
        <pc:spChg chg="mod">
          <ac:chgData name="Steven M Christey" userId="f24da668-4c1f-41c0-850e-113e2bdf78cf" providerId="ADAL" clId="{4664C2C3-D7E1-4188-BB25-E34F4B7B5B59}" dt="2026-05-15T15:05:34.695" v="6112" actId="20577"/>
          <ac:spMkLst>
            <pc:docMk/>
            <pc:sldMk cId="2706888884" sldId="630"/>
            <ac:spMk id="2" creationId="{520D4D5C-BF7D-8681-89D6-C22F07A18064}"/>
          </ac:spMkLst>
        </pc:spChg>
        <pc:spChg chg="mod">
          <ac:chgData name="Steven M Christey" userId="f24da668-4c1f-41c0-850e-113e2bdf78cf" providerId="ADAL" clId="{4664C2C3-D7E1-4188-BB25-E34F4B7B5B59}" dt="2026-05-15T15:06:44.941" v="6351" actId="20577"/>
          <ac:spMkLst>
            <pc:docMk/>
            <pc:sldMk cId="2706888884" sldId="630"/>
            <ac:spMk id="3" creationId="{6B969EDA-1D1C-861C-AC0D-58A192A83F3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5/15/2026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20T16:17:55.3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0 124,'211'1,"562"-19,-599 8,67-7,-216 14,-1-2,0-1,42-17,-43 15,0 0,1 1,45-6,309 7,-228 8,66 18,-20-1,22-16,78 2,-222 0,-1 4,73 17,-107-16,176 37,-162-39,0-1,58-1,-27-10,-55 2,0 1,1 1,-1 1,41 7,-54-3,0 1,0 0,-1 2,0-1,23 17,-20-13,0 0,39 15,60 25,-91-38,1 0,0-2,1-1,0-1,1-1,33 4,-48-11,0 0,0 0,1-1,-1-1,0 0,16-4,-4-4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5/15/2026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t>
            </a:r>
          </a:p>
        </p:txBody>
      </p:sp>
      <p:sp>
        <p:nvSpPr>
          <p:cNvPr id="4" name="Slide Number Placeholder 3"/>
          <p:cNvSpPr>
            <a:spLocks noGrp="1"/>
          </p:cNvSpPr>
          <p:nvPr>
            <p:ph type="sldNum" sz="quarter" idx="5"/>
          </p:nvPr>
        </p:nvSpPr>
        <p:spPr/>
        <p:txBody>
          <a:bodyPr/>
          <a:lstStyle/>
          <a:p>
            <a:fld id="{D58F3C89-9E49-4851-A18A-DAECD34FD650}" type="slidenum">
              <a:rPr lang="en-US" smtClean="0"/>
              <a:t>27</a:t>
            </a:fld>
            <a:endParaRPr lang="en-US"/>
          </a:p>
        </p:txBody>
      </p:sp>
    </p:spTree>
    <p:extLst>
      <p:ext uri="{BB962C8B-B14F-4D97-AF65-F5344CB8AC3E}">
        <p14:creationId xmlns:p14="http://schemas.microsoft.com/office/powerpoint/2010/main" val="9544261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1999–2026,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CWE-CAPEC/CWE-Content-Development-Repository/issues/171"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cve.mitre.org/cgi-bin/cvekey.cgi?keyword=AI" TargetMode="External"/><Relationship Id="rId2" Type="http://schemas.openxmlformats.org/officeDocument/2006/relationships/hyperlink" Target="https://cve.mitre.org/cgi-bin/cvekey.cgi?keyword=machine+learnin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May 15, 2026</a:t>
            </a:r>
          </a:p>
          <a:p>
            <a:endParaRPr lang="en-US" dirty="0"/>
          </a:p>
          <a:p>
            <a:r>
              <a:rPr lang="en-US" dirty="0"/>
              <a:t>Steve Christey Coley</a:t>
            </a:r>
          </a:p>
          <a:p>
            <a:r>
              <a:rPr lang="en-US" dirty="0"/>
              <a:t>Erick </a:t>
            </a:r>
            <a:r>
              <a:rPr lang="en-US" dirty="0" err="1"/>
              <a:t>Galinkin</a:t>
            </a:r>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Seifried proposal to update CWE-1427 (prompt injection)</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r>
              <a:rPr lang="en-US" dirty="0">
                <a:latin typeface="Tahoma"/>
                <a:ea typeface="Tahoma"/>
                <a:cs typeface="Tahoma"/>
              </a:rPr>
              <a:t>CWE 4.20 was released April 30, 2026</a:t>
            </a:r>
          </a:p>
          <a:p>
            <a:pPr marL="307975" indent="-307975"/>
            <a:r>
              <a:rPr lang="en-US">
                <a:latin typeface="Tahoma"/>
                <a:ea typeface="Tahoma"/>
                <a:cs typeface="Tahoma"/>
              </a:rPr>
              <a:t>Created new AI View-1448</a:t>
            </a:r>
            <a:endParaRPr lang="en-US" dirty="0">
              <a:latin typeface="Tahoma"/>
              <a:ea typeface="Tahoma"/>
              <a:cs typeface="Tahoma"/>
            </a:endParaRPr>
          </a:p>
          <a:p>
            <a:pPr marL="307975" indent="-307975"/>
            <a:r>
              <a:rPr lang="en-US" dirty="0">
                <a:latin typeface="Tahoma"/>
                <a:ea typeface="Tahoma"/>
                <a:cs typeface="Tahoma"/>
              </a:rPr>
              <a:t>AI-related CDR</a:t>
            </a:r>
          </a:p>
          <a:p>
            <a:pPr marL="685922" lvl="1" indent="-307975"/>
            <a:r>
              <a:rPr lang="en-US" dirty="0">
                <a:latin typeface="Tahoma"/>
                <a:ea typeface="Tahoma"/>
                <a:cs typeface="Tahoma"/>
              </a:rPr>
              <a:t>5 to 7 AI-related submissions; at least one new submission</a:t>
            </a:r>
          </a:p>
          <a:p>
            <a:pPr marL="685922" lvl="1" indent="-307975"/>
            <a:r>
              <a:rPr lang="en-US" dirty="0">
                <a:latin typeface="Tahoma"/>
                <a:ea typeface="Tahoma"/>
                <a:cs typeface="Tahoma"/>
              </a:rPr>
              <a:t>Modified CWE-150 from Erick’s ANSI escape injection submission</a:t>
            </a:r>
          </a:p>
          <a:p>
            <a:pPr marL="685922" lvl="1" indent="-307975"/>
            <a:r>
              <a:rPr lang="en-US" dirty="0">
                <a:latin typeface="Tahoma"/>
                <a:ea typeface="Tahoma"/>
                <a:cs typeface="Tahoma"/>
              </a:rPr>
              <a:t>Most submissions to be converted to modifications</a:t>
            </a:r>
          </a:p>
          <a:p>
            <a:pPr marL="307975" indent="-307975"/>
            <a:r>
              <a:rPr lang="en-US" dirty="0">
                <a:latin typeface="Tahoma"/>
                <a:ea typeface="Tahoma"/>
                <a:cs typeface="Tahoma"/>
              </a:rPr>
              <a:t>No progress this month on potential observed examples</a:t>
            </a:r>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D4D5C-BF7D-8681-89D6-C22F07A18064}"/>
              </a:ext>
            </a:extLst>
          </p:cNvPr>
          <p:cNvSpPr>
            <a:spLocks noGrp="1"/>
          </p:cNvSpPr>
          <p:nvPr>
            <p:ph type="title"/>
          </p:nvPr>
        </p:nvSpPr>
        <p:spPr/>
        <p:txBody>
          <a:bodyPr/>
          <a:lstStyle/>
          <a:p>
            <a:r>
              <a:rPr lang="en-US" dirty="0"/>
              <a:t>Changing Tactics</a:t>
            </a:r>
          </a:p>
        </p:txBody>
      </p:sp>
      <p:sp>
        <p:nvSpPr>
          <p:cNvPr id="3" name="Content Placeholder 2">
            <a:extLst>
              <a:ext uri="{FF2B5EF4-FFF2-40B4-BE49-F238E27FC236}">
                <a16:creationId xmlns:a16="http://schemas.microsoft.com/office/drawing/2014/main" id="{6B969EDA-1D1C-861C-AC0D-58A192A83F31}"/>
              </a:ext>
            </a:extLst>
          </p:cNvPr>
          <p:cNvSpPr>
            <a:spLocks noGrp="1"/>
          </p:cNvSpPr>
          <p:nvPr>
            <p:ph idx="1"/>
          </p:nvPr>
        </p:nvSpPr>
        <p:spPr/>
        <p:txBody>
          <a:bodyPr/>
          <a:lstStyle/>
          <a:p>
            <a:r>
              <a:rPr lang="en-US" dirty="0"/>
              <a:t>Many modifications are “typical” and don’t need much input from WG members</a:t>
            </a:r>
          </a:p>
          <a:p>
            <a:r>
              <a:rPr lang="en-US" dirty="0"/>
              <a:t>In the May 1 meeting, attendees agreed to do a more systematic approach to adding new CWEs</a:t>
            </a:r>
          </a:p>
          <a:p>
            <a:pPr lvl="1"/>
            <a:r>
              <a:rPr lang="en-US" dirty="0"/>
              <a:t>Sasha/RAND’s draft paper</a:t>
            </a:r>
          </a:p>
          <a:p>
            <a:pPr lvl="1"/>
            <a:r>
              <a:rPr lang="en-US" dirty="0"/>
              <a:t>Internal MITRE work</a:t>
            </a:r>
          </a:p>
          <a:p>
            <a:pPr lvl="1"/>
            <a:endParaRPr lang="en-US" dirty="0"/>
          </a:p>
        </p:txBody>
      </p:sp>
      <p:sp>
        <p:nvSpPr>
          <p:cNvPr id="4" name="Slide Number Placeholder 3">
            <a:extLst>
              <a:ext uri="{FF2B5EF4-FFF2-40B4-BE49-F238E27FC236}">
                <a16:creationId xmlns:a16="http://schemas.microsoft.com/office/drawing/2014/main" id="{4BD61A29-AE6E-7ACE-FEFF-B67F7767169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06888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5A1A-BF6C-4186-732B-CF8D2D22BC81}"/>
              </a:ext>
            </a:extLst>
          </p:cNvPr>
          <p:cNvSpPr>
            <a:spLocks noGrp="1"/>
          </p:cNvSpPr>
          <p:nvPr>
            <p:ph type="title"/>
          </p:nvPr>
        </p:nvSpPr>
        <p:spPr/>
        <p:txBody>
          <a:bodyPr/>
          <a:lstStyle/>
          <a:p>
            <a:r>
              <a:rPr lang="en-US" dirty="0"/>
              <a:t>Proposal to Modify CWE-1427</a:t>
            </a:r>
          </a:p>
        </p:txBody>
      </p:sp>
      <p:sp>
        <p:nvSpPr>
          <p:cNvPr id="3" name="Content Placeholder 2">
            <a:extLst>
              <a:ext uri="{FF2B5EF4-FFF2-40B4-BE49-F238E27FC236}">
                <a16:creationId xmlns:a16="http://schemas.microsoft.com/office/drawing/2014/main" id="{C069FD25-0C16-B328-29F8-1CC2DEB3A9F4}"/>
              </a:ext>
            </a:extLst>
          </p:cNvPr>
          <p:cNvSpPr>
            <a:spLocks noGrp="1"/>
          </p:cNvSpPr>
          <p:nvPr>
            <p:ph idx="1"/>
          </p:nvPr>
        </p:nvSpPr>
        <p:spPr/>
        <p:txBody>
          <a:bodyPr/>
          <a:lstStyle/>
          <a:p>
            <a:r>
              <a:rPr lang="en-US" dirty="0"/>
              <a:t>Author: Kurt Seifried (Cloud Security Alliance)</a:t>
            </a:r>
          </a:p>
          <a:p>
            <a:r>
              <a:rPr lang="en-US" dirty="0"/>
              <a:t>Provided as PDF to the CWE Team with permission to share with AI WG</a:t>
            </a:r>
          </a:p>
          <a:p>
            <a:r>
              <a:rPr lang="en-US" dirty="0"/>
              <a:t>20+ pages long!</a:t>
            </a:r>
          </a:p>
          <a:p>
            <a:r>
              <a:rPr lang="en-US" dirty="0"/>
              <a:t>Each issue is presented with multiple options</a:t>
            </a:r>
          </a:p>
          <a:p>
            <a:r>
              <a:rPr lang="en-US" dirty="0"/>
              <a:t>Potential to add new entries</a:t>
            </a:r>
          </a:p>
          <a:p>
            <a:endParaRPr lang="en-US" dirty="0"/>
          </a:p>
        </p:txBody>
      </p:sp>
      <p:sp>
        <p:nvSpPr>
          <p:cNvPr id="4" name="Slide Number Placeholder 3">
            <a:extLst>
              <a:ext uri="{FF2B5EF4-FFF2-40B4-BE49-F238E27FC236}">
                <a16:creationId xmlns:a16="http://schemas.microsoft.com/office/drawing/2014/main" id="{C588D158-42E6-F284-BF4D-1716B6E368F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41529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33B0A5-E2AF-2AB9-CD1D-49A2607028B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imeline&#10;&#10;AI-generated content may be incorrect.">
            <a:extLst>
              <a:ext uri="{FF2B5EF4-FFF2-40B4-BE49-F238E27FC236}">
                <a16:creationId xmlns:a16="http://schemas.microsoft.com/office/drawing/2014/main" id="{46E24C7F-F11A-8457-44F3-EC5031F8B6E7}"/>
              </a:ext>
            </a:extLst>
          </p:cNvPr>
          <p:cNvPicPr>
            <a:picLocks noChangeAspect="1"/>
          </p:cNvPicPr>
          <p:nvPr/>
        </p:nvPicPr>
        <p:blipFill>
          <a:blip r:embed="rId2"/>
          <a:stretch>
            <a:fillRect/>
          </a:stretch>
        </p:blipFill>
        <p:spPr>
          <a:xfrm>
            <a:off x="1330289" y="755136"/>
            <a:ext cx="9242461" cy="513662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F6885FE-AC56-620E-9C41-CF6666DE50F6}"/>
                  </a:ext>
                </a:extLst>
              </p14:cNvPr>
              <p14:cNvContentPartPr/>
              <p14:nvPr/>
            </p14:nvContentPartPr>
            <p14:xfrm>
              <a:off x="7629615" y="1956037"/>
              <a:ext cx="1749960" cy="145440"/>
            </p14:xfrm>
          </p:contentPart>
        </mc:Choice>
        <mc:Fallback xmlns="">
          <p:pic>
            <p:nvPicPr>
              <p:cNvPr id="5" name="Ink 4">
                <a:extLst>
                  <a:ext uri="{FF2B5EF4-FFF2-40B4-BE49-F238E27FC236}">
                    <a16:creationId xmlns:a16="http://schemas.microsoft.com/office/drawing/2014/main" id="{9F6885FE-AC56-620E-9C41-CF6666DE50F6}"/>
                  </a:ext>
                </a:extLst>
              </p:cNvPr>
              <p:cNvPicPr/>
              <p:nvPr/>
            </p:nvPicPr>
            <p:blipFill>
              <a:blip r:embed="rId4"/>
              <a:stretch>
                <a:fillRect/>
              </a:stretch>
            </p:blipFill>
            <p:spPr>
              <a:xfrm>
                <a:off x="7575615" y="1848397"/>
                <a:ext cx="1857600" cy="361080"/>
              </a:xfrm>
              <a:prstGeom prst="rect">
                <a:avLst/>
              </a:prstGeom>
            </p:spPr>
          </p:pic>
        </mc:Fallback>
      </mc:AlternateContent>
    </p:spTree>
    <p:extLst>
      <p:ext uri="{BB962C8B-B14F-4D97-AF65-F5344CB8AC3E}">
        <p14:creationId xmlns:p14="http://schemas.microsoft.com/office/powerpoint/2010/main" val="4199783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C8289D-79BE-26DB-A8B3-B6925BD789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E17F2383-D61E-A478-4B03-DA681C12730A}"/>
              </a:ext>
            </a:extLst>
          </p:cNvPr>
          <p:cNvPicPr>
            <a:picLocks noChangeAspect="1"/>
          </p:cNvPicPr>
          <p:nvPr/>
        </p:nvPicPr>
        <p:blipFill>
          <a:blip r:embed="rId2"/>
          <a:stretch>
            <a:fillRect/>
          </a:stretch>
        </p:blipFill>
        <p:spPr>
          <a:xfrm>
            <a:off x="1816059" y="1500004"/>
            <a:ext cx="8245555" cy="4229467"/>
          </a:xfrm>
          <a:prstGeom prst="rect">
            <a:avLst/>
          </a:prstGeom>
        </p:spPr>
      </p:pic>
    </p:spTree>
    <p:extLst>
      <p:ext uri="{BB962C8B-B14F-4D97-AF65-F5344CB8AC3E}">
        <p14:creationId xmlns:p14="http://schemas.microsoft.com/office/powerpoint/2010/main" val="3833706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0CD250-121D-DFB0-5AF1-8727ECBA014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6" name="Picture 5" descr="Graphical user interface, text, table, email&#10;&#10;AI-generated content may be incorrect.">
            <a:extLst>
              <a:ext uri="{FF2B5EF4-FFF2-40B4-BE49-F238E27FC236}">
                <a16:creationId xmlns:a16="http://schemas.microsoft.com/office/drawing/2014/main" id="{B1566C40-66D2-CF46-E68F-63A531619F1F}"/>
              </a:ext>
            </a:extLst>
          </p:cNvPr>
          <p:cNvPicPr>
            <a:picLocks noChangeAspect="1"/>
          </p:cNvPicPr>
          <p:nvPr/>
        </p:nvPicPr>
        <p:blipFill>
          <a:blip r:embed="rId2"/>
          <a:stretch>
            <a:fillRect/>
          </a:stretch>
        </p:blipFill>
        <p:spPr>
          <a:xfrm>
            <a:off x="2030377" y="544580"/>
            <a:ext cx="8131245" cy="5768840"/>
          </a:xfrm>
          <a:prstGeom prst="rect">
            <a:avLst/>
          </a:prstGeom>
        </p:spPr>
      </p:pic>
    </p:spTree>
    <p:extLst>
      <p:ext uri="{BB962C8B-B14F-4D97-AF65-F5344CB8AC3E}">
        <p14:creationId xmlns:p14="http://schemas.microsoft.com/office/powerpoint/2010/main" val="3837186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E90950-5D4D-1684-3A3D-06AB8B48C1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6F355C61-593B-9BC2-D2F5-676EC65F08D5}"/>
              </a:ext>
            </a:extLst>
          </p:cNvPr>
          <p:cNvPicPr>
            <a:picLocks noChangeAspect="1"/>
          </p:cNvPicPr>
          <p:nvPr/>
        </p:nvPicPr>
        <p:blipFill>
          <a:blip r:embed="rId2"/>
          <a:stretch>
            <a:fillRect/>
          </a:stretch>
        </p:blipFill>
        <p:spPr>
          <a:xfrm>
            <a:off x="1961791" y="639838"/>
            <a:ext cx="8268417" cy="5578323"/>
          </a:xfrm>
          <a:prstGeom prst="rect">
            <a:avLst/>
          </a:prstGeom>
        </p:spPr>
      </p:pic>
    </p:spTree>
    <p:extLst>
      <p:ext uri="{BB962C8B-B14F-4D97-AF65-F5344CB8AC3E}">
        <p14:creationId xmlns:p14="http://schemas.microsoft.com/office/powerpoint/2010/main" val="2263683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E59939-D9B0-1C8F-6B46-9202577215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a:extLst>
              <a:ext uri="{FF2B5EF4-FFF2-40B4-BE49-F238E27FC236}">
                <a16:creationId xmlns:a16="http://schemas.microsoft.com/office/drawing/2014/main" id="{6F4B8CAE-32B7-E032-DA53-1B32B5A25BF1}"/>
              </a:ext>
            </a:extLst>
          </p:cNvPr>
          <p:cNvPicPr>
            <a:picLocks noChangeAspect="1"/>
          </p:cNvPicPr>
          <p:nvPr/>
        </p:nvPicPr>
        <p:blipFill>
          <a:blip r:embed="rId2"/>
          <a:stretch>
            <a:fillRect/>
          </a:stretch>
        </p:blipFill>
        <p:spPr>
          <a:xfrm>
            <a:off x="2015136" y="929423"/>
            <a:ext cx="8161727" cy="4999153"/>
          </a:xfrm>
          <a:prstGeom prst="rect">
            <a:avLst/>
          </a:prstGeom>
        </p:spPr>
      </p:pic>
    </p:spTree>
    <p:extLst>
      <p:ext uri="{BB962C8B-B14F-4D97-AF65-F5344CB8AC3E}">
        <p14:creationId xmlns:p14="http://schemas.microsoft.com/office/powerpoint/2010/main" val="2549164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05C5-5FF6-139B-ECB6-C1FD1A7EAB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300170-C9E0-26F2-9B1E-A5799E0F17C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282F3DEC-75D2-73AE-26D1-23FDB7522072}"/>
              </a:ext>
            </a:extLst>
          </p:cNvPr>
          <p:cNvPicPr>
            <a:picLocks noChangeAspect="1"/>
          </p:cNvPicPr>
          <p:nvPr/>
        </p:nvPicPr>
        <p:blipFill>
          <a:blip r:embed="rId2"/>
          <a:stretch>
            <a:fillRect/>
          </a:stretch>
        </p:blipFill>
        <p:spPr>
          <a:xfrm>
            <a:off x="2335204" y="373115"/>
            <a:ext cx="7521592" cy="6111770"/>
          </a:xfrm>
          <a:prstGeom prst="rect">
            <a:avLst/>
          </a:prstGeom>
        </p:spPr>
      </p:pic>
    </p:spTree>
    <p:extLst>
      <p:ext uri="{BB962C8B-B14F-4D97-AF65-F5344CB8AC3E}">
        <p14:creationId xmlns:p14="http://schemas.microsoft.com/office/powerpoint/2010/main" val="2985762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7875E-2C64-2D21-BCB1-AA1478E8888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9ACF02-D090-1E1C-9EA4-6CA70665BB9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DA57A18D-8870-7A83-DE88-EA2CD2ABCE46}"/>
              </a:ext>
            </a:extLst>
          </p:cNvPr>
          <p:cNvPicPr>
            <a:picLocks noChangeAspect="1"/>
          </p:cNvPicPr>
          <p:nvPr/>
        </p:nvPicPr>
        <p:blipFill>
          <a:blip r:embed="rId2"/>
          <a:stretch>
            <a:fillRect/>
          </a:stretch>
        </p:blipFill>
        <p:spPr>
          <a:xfrm>
            <a:off x="2045619" y="354063"/>
            <a:ext cx="8100762" cy="6149873"/>
          </a:xfrm>
          <a:prstGeom prst="rect">
            <a:avLst/>
          </a:prstGeom>
        </p:spPr>
      </p:pic>
    </p:spTree>
    <p:extLst>
      <p:ext uri="{BB962C8B-B14F-4D97-AF65-F5344CB8AC3E}">
        <p14:creationId xmlns:p14="http://schemas.microsoft.com/office/powerpoint/2010/main" val="3910918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4FB3F-44AA-4113-28D5-FE304CFB74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820469-BB6E-2979-0290-DD9C2C942F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2587646C-E0F5-C372-4C90-CBF3AE3E0589}"/>
              </a:ext>
            </a:extLst>
          </p:cNvPr>
          <p:cNvPicPr>
            <a:picLocks noChangeAspect="1"/>
          </p:cNvPicPr>
          <p:nvPr/>
        </p:nvPicPr>
        <p:blipFill>
          <a:blip r:embed="rId2"/>
          <a:stretch>
            <a:fillRect/>
          </a:stretch>
        </p:blipFill>
        <p:spPr>
          <a:xfrm>
            <a:off x="2369497" y="643648"/>
            <a:ext cx="7453006" cy="5570703"/>
          </a:xfrm>
          <a:prstGeom prst="rect">
            <a:avLst/>
          </a:prstGeom>
        </p:spPr>
      </p:pic>
    </p:spTree>
    <p:extLst>
      <p:ext uri="{BB962C8B-B14F-4D97-AF65-F5344CB8AC3E}">
        <p14:creationId xmlns:p14="http://schemas.microsoft.com/office/powerpoint/2010/main" val="1995894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72F7E-0063-FD27-0EC1-F3FE68161D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93EC91-882F-9E67-E89F-CDD4DB17D0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table, email&#10;&#10;AI-generated content may be incorrect.">
            <a:extLst>
              <a:ext uri="{FF2B5EF4-FFF2-40B4-BE49-F238E27FC236}">
                <a16:creationId xmlns:a16="http://schemas.microsoft.com/office/drawing/2014/main" id="{757D0797-BEDF-F74B-03AC-F6FED2AF8819}"/>
              </a:ext>
            </a:extLst>
          </p:cNvPr>
          <p:cNvPicPr>
            <a:picLocks noChangeAspect="1"/>
          </p:cNvPicPr>
          <p:nvPr/>
        </p:nvPicPr>
        <p:blipFill>
          <a:blip r:embed="rId2"/>
          <a:stretch>
            <a:fillRect/>
          </a:stretch>
        </p:blipFill>
        <p:spPr>
          <a:xfrm>
            <a:off x="3341131" y="472184"/>
            <a:ext cx="5509737" cy="5913632"/>
          </a:xfrm>
          <a:prstGeom prst="rect">
            <a:avLst/>
          </a:prstGeom>
        </p:spPr>
      </p:pic>
    </p:spTree>
    <p:extLst>
      <p:ext uri="{BB962C8B-B14F-4D97-AF65-F5344CB8AC3E}">
        <p14:creationId xmlns:p14="http://schemas.microsoft.com/office/powerpoint/2010/main" val="2010714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6CEE-0605-5F29-3B9A-15C9983FAA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AAFCC-ADE5-9183-7F03-FF33A67421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1C1696F7-D370-C94A-F6A7-9E3EAEBB1B47}"/>
              </a:ext>
            </a:extLst>
          </p:cNvPr>
          <p:cNvPicPr>
            <a:picLocks noChangeAspect="1"/>
          </p:cNvPicPr>
          <p:nvPr/>
        </p:nvPicPr>
        <p:blipFill>
          <a:blip r:embed="rId2"/>
          <a:stretch>
            <a:fillRect/>
          </a:stretch>
        </p:blipFill>
        <p:spPr>
          <a:xfrm>
            <a:off x="2557463" y="863790"/>
            <a:ext cx="6843711" cy="5311537"/>
          </a:xfrm>
          <a:prstGeom prst="rect">
            <a:avLst/>
          </a:prstGeom>
        </p:spPr>
      </p:pic>
    </p:spTree>
    <p:extLst>
      <p:ext uri="{BB962C8B-B14F-4D97-AF65-F5344CB8AC3E}">
        <p14:creationId xmlns:p14="http://schemas.microsoft.com/office/powerpoint/2010/main" val="797462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ACE9B-E0BF-3157-D742-F511C7FF31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E5B45D-D887-9F56-F2C1-062EF13FDD3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Table&#10;&#10;AI-generated content may be incorrect.">
            <a:extLst>
              <a:ext uri="{FF2B5EF4-FFF2-40B4-BE49-F238E27FC236}">
                <a16:creationId xmlns:a16="http://schemas.microsoft.com/office/drawing/2014/main" id="{B7B403F3-35D8-B6FB-39D0-BC67FDF9C2E9}"/>
              </a:ext>
            </a:extLst>
          </p:cNvPr>
          <p:cNvPicPr>
            <a:picLocks noChangeAspect="1"/>
          </p:cNvPicPr>
          <p:nvPr/>
        </p:nvPicPr>
        <p:blipFill>
          <a:blip r:embed="rId2"/>
          <a:stretch>
            <a:fillRect/>
          </a:stretch>
        </p:blipFill>
        <p:spPr>
          <a:xfrm>
            <a:off x="3310648" y="757958"/>
            <a:ext cx="5570703" cy="5342083"/>
          </a:xfrm>
          <a:prstGeom prst="rect">
            <a:avLst/>
          </a:prstGeom>
        </p:spPr>
      </p:pic>
    </p:spTree>
    <p:extLst>
      <p:ext uri="{BB962C8B-B14F-4D97-AF65-F5344CB8AC3E}">
        <p14:creationId xmlns:p14="http://schemas.microsoft.com/office/powerpoint/2010/main" val="1552597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6A191-D29D-C1FF-2EE1-678FA88707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3A1D64-4A3F-FEC9-604E-3283FDC7646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9D1AFA0B-7301-3E53-6CA7-D5D99AC494EA}"/>
              </a:ext>
            </a:extLst>
          </p:cNvPr>
          <p:cNvPicPr>
            <a:picLocks noChangeAspect="1"/>
          </p:cNvPicPr>
          <p:nvPr/>
        </p:nvPicPr>
        <p:blipFill>
          <a:blip r:embed="rId2"/>
          <a:stretch>
            <a:fillRect/>
          </a:stretch>
        </p:blipFill>
        <p:spPr>
          <a:xfrm>
            <a:off x="2906753" y="857027"/>
            <a:ext cx="6378493" cy="5143946"/>
          </a:xfrm>
          <a:prstGeom prst="rect">
            <a:avLst/>
          </a:prstGeom>
        </p:spPr>
      </p:pic>
    </p:spTree>
    <p:extLst>
      <p:ext uri="{BB962C8B-B14F-4D97-AF65-F5344CB8AC3E}">
        <p14:creationId xmlns:p14="http://schemas.microsoft.com/office/powerpoint/2010/main" val="93690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FD404-53A0-179C-C66A-40309C58CD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CF857-6EAE-14F6-40E2-D3C59DF3766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852B936C-7B8F-1434-E069-56937B9E46D6}"/>
              </a:ext>
            </a:extLst>
          </p:cNvPr>
          <p:cNvPicPr>
            <a:picLocks noChangeAspect="1"/>
          </p:cNvPicPr>
          <p:nvPr/>
        </p:nvPicPr>
        <p:blipFill>
          <a:blip r:embed="rId2"/>
          <a:stretch>
            <a:fillRect/>
          </a:stretch>
        </p:blipFill>
        <p:spPr>
          <a:xfrm>
            <a:off x="3047736" y="437891"/>
            <a:ext cx="6096528" cy="5982218"/>
          </a:xfrm>
          <a:prstGeom prst="rect">
            <a:avLst/>
          </a:prstGeom>
        </p:spPr>
      </p:pic>
    </p:spTree>
    <p:extLst>
      <p:ext uri="{BB962C8B-B14F-4D97-AF65-F5344CB8AC3E}">
        <p14:creationId xmlns:p14="http://schemas.microsoft.com/office/powerpoint/2010/main" val="837604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41B4D-9FAB-6AAB-299F-35352B110E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5689A9-4383-A13A-3CD0-B71DC96D07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4" name="Picture 3" descr="Graphical user interface, text, application, email&#10;&#10;AI-generated content may be incorrect.">
            <a:extLst>
              <a:ext uri="{FF2B5EF4-FFF2-40B4-BE49-F238E27FC236}">
                <a16:creationId xmlns:a16="http://schemas.microsoft.com/office/drawing/2014/main" id="{59CAAEFD-1AD6-49E6-DAB4-3BABE077335E}"/>
              </a:ext>
            </a:extLst>
          </p:cNvPr>
          <p:cNvPicPr>
            <a:picLocks noChangeAspect="1"/>
          </p:cNvPicPr>
          <p:nvPr/>
        </p:nvPicPr>
        <p:blipFill>
          <a:blip r:embed="rId2"/>
          <a:stretch>
            <a:fillRect/>
          </a:stretch>
        </p:blipFill>
        <p:spPr>
          <a:xfrm>
            <a:off x="2423345" y="1376939"/>
            <a:ext cx="7861243" cy="4904536"/>
          </a:xfrm>
          <a:prstGeom prst="rect">
            <a:avLst/>
          </a:prstGeom>
        </p:spPr>
      </p:pic>
    </p:spTree>
    <p:extLst>
      <p:ext uri="{BB962C8B-B14F-4D97-AF65-F5344CB8AC3E}">
        <p14:creationId xmlns:p14="http://schemas.microsoft.com/office/powerpoint/2010/main" val="309230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8BAD-DEC8-3302-D41D-CE2CF1133C45}"/>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31E3304-FCBA-0157-D0E1-CF2D669A2152}"/>
              </a:ext>
            </a:extLst>
          </p:cNvPr>
          <p:cNvSpPr>
            <a:spLocks noGrp="1"/>
          </p:cNvSpPr>
          <p:nvPr>
            <p:ph idx="1"/>
          </p:nvPr>
        </p:nvSpPr>
        <p:spPr/>
        <p:txBody>
          <a:bodyPr/>
          <a:lstStyle/>
          <a:p>
            <a:r>
              <a:rPr lang="en-US" dirty="0"/>
              <a:t>Steve to coordinate with Kurt to review and share his document more openly, e.g., through CDR</a:t>
            </a:r>
          </a:p>
          <a:p>
            <a:r>
              <a:rPr lang="en-US" dirty="0"/>
              <a:t>Initial focus on “quick-win” scenarios</a:t>
            </a:r>
          </a:p>
          <a:p>
            <a:r>
              <a:rPr lang="en-US" dirty="0"/>
              <a:t>Organizational/hierarchical issues may be more difficult</a:t>
            </a:r>
          </a:p>
        </p:txBody>
      </p:sp>
      <p:sp>
        <p:nvSpPr>
          <p:cNvPr id="4" name="Slide Number Placeholder 3">
            <a:extLst>
              <a:ext uri="{FF2B5EF4-FFF2-40B4-BE49-F238E27FC236}">
                <a16:creationId xmlns:a16="http://schemas.microsoft.com/office/drawing/2014/main" id="{8603EDF8-C280-73E1-946A-58A386BB342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83225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21E2-93C6-338B-6EE5-96B96BC64DC2}"/>
              </a:ext>
            </a:extLst>
          </p:cNvPr>
          <p:cNvSpPr>
            <a:spLocks noGrp="1"/>
          </p:cNvSpPr>
          <p:nvPr>
            <p:ph type="ctrTitle" sz="quarter"/>
          </p:nvPr>
        </p:nvSpPr>
        <p:spPr/>
        <p:txBody>
          <a:bodyPr/>
          <a:lstStyle/>
          <a:p>
            <a:r>
              <a:rPr lang="en-US" dirty="0"/>
              <a:t>Observed Examples – Older Slides (January 2026)</a:t>
            </a:r>
          </a:p>
        </p:txBody>
      </p:sp>
      <p:sp>
        <p:nvSpPr>
          <p:cNvPr id="3" name="Slide Number Placeholder 2">
            <a:extLst>
              <a:ext uri="{FF2B5EF4-FFF2-40B4-BE49-F238E27FC236}">
                <a16:creationId xmlns:a16="http://schemas.microsoft.com/office/drawing/2014/main" id="{A6771BA5-3489-53D2-46F8-81439EFF345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5433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EEF8-66F3-2D4B-B2CC-CD30A73943E6}"/>
              </a:ext>
            </a:extLst>
          </p:cNvPr>
          <p:cNvSpPr>
            <a:spLocks noGrp="1"/>
          </p:cNvSpPr>
          <p:nvPr>
            <p:ph type="title"/>
          </p:nvPr>
        </p:nvSpPr>
        <p:spPr/>
        <p:txBody>
          <a:bodyPr/>
          <a:lstStyle/>
          <a:p>
            <a:r>
              <a:rPr lang="en-US" dirty="0"/>
              <a:t>Summary of Last Modification Meeting?</a:t>
            </a:r>
            <a:br>
              <a:rPr lang="en-US" dirty="0"/>
            </a:br>
            <a:r>
              <a:rPr lang="en-US" dirty="0"/>
              <a:t>(November 2025)</a:t>
            </a:r>
          </a:p>
        </p:txBody>
      </p:sp>
      <p:pic>
        <p:nvPicPr>
          <p:cNvPr id="6" name="Content Placeholder 5">
            <a:extLst>
              <a:ext uri="{FF2B5EF4-FFF2-40B4-BE49-F238E27FC236}">
                <a16:creationId xmlns:a16="http://schemas.microsoft.com/office/drawing/2014/main" id="{101C9C1E-28EA-0E5E-C37B-1B01E0678800}"/>
              </a:ext>
            </a:extLst>
          </p:cNvPr>
          <p:cNvPicPr>
            <a:picLocks noGrp="1" noChangeAspect="1"/>
          </p:cNvPicPr>
          <p:nvPr>
            <p:ph idx="1"/>
          </p:nvPr>
        </p:nvPicPr>
        <p:blipFill>
          <a:blip r:embed="rId2"/>
          <a:stretch>
            <a:fillRect/>
          </a:stretch>
        </p:blipFill>
        <p:spPr>
          <a:xfrm>
            <a:off x="1478071" y="1346094"/>
            <a:ext cx="8442543" cy="4753684"/>
          </a:xfrm>
        </p:spPr>
      </p:pic>
      <p:sp>
        <p:nvSpPr>
          <p:cNvPr id="4" name="Slide Number Placeholder 3">
            <a:extLst>
              <a:ext uri="{FF2B5EF4-FFF2-40B4-BE49-F238E27FC236}">
                <a16:creationId xmlns:a16="http://schemas.microsoft.com/office/drawing/2014/main" id="{40E9ED6C-CC16-29FA-29A6-63345EECF55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5146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25669-F833-970A-1992-544784B7D974}"/>
              </a:ext>
            </a:extLst>
          </p:cNvPr>
          <p:cNvSpPr>
            <a:spLocks noGrp="1"/>
          </p:cNvSpPr>
          <p:nvPr>
            <p:ph type="title"/>
          </p:nvPr>
        </p:nvSpPr>
        <p:spPr/>
        <p:txBody>
          <a:bodyPr/>
          <a:lstStyle/>
          <a:p>
            <a:r>
              <a:rPr lang="en-US" sz="2800" dirty="0"/>
              <a:t>What We Did (s/We/What Steve Thought We/): Identifying Observed / Demonstrative Examples for “General” CWEs</a:t>
            </a:r>
          </a:p>
        </p:txBody>
      </p:sp>
      <p:sp>
        <p:nvSpPr>
          <p:cNvPr id="3" name="Content Placeholder 2">
            <a:extLst>
              <a:ext uri="{FF2B5EF4-FFF2-40B4-BE49-F238E27FC236}">
                <a16:creationId xmlns:a16="http://schemas.microsoft.com/office/drawing/2014/main" id="{7EFAFBE8-5E16-E04A-7DAB-45787517A39B}"/>
              </a:ext>
            </a:extLst>
          </p:cNvPr>
          <p:cNvSpPr>
            <a:spLocks noGrp="1"/>
          </p:cNvSpPr>
          <p:nvPr>
            <p:ph idx="1"/>
          </p:nvPr>
        </p:nvSpPr>
        <p:spPr/>
        <p:txBody>
          <a:bodyPr/>
          <a:lstStyle/>
          <a:p>
            <a:r>
              <a:rPr lang="en-US" sz="2000" dirty="0"/>
              <a:t>Original Situation</a:t>
            </a:r>
          </a:p>
          <a:p>
            <a:pPr lvl="1"/>
            <a:r>
              <a:rPr lang="en-US" sz="2000" dirty="0"/>
              <a:t>Since AI/ML is software, it could be subject to nearly all 900+ weaknesses</a:t>
            </a:r>
          </a:p>
          <a:p>
            <a:pPr lvl="2"/>
            <a:r>
              <a:rPr lang="en-US" sz="2000" dirty="0"/>
              <a:t>As of CWE 4.19.1, there are 17 CWEs tagged with AI/ML label</a:t>
            </a:r>
          </a:p>
          <a:p>
            <a:pPr lvl="1"/>
            <a:r>
              <a:rPr lang="en-US" sz="2000" dirty="0"/>
              <a:t>3 to 5 AI-only entries? Can’t count ‘</a:t>
            </a:r>
            <a:r>
              <a:rPr lang="en-US" sz="2000" dirty="0" err="1"/>
              <a:t>em</a:t>
            </a:r>
            <a:r>
              <a:rPr lang="en-US" sz="2000" dirty="0"/>
              <a:t> at the moment, schema-wise</a:t>
            </a:r>
          </a:p>
          <a:p>
            <a:pPr lvl="1"/>
            <a:r>
              <a:rPr lang="en-US" sz="2000" dirty="0"/>
              <a:t>Do data-science related CWEs count as “AI”?</a:t>
            </a:r>
          </a:p>
          <a:p>
            <a:r>
              <a:rPr lang="en-US" sz="2000" dirty="0"/>
              <a:t>Original Goal: determine other general CWEs that seem to appear frequently in AI/ML components</a:t>
            </a:r>
          </a:p>
          <a:p>
            <a:r>
              <a:rPr lang="en-US" sz="2000" dirty="0"/>
              <a:t>Original Plan</a:t>
            </a:r>
          </a:p>
          <a:p>
            <a:pPr lvl="1"/>
            <a:r>
              <a:rPr lang="en-US" sz="2000" dirty="0"/>
              <a:t>(Success) identify AI/ML related products</a:t>
            </a:r>
          </a:p>
          <a:p>
            <a:pPr lvl="1"/>
            <a:r>
              <a:rPr lang="en-US" sz="2000" dirty="0"/>
              <a:t>(Success) Search NVD for descriptions for those products</a:t>
            </a:r>
          </a:p>
          <a:p>
            <a:pPr lvl="1"/>
            <a:r>
              <a:rPr lang="en-US" sz="2000" dirty="0"/>
              <a:t>(fail?) Find observed examples!</a:t>
            </a:r>
          </a:p>
          <a:p>
            <a:pPr lvl="2"/>
            <a:r>
              <a:rPr lang="en-US" sz="2000" dirty="0"/>
              <a:t>AI modification subgroup: “this is a Misuse Of Our Time And Expertise”</a:t>
            </a:r>
          </a:p>
          <a:p>
            <a:pPr lvl="3"/>
            <a:r>
              <a:rPr lang="en-US" sz="2000" dirty="0"/>
              <a:t>Steve: huh. Interesting.</a:t>
            </a:r>
          </a:p>
          <a:p>
            <a:endParaRPr lang="en-US" sz="2000" dirty="0"/>
          </a:p>
        </p:txBody>
      </p:sp>
      <p:sp>
        <p:nvSpPr>
          <p:cNvPr id="4" name="Slide Number Placeholder 3">
            <a:extLst>
              <a:ext uri="{FF2B5EF4-FFF2-40B4-BE49-F238E27FC236}">
                <a16:creationId xmlns:a16="http://schemas.microsoft.com/office/drawing/2014/main" id="{F5D6B844-F72B-D887-A4D9-DC6A34A894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00506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FEE7-2FBA-4418-CF6F-82504B4C4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008F0-3C52-F4A8-548D-35698B43A3CB}"/>
              </a:ext>
            </a:extLst>
          </p:cNvPr>
          <p:cNvSpPr>
            <a:spLocks noGrp="1"/>
          </p:cNvSpPr>
          <p:nvPr>
            <p:ph type="title"/>
          </p:nvPr>
        </p:nvSpPr>
        <p:spPr/>
        <p:txBody>
          <a:bodyPr/>
          <a:lstStyle/>
          <a:p>
            <a:r>
              <a:rPr lang="en-US" sz="2800" dirty="0"/>
              <a:t>New Plan? Based on Feedback</a:t>
            </a:r>
          </a:p>
        </p:txBody>
      </p:sp>
      <p:sp>
        <p:nvSpPr>
          <p:cNvPr id="3" name="Content Placeholder 2">
            <a:extLst>
              <a:ext uri="{FF2B5EF4-FFF2-40B4-BE49-F238E27FC236}">
                <a16:creationId xmlns:a16="http://schemas.microsoft.com/office/drawing/2014/main" id="{C86C0050-3E7E-C9C9-4F7C-DEB4555C2824}"/>
              </a:ext>
            </a:extLst>
          </p:cNvPr>
          <p:cNvSpPr>
            <a:spLocks noGrp="1"/>
          </p:cNvSpPr>
          <p:nvPr>
            <p:ph idx="1"/>
          </p:nvPr>
        </p:nvSpPr>
        <p:spPr/>
        <p:txBody>
          <a:bodyPr/>
          <a:lstStyle/>
          <a:p>
            <a:r>
              <a:rPr lang="en-US" sz="1600" dirty="0"/>
              <a:t>New Plan (?)</a:t>
            </a:r>
          </a:p>
          <a:p>
            <a:pPr lvl="1"/>
            <a:r>
              <a:rPr lang="en-US" sz="1600" dirty="0"/>
              <a:t>Find </a:t>
            </a:r>
            <a:r>
              <a:rPr lang="en-US" sz="1600" dirty="0" err="1"/>
              <a:t>obex</a:t>
            </a:r>
            <a:r>
              <a:rPr lang="en-US" sz="1600" dirty="0"/>
              <a:t> for </a:t>
            </a:r>
            <a:r>
              <a:rPr lang="en-US" sz="1600" b="1" dirty="0"/>
              <a:t>AI-</a:t>
            </a:r>
            <a:r>
              <a:rPr lang="en-US" sz="1600" b="1" u="sng" dirty="0"/>
              <a:t>specific</a:t>
            </a:r>
            <a:r>
              <a:rPr lang="en-US" sz="1600" dirty="0"/>
              <a:t> weaknesses</a:t>
            </a:r>
          </a:p>
          <a:p>
            <a:pPr lvl="1"/>
            <a:r>
              <a:rPr lang="en-US" sz="1600" dirty="0"/>
              <a:t>But… but… this is the Modification subgroup?</a:t>
            </a:r>
          </a:p>
          <a:p>
            <a:pPr lvl="1"/>
            <a:r>
              <a:rPr lang="en-US" sz="1600" dirty="0"/>
              <a:t>We have Observed Examples (and Demonstrative Examples) for each AI-related CWE so far</a:t>
            </a:r>
          </a:p>
          <a:p>
            <a:r>
              <a:rPr lang="en-US" sz="1600" dirty="0"/>
              <a:t>Current Context</a:t>
            </a:r>
          </a:p>
          <a:p>
            <a:pPr lvl="1"/>
            <a:r>
              <a:rPr lang="en-US" sz="1600" dirty="0"/>
              <a:t>This WG brainstormed names of many products related to AI</a:t>
            </a:r>
          </a:p>
          <a:p>
            <a:pPr lvl="2"/>
            <a:r>
              <a:rPr lang="en-US" sz="1600" dirty="0"/>
              <a:t>Many were AI-supporting products (data science), or products that used AI</a:t>
            </a:r>
          </a:p>
          <a:p>
            <a:pPr lvl="1"/>
            <a:r>
              <a:rPr lang="en-US" sz="1600" dirty="0"/>
              <a:t>CWE Team searched recent CVE descriptions for AI-related products</a:t>
            </a:r>
          </a:p>
          <a:p>
            <a:pPr lvl="2"/>
            <a:r>
              <a:rPr lang="en-US" sz="1600" dirty="0"/>
              <a:t>866 matches as of last count</a:t>
            </a:r>
          </a:p>
          <a:p>
            <a:pPr lvl="3"/>
            <a:r>
              <a:rPr lang="en-US" sz="1600" dirty="0">
                <a:solidFill>
                  <a:srgbClr val="C00000"/>
                </a:solidFill>
              </a:rPr>
              <a:t>58 are NVD-CWE-</a:t>
            </a:r>
            <a:r>
              <a:rPr lang="en-US" sz="1600" dirty="0" err="1">
                <a:solidFill>
                  <a:srgbClr val="C00000"/>
                </a:solidFill>
              </a:rPr>
              <a:t>noinfo</a:t>
            </a:r>
            <a:endParaRPr lang="en-US" sz="1600" dirty="0">
              <a:solidFill>
                <a:srgbClr val="C00000"/>
              </a:solidFill>
            </a:endParaRPr>
          </a:p>
          <a:p>
            <a:pPr lvl="3"/>
            <a:r>
              <a:rPr lang="en-US" sz="1600" dirty="0">
                <a:solidFill>
                  <a:srgbClr val="C00000"/>
                </a:solidFill>
              </a:rPr>
              <a:t>36 others have no CWE (and, 17 “NVD-CWE-Other”)</a:t>
            </a:r>
          </a:p>
          <a:p>
            <a:pPr lvl="2"/>
            <a:r>
              <a:rPr lang="en-US" sz="1600" dirty="0"/>
              <a:t>164 unique products or product combinations</a:t>
            </a:r>
          </a:p>
          <a:p>
            <a:pPr lvl="3"/>
            <a:r>
              <a:rPr lang="en-US" sz="1600" dirty="0"/>
              <a:t>Many products flagged because LLM/GPT/etc. was in the name</a:t>
            </a:r>
          </a:p>
          <a:p>
            <a:pPr lvl="2"/>
            <a:r>
              <a:rPr lang="en-US" sz="1600" dirty="0"/>
              <a:t>NVD’s CPE data was incomplete.</a:t>
            </a:r>
          </a:p>
          <a:p>
            <a:pPr lvl="3"/>
            <a:r>
              <a:rPr lang="en-US" sz="1600" dirty="0"/>
              <a:t>Ideas on using AI to infer CPEs? (it’s been done)</a:t>
            </a:r>
          </a:p>
          <a:p>
            <a:endParaRPr lang="en-US" sz="1600" dirty="0"/>
          </a:p>
          <a:p>
            <a:endParaRPr lang="en-US" sz="1600" dirty="0"/>
          </a:p>
        </p:txBody>
      </p:sp>
      <p:sp>
        <p:nvSpPr>
          <p:cNvPr id="4" name="Slide Number Placeholder 3">
            <a:extLst>
              <a:ext uri="{FF2B5EF4-FFF2-40B4-BE49-F238E27FC236}">
                <a16:creationId xmlns:a16="http://schemas.microsoft.com/office/drawing/2014/main" id="{2BBA4BEF-FFD1-7AFA-B812-C047748FFA8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56464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3D73-56B8-0377-5176-545741F2A2A2}"/>
              </a:ext>
            </a:extLst>
          </p:cNvPr>
          <p:cNvSpPr>
            <a:spLocks noGrp="1"/>
          </p:cNvSpPr>
          <p:nvPr>
            <p:ph type="title"/>
          </p:nvPr>
        </p:nvSpPr>
        <p:spPr/>
        <p:txBody>
          <a:bodyPr/>
          <a:lstStyle/>
          <a:p>
            <a:r>
              <a:rPr lang="en-US" dirty="0"/>
              <a:t>Interesting CWEs (biased human sample)</a:t>
            </a:r>
          </a:p>
        </p:txBody>
      </p:sp>
      <p:sp>
        <p:nvSpPr>
          <p:cNvPr id="3" name="Content Placeholder 2">
            <a:extLst>
              <a:ext uri="{FF2B5EF4-FFF2-40B4-BE49-F238E27FC236}">
                <a16:creationId xmlns:a16="http://schemas.microsoft.com/office/drawing/2014/main" id="{DDD022E7-23DB-3E55-B34F-D445469EE3C6}"/>
              </a:ext>
            </a:extLst>
          </p:cNvPr>
          <p:cNvSpPr>
            <a:spLocks noGrp="1"/>
          </p:cNvSpPr>
          <p:nvPr>
            <p:ph idx="1"/>
          </p:nvPr>
        </p:nvSpPr>
        <p:spPr/>
        <p:txBody>
          <a:bodyPr/>
          <a:lstStyle/>
          <a:p>
            <a:r>
              <a:rPr lang="en-US" dirty="0"/>
              <a:t>Where did AI learn this? Or is it just regular software errors?</a:t>
            </a:r>
          </a:p>
          <a:p>
            <a:pPr lvl="1"/>
            <a:r>
              <a:rPr lang="en-US" dirty="0"/>
              <a:t>53 CWE-617: Reachable Assertion</a:t>
            </a:r>
          </a:p>
          <a:p>
            <a:pPr lvl="1"/>
            <a:r>
              <a:rPr lang="en-US" dirty="0"/>
              <a:t>53 CWE-20: Improper Input Validation</a:t>
            </a:r>
          </a:p>
          <a:p>
            <a:pPr lvl="1"/>
            <a:r>
              <a:rPr lang="en-US" dirty="0"/>
              <a:t>38 CWE-862: Missing Authorization</a:t>
            </a:r>
          </a:p>
          <a:p>
            <a:pPr lvl="1"/>
            <a:r>
              <a:rPr lang="en-US" dirty="0"/>
              <a:t>4 CWE-475: Undefined Behavior for Input to API</a:t>
            </a:r>
          </a:p>
          <a:p>
            <a:pPr lvl="1"/>
            <a:r>
              <a:rPr lang="en-US" dirty="0"/>
              <a:t>3 CWE-840: Business Logic Errors</a:t>
            </a:r>
          </a:p>
          <a:p>
            <a:pPr lvl="2"/>
            <a:r>
              <a:rPr lang="en-US" dirty="0"/>
              <a:t>Not even a weakness! (it’s a category)</a:t>
            </a:r>
          </a:p>
          <a:p>
            <a:pPr lvl="1"/>
            <a:endParaRPr lang="en-US" dirty="0"/>
          </a:p>
          <a:p>
            <a:r>
              <a:rPr lang="en-US" dirty="0">
                <a:solidFill>
                  <a:srgbClr val="C00000"/>
                </a:solidFill>
              </a:rPr>
              <a:t>1 CWE-1039: Inadequate Detection or Handling of Adversarial Input Perturbations in Automated Recognition Mechanism</a:t>
            </a:r>
          </a:p>
          <a:p>
            <a:r>
              <a:rPr lang="en-US" dirty="0">
                <a:solidFill>
                  <a:srgbClr val="C00000"/>
                </a:solidFill>
              </a:rPr>
              <a:t>1 CWE-1426: Improper Validation of Generative AI Output</a:t>
            </a:r>
          </a:p>
        </p:txBody>
      </p:sp>
      <p:sp>
        <p:nvSpPr>
          <p:cNvPr id="4" name="Slide Number Placeholder 3">
            <a:extLst>
              <a:ext uri="{FF2B5EF4-FFF2-40B4-BE49-F238E27FC236}">
                <a16:creationId xmlns:a16="http://schemas.microsoft.com/office/drawing/2014/main" id="{5766C86D-47D0-78EE-1755-04E8275AB3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13820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22FBA-23B8-01FA-B203-DD14A8501CD3}"/>
              </a:ext>
            </a:extLst>
          </p:cNvPr>
          <p:cNvSpPr>
            <a:spLocks noGrp="1"/>
          </p:cNvSpPr>
          <p:nvPr>
            <p:ph type="title"/>
          </p:nvPr>
        </p:nvSpPr>
        <p:spPr/>
        <p:txBody>
          <a:bodyPr/>
          <a:lstStyle/>
          <a:p>
            <a:r>
              <a:rPr lang="en-US" dirty="0"/>
              <a:t>Could We? Should We? Memory…</a:t>
            </a:r>
          </a:p>
        </p:txBody>
      </p:sp>
      <p:sp>
        <p:nvSpPr>
          <p:cNvPr id="3" name="Content Placeholder 2">
            <a:extLst>
              <a:ext uri="{FF2B5EF4-FFF2-40B4-BE49-F238E27FC236}">
                <a16:creationId xmlns:a16="http://schemas.microsoft.com/office/drawing/2014/main" id="{B7C35984-C366-E15E-1546-D1AB0C49AD57}"/>
              </a:ext>
            </a:extLst>
          </p:cNvPr>
          <p:cNvSpPr>
            <a:spLocks noGrp="1"/>
          </p:cNvSpPr>
          <p:nvPr>
            <p:ph idx="1"/>
          </p:nvPr>
        </p:nvSpPr>
        <p:spPr>
          <a:xfrm>
            <a:off x="616449" y="1371601"/>
            <a:ext cx="4812078" cy="4794737"/>
          </a:xfrm>
        </p:spPr>
        <p:txBody>
          <a:bodyPr/>
          <a:lstStyle/>
          <a:p>
            <a:r>
              <a:rPr lang="en-US" dirty="0"/>
              <a:t>We’ve only</a:t>
            </a:r>
          </a:p>
          <a:p>
            <a:r>
              <a:rPr lang="en-US" dirty="0"/>
              <a:t>Been looking at C</a:t>
            </a:r>
            <a:r>
              <a:rPr lang="en-US" dirty="0">
                <a:highlight>
                  <a:srgbClr val="FFFF00"/>
                </a:highlight>
              </a:rPr>
              <a:t>B</a:t>
            </a:r>
            <a:r>
              <a:rPr lang="en-US" dirty="0"/>
              <a:t>E</a:t>
            </a:r>
          </a:p>
          <a:p>
            <a:pPr lvl="1"/>
            <a:r>
              <a:rPr lang="en-US" dirty="0"/>
              <a:t>That’s how auto-transcripts spell it</a:t>
            </a:r>
          </a:p>
          <a:p>
            <a:r>
              <a:rPr lang="en-US" dirty="0"/>
              <a:t>But it’s only some… times!</a:t>
            </a:r>
          </a:p>
          <a:p>
            <a:r>
              <a:rPr lang="en-US" dirty="0"/>
              <a:t>So we get laughter</a:t>
            </a:r>
          </a:p>
          <a:p>
            <a:pPr lvl="1"/>
            <a:r>
              <a:rPr lang="en-US" dirty="0"/>
              <a:t>We will remember</a:t>
            </a:r>
          </a:p>
          <a:p>
            <a:pPr lvl="1"/>
            <a:r>
              <a:rPr lang="en-US" dirty="0"/>
              <a:t>The </a:t>
            </a:r>
            <a:r>
              <a:rPr lang="en-US" dirty="0" err="1"/>
              <a:t>berr</a:t>
            </a:r>
            <a:r>
              <a:rPr lang="en-US" dirty="0"/>
              <a:t>…</a:t>
            </a:r>
            <a:r>
              <a:rPr lang="en-US" dirty="0" err="1"/>
              <a:t>ies</a:t>
            </a:r>
            <a:endParaRPr lang="en-US" dirty="0"/>
          </a:p>
          <a:p>
            <a:endParaRPr lang="en-US" dirty="0"/>
          </a:p>
          <a:p>
            <a:r>
              <a:rPr lang="en-US" dirty="0"/>
              <a:t>I had a point?</a:t>
            </a:r>
          </a:p>
          <a:p>
            <a:endParaRPr lang="en-US" dirty="0"/>
          </a:p>
        </p:txBody>
      </p:sp>
      <p:sp>
        <p:nvSpPr>
          <p:cNvPr id="4" name="Slide Number Placeholder 3">
            <a:extLst>
              <a:ext uri="{FF2B5EF4-FFF2-40B4-BE49-F238E27FC236}">
                <a16:creationId xmlns:a16="http://schemas.microsoft.com/office/drawing/2014/main" id="{2D011767-D96D-7AAA-1746-69F218B4DA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pic>
        <p:nvPicPr>
          <p:cNvPr id="8" name="Picture 7" descr="Website&#10;&#10;AI-generated content may be incorrect.">
            <a:extLst>
              <a:ext uri="{FF2B5EF4-FFF2-40B4-BE49-F238E27FC236}">
                <a16:creationId xmlns:a16="http://schemas.microsoft.com/office/drawing/2014/main" id="{57F0156C-964D-8215-4BBF-2CFA0005BB0D}"/>
              </a:ext>
            </a:extLst>
          </p:cNvPr>
          <p:cNvPicPr>
            <a:picLocks noChangeAspect="1"/>
          </p:cNvPicPr>
          <p:nvPr/>
        </p:nvPicPr>
        <p:blipFill>
          <a:blip r:embed="rId2"/>
          <a:stretch>
            <a:fillRect/>
          </a:stretch>
        </p:blipFill>
        <p:spPr>
          <a:xfrm>
            <a:off x="5798872" y="3063710"/>
            <a:ext cx="5521310" cy="3102628"/>
          </a:xfrm>
          <a:prstGeom prst="rect">
            <a:avLst/>
          </a:prstGeom>
        </p:spPr>
      </p:pic>
    </p:spTree>
    <p:extLst>
      <p:ext uri="{BB962C8B-B14F-4D97-AF65-F5344CB8AC3E}">
        <p14:creationId xmlns:p14="http://schemas.microsoft.com/office/powerpoint/2010/main" val="464485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2B91-CF52-82DC-C95E-47CAC26D2408}"/>
              </a:ext>
            </a:extLst>
          </p:cNvPr>
          <p:cNvSpPr>
            <a:spLocks noGrp="1"/>
          </p:cNvSpPr>
          <p:nvPr>
            <p:ph type="title"/>
          </p:nvPr>
        </p:nvSpPr>
        <p:spPr/>
        <p:txBody>
          <a:bodyPr/>
          <a:lstStyle/>
          <a:p>
            <a:r>
              <a:rPr lang="en-US" dirty="0"/>
              <a:t>Oh, Right, the Point.</a:t>
            </a:r>
          </a:p>
        </p:txBody>
      </p:sp>
      <p:sp>
        <p:nvSpPr>
          <p:cNvPr id="3" name="Content Placeholder 2">
            <a:extLst>
              <a:ext uri="{FF2B5EF4-FFF2-40B4-BE49-F238E27FC236}">
                <a16:creationId xmlns:a16="http://schemas.microsoft.com/office/drawing/2014/main" id="{29D1F220-4304-EF6E-5E18-0D7B078334D3}"/>
              </a:ext>
            </a:extLst>
          </p:cNvPr>
          <p:cNvSpPr>
            <a:spLocks noGrp="1"/>
          </p:cNvSpPr>
          <p:nvPr>
            <p:ph idx="1"/>
          </p:nvPr>
        </p:nvSpPr>
        <p:spPr/>
        <p:txBody>
          <a:bodyPr/>
          <a:lstStyle/>
          <a:p>
            <a:r>
              <a:rPr lang="en-US" dirty="0"/>
              <a:t>What “we remember,” at least in CVE, might not be what we’re looking for</a:t>
            </a:r>
          </a:p>
          <a:p>
            <a:r>
              <a:rPr lang="en-US" dirty="0"/>
              <a:t>What “we simply forget,” could be… omission of critical weakness-related details?</a:t>
            </a:r>
          </a:p>
          <a:p>
            <a:pPr lvl="1"/>
            <a:r>
              <a:rPr lang="en-US" dirty="0"/>
              <a:t>JUST LIKE CLOUD DID TO US 2-3 YEARS AGO</a:t>
            </a:r>
          </a:p>
          <a:p>
            <a:endParaRPr lang="en-US" dirty="0"/>
          </a:p>
          <a:p>
            <a:r>
              <a:rPr lang="en-US" dirty="0"/>
              <a:t>Challenge:</a:t>
            </a:r>
          </a:p>
          <a:p>
            <a:pPr lvl="1"/>
            <a:r>
              <a:rPr lang="en-US" dirty="0"/>
              <a:t>If you/we can’t find CVEs with AI-related CWEs</a:t>
            </a:r>
          </a:p>
          <a:p>
            <a:pPr lvl="1"/>
            <a:r>
              <a:rPr lang="en-US" dirty="0"/>
              <a:t>… then can you provide examples of real-world vulns/weaknesses in which:</a:t>
            </a:r>
          </a:p>
          <a:p>
            <a:pPr lvl="2"/>
            <a:r>
              <a:rPr lang="en-US" dirty="0"/>
              <a:t>There are sufficient technical details</a:t>
            </a:r>
          </a:p>
          <a:p>
            <a:pPr lvl="2"/>
            <a:r>
              <a:rPr lang="en-US" dirty="0"/>
              <a:t>The reference emphasizes (or at least has a section for) what the developer did wrong [or at least, didn’t do right]</a:t>
            </a:r>
          </a:p>
          <a:p>
            <a:pPr lvl="2"/>
            <a:endParaRPr lang="en-US" dirty="0"/>
          </a:p>
          <a:p>
            <a:pPr lvl="2"/>
            <a:endParaRPr lang="en-US" dirty="0"/>
          </a:p>
          <a:p>
            <a:pPr lvl="2"/>
            <a:endParaRPr lang="en-US" dirty="0"/>
          </a:p>
        </p:txBody>
      </p:sp>
      <p:sp>
        <p:nvSpPr>
          <p:cNvPr id="4" name="Slide Number Placeholder 3">
            <a:extLst>
              <a:ext uri="{FF2B5EF4-FFF2-40B4-BE49-F238E27FC236}">
                <a16:creationId xmlns:a16="http://schemas.microsoft.com/office/drawing/2014/main" id="{6D26F156-F7A1-61AC-83D4-DCA7CDD1A7F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78383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F339-D82E-44B4-0D51-3A4CC1FF029A}"/>
              </a:ext>
            </a:extLst>
          </p:cNvPr>
          <p:cNvSpPr>
            <a:spLocks noGrp="1"/>
          </p:cNvSpPr>
          <p:nvPr>
            <p:ph type="title"/>
          </p:nvPr>
        </p:nvSpPr>
        <p:spPr/>
        <p:txBody>
          <a:bodyPr/>
          <a:lstStyle/>
          <a:p>
            <a:r>
              <a:rPr lang="en-US" dirty="0"/>
              <a:t>Selecting an Observed Example (</a:t>
            </a:r>
            <a:r>
              <a:rPr lang="en-US" dirty="0" err="1"/>
              <a:t>obex</a:t>
            </a:r>
            <a:r>
              <a:rPr lang="en-US" dirty="0"/>
              <a:t>)</a:t>
            </a:r>
          </a:p>
        </p:txBody>
      </p:sp>
      <p:sp>
        <p:nvSpPr>
          <p:cNvPr id="3" name="Content Placeholder 2">
            <a:extLst>
              <a:ext uri="{FF2B5EF4-FFF2-40B4-BE49-F238E27FC236}">
                <a16:creationId xmlns:a16="http://schemas.microsoft.com/office/drawing/2014/main" id="{804254B7-80EC-9B3C-89B4-185759EF5317}"/>
              </a:ext>
            </a:extLst>
          </p:cNvPr>
          <p:cNvSpPr>
            <a:spLocks noGrp="1"/>
          </p:cNvSpPr>
          <p:nvPr>
            <p:ph idx="1"/>
          </p:nvPr>
        </p:nvSpPr>
        <p:spPr/>
        <p:txBody>
          <a:bodyPr/>
          <a:lstStyle/>
          <a:p>
            <a:r>
              <a:rPr lang="en-US" dirty="0"/>
              <a:t>Goal: easily understandable to the CWE user</a:t>
            </a:r>
          </a:p>
          <a:p>
            <a:r>
              <a:rPr lang="en-US" dirty="0"/>
              <a:t>CVE (or vuln report) description and/or references should clearly identify the weakness</a:t>
            </a:r>
          </a:p>
          <a:p>
            <a:r>
              <a:rPr lang="en-US" dirty="0"/>
              <a:t>Strong preference: technical details available</a:t>
            </a:r>
          </a:p>
          <a:p>
            <a:r>
              <a:rPr lang="en-US" dirty="0"/>
              <a:t>Easily understandable?</a:t>
            </a:r>
          </a:p>
          <a:p>
            <a:pPr lvl="1"/>
            <a:r>
              <a:rPr lang="en-US" dirty="0"/>
              <a:t>Avoid deep nuances or complicated attack scenarios</a:t>
            </a:r>
          </a:p>
          <a:p>
            <a:endParaRPr lang="en-US" dirty="0"/>
          </a:p>
          <a:p>
            <a:r>
              <a:rPr lang="en-US" dirty="0"/>
              <a:t>(groups of </a:t>
            </a:r>
            <a:r>
              <a:rPr lang="en-US" dirty="0" err="1"/>
              <a:t>obex</a:t>
            </a:r>
            <a:r>
              <a:rPr lang="en-US" dirty="0"/>
              <a:t> within a CWE)</a:t>
            </a:r>
          </a:p>
          <a:p>
            <a:r>
              <a:rPr lang="en-US" dirty="0"/>
              <a:t>Diversity of product types represented, variations on the weakness, maybe attack surface</a:t>
            </a:r>
          </a:p>
          <a:p>
            <a:endParaRPr lang="en-US" dirty="0"/>
          </a:p>
          <a:p>
            <a:endParaRPr lang="en-US" dirty="0"/>
          </a:p>
        </p:txBody>
      </p:sp>
      <p:sp>
        <p:nvSpPr>
          <p:cNvPr id="4" name="Slide Number Placeholder 3">
            <a:extLst>
              <a:ext uri="{FF2B5EF4-FFF2-40B4-BE49-F238E27FC236}">
                <a16:creationId xmlns:a16="http://schemas.microsoft.com/office/drawing/2014/main" id="{747DFCB5-7443-1A4B-BA6E-16862AED15A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48064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15026-FD2A-D2BD-A8F3-BDF1233CF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75E05-B425-6469-8E77-A12EC69294B9}"/>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586173D8-86D0-A6CE-F891-DD17E0490E50}"/>
              </a:ext>
            </a:extLst>
          </p:cNvPr>
          <p:cNvSpPr>
            <a:spLocks noGrp="1"/>
          </p:cNvSpPr>
          <p:nvPr>
            <p:ph idx="1"/>
          </p:nvPr>
        </p:nvSpPr>
        <p:spPr/>
        <p:txBody>
          <a:bodyPr/>
          <a:lstStyle/>
          <a:p>
            <a:r>
              <a:rPr lang="en-US" sz="1200" dirty="0"/>
              <a:t>Discussed in the May meeting</a:t>
            </a:r>
          </a:p>
          <a:p>
            <a:r>
              <a:rPr lang="en-US" sz="1200" dirty="0"/>
              <a:t>ML Platforms</a:t>
            </a:r>
          </a:p>
          <a:p>
            <a:pPr lvl="1"/>
            <a:r>
              <a:rPr lang="en-US" sz="1200" dirty="0"/>
              <a:t>TensorFlow (400+ CVEs), H20, </a:t>
            </a:r>
            <a:r>
              <a:rPr lang="en-US" sz="1200" dirty="0" err="1"/>
              <a:t>PyTorch</a:t>
            </a:r>
            <a:r>
              <a:rPr lang="en-US" sz="1200" dirty="0"/>
              <a:t>, JAX, </a:t>
            </a:r>
            <a:r>
              <a:rPr lang="en-US" sz="1200" dirty="0" err="1">
                <a:solidFill>
                  <a:srgbClr val="FF0000"/>
                </a:solidFill>
              </a:rPr>
              <a:t>LMStudio</a:t>
            </a:r>
            <a:r>
              <a:rPr lang="en-US" sz="1200" dirty="0">
                <a:solidFill>
                  <a:srgbClr val="FF0000"/>
                </a:solidFill>
              </a:rPr>
              <a:t>, </a:t>
            </a:r>
            <a:r>
              <a:rPr lang="en-US" sz="1200" dirty="0" err="1">
                <a:solidFill>
                  <a:srgbClr val="FF0000"/>
                </a:solidFill>
              </a:rPr>
              <a:t>OLlama</a:t>
            </a:r>
            <a:endParaRPr lang="en-US" sz="1200" dirty="0">
              <a:solidFill>
                <a:srgbClr val="FF0000"/>
              </a:solidFill>
            </a:endParaRPr>
          </a:p>
          <a:p>
            <a:r>
              <a:rPr lang="en-US" sz="1200" dirty="0"/>
              <a:t>(other examples during meeting)</a:t>
            </a:r>
          </a:p>
          <a:p>
            <a:pPr lvl="1"/>
            <a:r>
              <a:rPr lang="en-US" sz="1200" dirty="0" err="1"/>
              <a:t>HuggingFace</a:t>
            </a:r>
            <a:r>
              <a:rPr lang="en-US" sz="1200" dirty="0"/>
              <a:t> – “friendly” API/SDK similar to GitHub; one example of a “model provider”. (Also Nemo)</a:t>
            </a:r>
          </a:p>
          <a:p>
            <a:pPr lvl="1"/>
            <a:r>
              <a:rPr lang="en-US" sz="1200" dirty="0" err="1"/>
              <a:t>vLLM</a:t>
            </a:r>
            <a:r>
              <a:rPr lang="en-US" sz="1200" dirty="0"/>
              <a:t>, TRT-LLM (</a:t>
            </a:r>
            <a:r>
              <a:rPr lang="en-US" sz="1200" dirty="0" err="1"/>
              <a:t>TensorRT</a:t>
            </a:r>
            <a:r>
              <a:rPr lang="en-US" sz="1200" dirty="0"/>
              <a:t>-LLM) – “model-serving frameworks” – servers that handle distribution, load balancing, etc., and provide APIs</a:t>
            </a:r>
          </a:p>
          <a:p>
            <a:pPr lvl="1"/>
            <a:r>
              <a:rPr lang="en-US" sz="1200" dirty="0" err="1"/>
              <a:t>MLFlow</a:t>
            </a:r>
            <a:endParaRPr lang="en-US" sz="1200" dirty="0"/>
          </a:p>
          <a:p>
            <a:pPr lvl="1"/>
            <a:r>
              <a:rPr lang="en-US" sz="1200" dirty="0"/>
              <a:t>Google Vertex AI is another, Amazon </a:t>
            </a:r>
            <a:r>
              <a:rPr lang="en-US" sz="1200" dirty="0" err="1"/>
              <a:t>Sagemaker</a:t>
            </a:r>
            <a:r>
              <a:rPr lang="en-US" sz="1200" dirty="0"/>
              <a:t>, and IBM Watson Studio</a:t>
            </a:r>
          </a:p>
          <a:p>
            <a:pPr lvl="1"/>
            <a:r>
              <a:rPr lang="en-US" sz="1200" dirty="0"/>
              <a:t>Kaggle, Microsoft </a:t>
            </a:r>
            <a:r>
              <a:rPr lang="en-US" sz="1200" dirty="0" err="1"/>
              <a:t>AutoML</a:t>
            </a:r>
            <a:r>
              <a:rPr lang="en-US" sz="1200" dirty="0"/>
              <a:t>, </a:t>
            </a:r>
            <a:r>
              <a:rPr lang="en-US" sz="1200" dirty="0" err="1"/>
              <a:t>LMStudio</a:t>
            </a:r>
            <a:r>
              <a:rPr lang="en-US" sz="1200" dirty="0"/>
              <a:t> </a:t>
            </a:r>
          </a:p>
          <a:p>
            <a:r>
              <a:rPr lang="en-US" sz="1200" dirty="0"/>
              <a:t>Libraries / SDKs</a:t>
            </a:r>
          </a:p>
          <a:p>
            <a:pPr lvl="1"/>
            <a:r>
              <a:rPr lang="en-US" sz="1200" dirty="0" err="1"/>
              <a:t>Gradio</a:t>
            </a:r>
            <a:r>
              <a:rPr lang="en-US" sz="1200" dirty="0"/>
              <a:t>, </a:t>
            </a:r>
            <a:r>
              <a:rPr lang="en-US" sz="1200" dirty="0" err="1"/>
              <a:t>ZenML</a:t>
            </a:r>
            <a:r>
              <a:rPr lang="en-US" sz="1200" dirty="0"/>
              <a:t>, </a:t>
            </a:r>
            <a:r>
              <a:rPr lang="en-US" sz="1200" dirty="0" err="1"/>
              <a:t>Taipy</a:t>
            </a:r>
            <a:r>
              <a:rPr lang="en-US" sz="1200" dirty="0"/>
              <a:t>, ACON,, </a:t>
            </a:r>
            <a:r>
              <a:rPr lang="en-US" sz="1200" dirty="0" err="1"/>
              <a:t>HuggingFace</a:t>
            </a:r>
            <a:r>
              <a:rPr lang="en-US" sz="1200" dirty="0"/>
              <a:t> Transformer, KERAS, data-science-centric libraries like (Scikit-learn, </a:t>
            </a:r>
            <a:r>
              <a:rPr lang="en-US" sz="1200" dirty="0" err="1"/>
              <a:t>numpy</a:t>
            </a:r>
            <a:r>
              <a:rPr lang="en-US" sz="1200" dirty="0"/>
              <a:t>, </a:t>
            </a:r>
            <a:r>
              <a:rPr lang="en-US" sz="1200" dirty="0" err="1"/>
              <a:t>matplot</a:t>
            </a:r>
            <a:r>
              <a:rPr lang="en-US" sz="1200" dirty="0"/>
              <a:t> lib)</a:t>
            </a:r>
          </a:p>
          <a:p>
            <a:r>
              <a:rPr lang="en-US" sz="1200" dirty="0"/>
              <a:t>Frameworks</a:t>
            </a:r>
          </a:p>
          <a:p>
            <a:pPr lvl="1"/>
            <a:r>
              <a:rPr lang="en-US" sz="1200" dirty="0"/>
              <a:t>Rasa, </a:t>
            </a:r>
            <a:r>
              <a:rPr lang="en-US" sz="1200" dirty="0" err="1"/>
              <a:t>DialogFlowCX</a:t>
            </a:r>
            <a:r>
              <a:rPr lang="en-US" sz="1200" dirty="0"/>
              <a:t>, </a:t>
            </a:r>
            <a:r>
              <a:rPr lang="en-US" sz="1200" dirty="0" err="1"/>
              <a:t>LangChain</a:t>
            </a:r>
            <a:r>
              <a:rPr lang="en-US" sz="1200" dirty="0"/>
              <a:t> framework for agentic AI, </a:t>
            </a:r>
            <a:r>
              <a:rPr lang="en-US" sz="1200" dirty="0" err="1"/>
              <a:t>Onnx</a:t>
            </a:r>
            <a:r>
              <a:rPr lang="en-US" sz="1200" dirty="0"/>
              <a:t>, </a:t>
            </a:r>
            <a:r>
              <a:rPr lang="en-US" sz="1200" dirty="0" err="1"/>
              <a:t>DeepPavlov</a:t>
            </a:r>
            <a:r>
              <a:rPr lang="en-US" sz="1200" dirty="0"/>
              <a:t>, Vision models like YOLO</a:t>
            </a:r>
          </a:p>
          <a:p>
            <a:r>
              <a:rPr lang="en-US" sz="1200" dirty="0"/>
              <a:t>The models themselves (</a:t>
            </a:r>
            <a:r>
              <a:rPr lang="en-US" sz="1200" dirty="0" err="1"/>
              <a:t>LLama</a:t>
            </a:r>
            <a:r>
              <a:rPr lang="en-US" sz="1200" dirty="0"/>
              <a:t>, </a:t>
            </a:r>
            <a:r>
              <a:rPr lang="en-US" sz="1200" dirty="0" err="1"/>
              <a:t>Deepseek</a:t>
            </a:r>
            <a:r>
              <a:rPr lang="en-US" sz="1200" dirty="0"/>
              <a:t>, Claude, Mistral, GPT family, Gemini, Grok, Qwen). Consider open-source versus hosted, where versions might be better tracked/stable in OSS</a:t>
            </a:r>
          </a:p>
          <a:p>
            <a:r>
              <a:rPr lang="en-US" sz="1200" dirty="0" err="1"/>
              <a:t>HuggingFace</a:t>
            </a:r>
            <a:r>
              <a:rPr lang="en-US" sz="1200" dirty="0"/>
              <a:t> and Black Duck are doing some work in the supply-chain area. Linux / SSF is working in AI BOMs</a:t>
            </a:r>
          </a:p>
          <a:p>
            <a:r>
              <a:rPr lang="en-US" sz="1200" dirty="0"/>
              <a:t>Can auto-load models – subverting that could cause some damage</a:t>
            </a:r>
          </a:p>
          <a:p>
            <a:r>
              <a:rPr lang="en-US" sz="1200" dirty="0"/>
              <a:t>“AI features” in various products</a:t>
            </a:r>
          </a:p>
        </p:txBody>
      </p:sp>
      <p:sp>
        <p:nvSpPr>
          <p:cNvPr id="4" name="Slide Number Placeholder 3">
            <a:extLst>
              <a:ext uri="{FF2B5EF4-FFF2-40B4-BE49-F238E27FC236}">
                <a16:creationId xmlns:a16="http://schemas.microsoft.com/office/drawing/2014/main" id="{75E609DE-03E3-2E5C-B2A1-5D5C9EFDCB7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747338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DFA8-9751-5A2D-A626-394DAA65E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4D531-9F73-430E-EE76-E07A57C76647}"/>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77D609F8-9D93-67DA-A920-78A3BB8226D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C5E1C59B-AA8E-98BC-0170-06A2B5CBB5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5765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D3827-DC11-52D0-8A55-6E4B78EE4999}"/>
              </a:ext>
            </a:extLst>
          </p:cNvPr>
          <p:cNvSpPr>
            <a:spLocks noGrp="1"/>
          </p:cNvSpPr>
          <p:nvPr>
            <p:ph type="title"/>
          </p:nvPr>
        </p:nvSpPr>
        <p:spPr/>
        <p:txBody>
          <a:bodyPr/>
          <a:lstStyle/>
          <a:p>
            <a:r>
              <a:rPr lang="en-US" dirty="0"/>
              <a:t>Upcoming Dates</a:t>
            </a:r>
          </a:p>
        </p:txBody>
      </p:sp>
      <p:sp>
        <p:nvSpPr>
          <p:cNvPr id="3" name="Content Placeholder 2">
            <a:extLst>
              <a:ext uri="{FF2B5EF4-FFF2-40B4-BE49-F238E27FC236}">
                <a16:creationId xmlns:a16="http://schemas.microsoft.com/office/drawing/2014/main" id="{192F5E06-C0E8-CAF3-2A5E-F02F582D2968}"/>
              </a:ext>
            </a:extLst>
          </p:cNvPr>
          <p:cNvSpPr>
            <a:spLocks noGrp="1"/>
          </p:cNvSpPr>
          <p:nvPr>
            <p:ph idx="1"/>
          </p:nvPr>
        </p:nvSpPr>
        <p:spPr/>
        <p:txBody>
          <a:bodyPr/>
          <a:lstStyle/>
          <a:p>
            <a:r>
              <a:rPr lang="en-US" dirty="0"/>
              <a:t>Next CWE release (4.20) sometime around April 2026</a:t>
            </a:r>
          </a:p>
          <a:p>
            <a:r>
              <a:rPr lang="en-US" dirty="0"/>
              <a:t>Next new-entry meeting – February 6</a:t>
            </a:r>
          </a:p>
          <a:p>
            <a:r>
              <a:rPr lang="en-US" dirty="0"/>
              <a:t>Next modification meeting – February 20</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E836F51-A8F4-27EB-24F0-F6364C296FD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02423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3F2FB-64FB-88CE-FB60-33E93AEAE19D}"/>
              </a:ext>
            </a:extLst>
          </p:cNvPr>
          <p:cNvSpPr>
            <a:spLocks noGrp="1"/>
          </p:cNvSpPr>
          <p:nvPr>
            <p:ph type="ctrTitle" sz="quarter"/>
          </p:nvPr>
        </p:nvSpPr>
        <p:spPr/>
        <p:txBody>
          <a:bodyPr/>
          <a:lstStyle/>
          <a:p>
            <a:r>
              <a:rPr lang="en-US" dirty="0">
                <a:highlight>
                  <a:srgbClr val="FFFF00"/>
                </a:highlight>
              </a:rPr>
              <a:t>OTHER SLIDES (TBD AS OF JANUARY 22)</a:t>
            </a:r>
          </a:p>
        </p:txBody>
      </p:sp>
      <p:sp>
        <p:nvSpPr>
          <p:cNvPr id="3" name="Slide Number Placeholder 2">
            <a:extLst>
              <a:ext uri="{FF2B5EF4-FFF2-40B4-BE49-F238E27FC236}">
                <a16:creationId xmlns:a16="http://schemas.microsoft.com/office/drawing/2014/main" id="{B17C2C5D-9062-3EDE-6AA1-C9BA3973265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14116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9785F-BFA5-A7E9-3D81-B5982001E9CA}"/>
              </a:ext>
            </a:extLst>
          </p:cNvPr>
          <p:cNvSpPr>
            <a:spLocks noGrp="1"/>
          </p:cNvSpPr>
          <p:nvPr>
            <p:ph type="title"/>
          </p:nvPr>
        </p:nvSpPr>
        <p:spPr/>
        <p:txBody>
          <a:bodyPr/>
          <a:lstStyle/>
          <a:p>
            <a:r>
              <a:rPr lang="en-US" dirty="0"/>
              <a:t>Submission to Focus Discussion / Review</a:t>
            </a:r>
          </a:p>
        </p:txBody>
      </p:sp>
      <p:sp>
        <p:nvSpPr>
          <p:cNvPr id="3" name="Content Placeholder 2">
            <a:extLst>
              <a:ext uri="{FF2B5EF4-FFF2-40B4-BE49-F238E27FC236}">
                <a16:creationId xmlns:a16="http://schemas.microsoft.com/office/drawing/2014/main" id="{1F8A9096-2A41-BA25-9E32-C3D9F6B3E34F}"/>
              </a:ext>
            </a:extLst>
          </p:cNvPr>
          <p:cNvSpPr>
            <a:spLocks noGrp="1"/>
          </p:cNvSpPr>
          <p:nvPr>
            <p:ph idx="1"/>
          </p:nvPr>
        </p:nvSpPr>
        <p:spPr/>
        <p:txBody>
          <a:bodyPr/>
          <a:lstStyle/>
          <a:p>
            <a:endParaRPr lang="en-US" dirty="0"/>
          </a:p>
          <a:p>
            <a:r>
              <a:rPr lang="en-US" dirty="0"/>
              <a:t>Should we focus only on AI-specific or ML-specific weaknesses, instead of “regular” CWEs in traditional software?</a:t>
            </a:r>
          </a:p>
          <a:p>
            <a:r>
              <a:rPr lang="en-US" dirty="0"/>
              <a:t>AI/ML is a “vector” in which a weakness is produced</a:t>
            </a:r>
          </a:p>
          <a:p>
            <a:endParaRPr lang="en-US" dirty="0"/>
          </a:p>
          <a:p>
            <a:r>
              <a:rPr lang="en-US" dirty="0"/>
              <a:t>Please continue discussion in CDR at: </a:t>
            </a:r>
          </a:p>
          <a:p>
            <a:r>
              <a:rPr lang="en-US" dirty="0">
                <a:hlinkClick r:id="rId2"/>
              </a:rPr>
              <a:t>https://github.com/CWE-CAPEC/CWE-Content-Development-Repository/issues/171</a:t>
            </a:r>
            <a:endParaRPr lang="en-US" dirty="0"/>
          </a:p>
          <a:p>
            <a:endParaRPr lang="en-US" dirty="0"/>
          </a:p>
          <a:p>
            <a:r>
              <a:rPr lang="en-US" dirty="0"/>
              <a:t>Observed example report will be re-run and made available ASAP</a:t>
            </a:r>
          </a:p>
          <a:p>
            <a:endParaRPr lang="en-US" dirty="0"/>
          </a:p>
        </p:txBody>
      </p:sp>
      <p:sp>
        <p:nvSpPr>
          <p:cNvPr id="4" name="Slide Number Placeholder 3">
            <a:extLst>
              <a:ext uri="{FF2B5EF4-FFF2-40B4-BE49-F238E27FC236}">
                <a16:creationId xmlns:a16="http://schemas.microsoft.com/office/drawing/2014/main" id="{3357EC01-788B-404B-F8D7-0F6ECF94CD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29345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BC0CA-6763-4400-FCCA-3F2157F96EB7}"/>
              </a:ext>
            </a:extLst>
          </p:cNvPr>
          <p:cNvSpPr>
            <a:spLocks noGrp="1"/>
          </p:cNvSpPr>
          <p:nvPr>
            <p:ph type="title"/>
          </p:nvPr>
        </p:nvSpPr>
        <p:spPr/>
        <p:txBody>
          <a:bodyPr/>
          <a:lstStyle/>
          <a:p>
            <a:r>
              <a:rPr lang="en-US" dirty="0"/>
              <a:t>Basic Process</a:t>
            </a:r>
          </a:p>
        </p:txBody>
      </p:sp>
      <p:sp>
        <p:nvSpPr>
          <p:cNvPr id="3" name="Content Placeholder 2">
            <a:extLst>
              <a:ext uri="{FF2B5EF4-FFF2-40B4-BE49-F238E27FC236}">
                <a16:creationId xmlns:a16="http://schemas.microsoft.com/office/drawing/2014/main" id="{4A033DD5-32AD-7AE1-9DFB-65D4DE1C2C70}"/>
              </a:ext>
            </a:extLst>
          </p:cNvPr>
          <p:cNvSpPr>
            <a:spLocks noGrp="1"/>
          </p:cNvSpPr>
          <p:nvPr>
            <p:ph idx="1"/>
          </p:nvPr>
        </p:nvSpPr>
        <p:spPr/>
        <p:txBody>
          <a:bodyPr/>
          <a:lstStyle/>
          <a:p>
            <a:r>
              <a:rPr lang="en-US" dirty="0"/>
              <a:t>Academic research / papers</a:t>
            </a:r>
          </a:p>
          <a:p>
            <a:pPr lvl="1"/>
            <a:r>
              <a:rPr lang="en-US" dirty="0"/>
              <a:t>Anything about common flaws in AI/ML systems?</a:t>
            </a:r>
          </a:p>
          <a:p>
            <a:r>
              <a:rPr lang="en-US" dirty="0"/>
              <a:t>Identify CVEs that affect AI/ML products</a:t>
            </a:r>
          </a:p>
          <a:p>
            <a:r>
              <a:rPr lang="en-US" dirty="0"/>
              <a:t>Determine what their CWEs are</a:t>
            </a:r>
          </a:p>
          <a:p>
            <a:r>
              <a:rPr lang="en-US" dirty="0"/>
              <a:t>Identify most common CWEs across the data set</a:t>
            </a:r>
          </a:p>
          <a:p>
            <a:r>
              <a:rPr lang="en-US" dirty="0"/>
              <a:t>Update those CWEs to:</a:t>
            </a:r>
          </a:p>
          <a:p>
            <a:pPr lvl="1"/>
            <a:r>
              <a:rPr lang="en-US" dirty="0"/>
              <a:t>Identify AI/ML in Affected Platforms</a:t>
            </a:r>
          </a:p>
          <a:p>
            <a:pPr lvl="1"/>
            <a:r>
              <a:rPr lang="en-US" dirty="0"/>
              <a:t>Identify the “best” CVEs to use as observed examples</a:t>
            </a:r>
          </a:p>
          <a:p>
            <a:pPr lvl="2"/>
            <a:r>
              <a:rPr lang="en-US" dirty="0"/>
              <a:t>(most easily understandable with good details)</a:t>
            </a:r>
          </a:p>
          <a:p>
            <a:pPr lvl="1"/>
            <a:r>
              <a:rPr lang="en-US" dirty="0"/>
              <a:t>Include AI-specific demonstrative examples</a:t>
            </a:r>
          </a:p>
          <a:p>
            <a:endParaRPr lang="en-US" dirty="0"/>
          </a:p>
          <a:p>
            <a:endParaRPr lang="en-US" dirty="0"/>
          </a:p>
        </p:txBody>
      </p:sp>
      <p:sp>
        <p:nvSpPr>
          <p:cNvPr id="4" name="Slide Number Placeholder 3">
            <a:extLst>
              <a:ext uri="{FF2B5EF4-FFF2-40B4-BE49-F238E27FC236}">
                <a16:creationId xmlns:a16="http://schemas.microsoft.com/office/drawing/2014/main" id="{3E1B6534-6D65-4A9E-CB30-D3E7DC8870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61830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0102-363E-AC4D-4485-4FE896DE2933}"/>
              </a:ext>
            </a:extLst>
          </p:cNvPr>
          <p:cNvSpPr>
            <a:spLocks noGrp="1"/>
          </p:cNvSpPr>
          <p:nvPr>
            <p:ph type="title"/>
          </p:nvPr>
        </p:nvSpPr>
        <p:spPr/>
        <p:txBody>
          <a:bodyPr/>
          <a:lstStyle/>
          <a:p>
            <a:r>
              <a:rPr lang="en-US" dirty="0"/>
              <a:t>Initial Investigation – from May</a:t>
            </a:r>
          </a:p>
        </p:txBody>
      </p:sp>
      <p:sp>
        <p:nvSpPr>
          <p:cNvPr id="3" name="Content Placeholder 2">
            <a:extLst>
              <a:ext uri="{FF2B5EF4-FFF2-40B4-BE49-F238E27FC236}">
                <a16:creationId xmlns:a16="http://schemas.microsoft.com/office/drawing/2014/main" id="{F411DD74-4E7B-F870-E54F-D57535ABCAB2}"/>
              </a:ext>
            </a:extLst>
          </p:cNvPr>
          <p:cNvSpPr>
            <a:spLocks noGrp="1"/>
          </p:cNvSpPr>
          <p:nvPr>
            <p:ph idx="1"/>
          </p:nvPr>
        </p:nvSpPr>
        <p:spPr/>
        <p:txBody>
          <a:bodyPr/>
          <a:lstStyle/>
          <a:p>
            <a:r>
              <a:rPr lang="en-US" dirty="0"/>
              <a:t>Did some keyword searches on CVE for “AI”, “ML”, “machine learning”, etc.</a:t>
            </a:r>
          </a:p>
          <a:p>
            <a:pPr lvl="1"/>
            <a:r>
              <a:rPr lang="en-US" dirty="0"/>
              <a:t>Hundreds of possibilities</a:t>
            </a:r>
          </a:p>
          <a:p>
            <a:pPr lvl="1"/>
            <a:r>
              <a:rPr lang="en-US" dirty="0"/>
              <a:t>100+ just for TensorFlow ;-)</a:t>
            </a:r>
          </a:p>
          <a:p>
            <a:pPr lvl="1"/>
            <a:r>
              <a:rPr lang="en-US" dirty="0"/>
              <a:t>Many kinds of AI “products”</a:t>
            </a:r>
          </a:p>
          <a:p>
            <a:endParaRPr lang="en-US" dirty="0"/>
          </a:p>
          <a:p>
            <a:r>
              <a:rPr lang="en-US" dirty="0">
                <a:hlinkClick r:id="rId2"/>
              </a:rPr>
              <a:t>https://cve.mitre.org/cgi-bin/cvekey.cgi?keyword=machine+learning</a:t>
            </a:r>
            <a:r>
              <a:rPr lang="en-US" dirty="0"/>
              <a:t> (418 CVEs)</a:t>
            </a:r>
          </a:p>
          <a:p>
            <a:r>
              <a:rPr lang="en-US" dirty="0">
                <a:hlinkClick r:id="rId3"/>
              </a:rPr>
              <a:t>https://cve.mitre.org/cgi-bin/cvekey.cgi?keyword=AI</a:t>
            </a:r>
            <a:r>
              <a:rPr lang="en-US" dirty="0"/>
              <a:t> (391 CVEs)</a:t>
            </a:r>
          </a:p>
          <a:p>
            <a:endParaRPr lang="en-US" dirty="0"/>
          </a:p>
          <a:p>
            <a:endParaRPr lang="en-US" dirty="0"/>
          </a:p>
        </p:txBody>
      </p:sp>
      <p:sp>
        <p:nvSpPr>
          <p:cNvPr id="4" name="Slide Number Placeholder 3">
            <a:extLst>
              <a:ext uri="{FF2B5EF4-FFF2-40B4-BE49-F238E27FC236}">
                <a16:creationId xmlns:a16="http://schemas.microsoft.com/office/drawing/2014/main" id="{A677A7F4-4687-B9D7-3CDF-C5BD98B7571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73346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1374B-E102-0B89-DDC9-963A7E0B8082}"/>
              </a:ext>
            </a:extLst>
          </p:cNvPr>
          <p:cNvSpPr>
            <a:spLocks noGrp="1"/>
          </p:cNvSpPr>
          <p:nvPr>
            <p:ph type="title"/>
          </p:nvPr>
        </p:nvSpPr>
        <p:spPr/>
        <p:txBody>
          <a:bodyPr/>
          <a:lstStyle/>
          <a:p>
            <a:r>
              <a:rPr lang="en-US" dirty="0"/>
              <a:t>“Classes” of AI/ML Products</a:t>
            </a:r>
          </a:p>
        </p:txBody>
      </p:sp>
      <p:sp>
        <p:nvSpPr>
          <p:cNvPr id="3" name="Content Placeholder 2">
            <a:extLst>
              <a:ext uri="{FF2B5EF4-FFF2-40B4-BE49-F238E27FC236}">
                <a16:creationId xmlns:a16="http://schemas.microsoft.com/office/drawing/2014/main" id="{06B667B9-DD36-BB17-870B-FF0BFBE328F5}"/>
              </a:ext>
            </a:extLst>
          </p:cNvPr>
          <p:cNvSpPr>
            <a:spLocks noGrp="1"/>
          </p:cNvSpPr>
          <p:nvPr>
            <p:ph idx="1"/>
          </p:nvPr>
        </p:nvSpPr>
        <p:spPr/>
        <p:txBody>
          <a:bodyPr/>
          <a:lstStyle/>
          <a:p>
            <a:r>
              <a:rPr lang="en-US" sz="1400" dirty="0"/>
              <a:t>Discussed in the May meeting</a:t>
            </a:r>
          </a:p>
          <a:p>
            <a:r>
              <a:rPr lang="en-US" sz="1400" dirty="0"/>
              <a:t>ML Platforms</a:t>
            </a:r>
          </a:p>
          <a:p>
            <a:pPr lvl="1"/>
            <a:r>
              <a:rPr lang="en-US" sz="1400" dirty="0"/>
              <a:t>TensorFlow (400+ CVEs), H20, </a:t>
            </a:r>
            <a:r>
              <a:rPr lang="en-US" sz="1400" dirty="0" err="1"/>
              <a:t>PyTorch</a:t>
            </a:r>
            <a:r>
              <a:rPr lang="en-US" sz="1400" dirty="0"/>
              <a:t>, JAX, </a:t>
            </a:r>
            <a:r>
              <a:rPr lang="en-US" sz="1400" dirty="0" err="1">
                <a:solidFill>
                  <a:srgbClr val="FF0000"/>
                </a:solidFill>
              </a:rPr>
              <a:t>LMStudio</a:t>
            </a:r>
            <a:r>
              <a:rPr lang="en-US" sz="1400" dirty="0">
                <a:solidFill>
                  <a:srgbClr val="FF0000"/>
                </a:solidFill>
              </a:rPr>
              <a:t>, </a:t>
            </a:r>
            <a:r>
              <a:rPr lang="en-US" sz="1400" dirty="0" err="1">
                <a:solidFill>
                  <a:srgbClr val="FF0000"/>
                </a:solidFill>
              </a:rPr>
              <a:t>OLlama</a:t>
            </a:r>
            <a:endParaRPr lang="en-US" sz="1400" dirty="0">
              <a:solidFill>
                <a:srgbClr val="FF0000"/>
              </a:solidFill>
            </a:endParaRPr>
          </a:p>
          <a:p>
            <a:r>
              <a:rPr lang="en-US" sz="1400" dirty="0"/>
              <a:t>(other examples during meeting)</a:t>
            </a:r>
          </a:p>
          <a:p>
            <a:pPr lvl="1"/>
            <a:r>
              <a:rPr lang="en-US" sz="1400" dirty="0" err="1"/>
              <a:t>HuggingFace</a:t>
            </a:r>
            <a:r>
              <a:rPr lang="en-US" sz="1400" dirty="0"/>
              <a:t> – “friendly” API/SDK similar to GitHub; one example of a “model provider”. (Also Nemo)</a:t>
            </a:r>
          </a:p>
          <a:p>
            <a:pPr lvl="1"/>
            <a:r>
              <a:rPr lang="en-US" sz="1400" dirty="0" err="1"/>
              <a:t>vLLM</a:t>
            </a:r>
            <a:r>
              <a:rPr lang="en-US" sz="1400" dirty="0"/>
              <a:t>, TRT-LLM (</a:t>
            </a:r>
            <a:r>
              <a:rPr lang="en-US" sz="1400" dirty="0" err="1"/>
              <a:t>TensorRT</a:t>
            </a:r>
            <a:r>
              <a:rPr lang="en-US" sz="1400" dirty="0"/>
              <a:t>-LLM) – “model-serving frameworks” – servers that handle distribution, load balancing, etc., and provide APIs</a:t>
            </a:r>
          </a:p>
          <a:p>
            <a:pPr lvl="1"/>
            <a:r>
              <a:rPr lang="en-US" sz="1400" dirty="0" err="1"/>
              <a:t>MLFlow</a:t>
            </a:r>
            <a:endParaRPr lang="en-US" sz="1400" dirty="0"/>
          </a:p>
          <a:p>
            <a:pPr lvl="1"/>
            <a:r>
              <a:rPr lang="en-US" sz="1400" dirty="0"/>
              <a:t>Google Vertex AI is another, Amazon </a:t>
            </a:r>
            <a:r>
              <a:rPr lang="en-US" sz="1400" dirty="0" err="1"/>
              <a:t>Sagemaker</a:t>
            </a:r>
            <a:r>
              <a:rPr lang="en-US" sz="1400" dirty="0"/>
              <a:t>, and IBM Watson Studio</a:t>
            </a:r>
          </a:p>
          <a:p>
            <a:pPr lvl="1"/>
            <a:r>
              <a:rPr lang="en-US" sz="1400" dirty="0"/>
              <a:t>Kaggle, Microsoft </a:t>
            </a:r>
            <a:r>
              <a:rPr lang="en-US" sz="1400" dirty="0" err="1"/>
              <a:t>AutoML</a:t>
            </a:r>
            <a:r>
              <a:rPr lang="en-US" sz="1400" dirty="0"/>
              <a:t>, </a:t>
            </a:r>
            <a:r>
              <a:rPr lang="en-US" sz="1400" dirty="0" err="1"/>
              <a:t>LMStudio</a:t>
            </a:r>
            <a:r>
              <a:rPr lang="en-US" sz="1400" dirty="0"/>
              <a:t> </a:t>
            </a:r>
          </a:p>
          <a:p>
            <a:r>
              <a:rPr lang="en-US" sz="1400" dirty="0"/>
              <a:t>Libraries / SDKs</a:t>
            </a:r>
          </a:p>
          <a:p>
            <a:pPr lvl="1"/>
            <a:r>
              <a:rPr lang="en-US" sz="1400" dirty="0" err="1"/>
              <a:t>Gradio</a:t>
            </a:r>
            <a:r>
              <a:rPr lang="en-US" sz="1400" dirty="0"/>
              <a:t>, </a:t>
            </a:r>
            <a:r>
              <a:rPr lang="en-US" sz="1400" dirty="0" err="1"/>
              <a:t>ZenML</a:t>
            </a:r>
            <a:r>
              <a:rPr lang="en-US" sz="1400" dirty="0"/>
              <a:t>, </a:t>
            </a:r>
            <a:r>
              <a:rPr lang="en-US" sz="1400" dirty="0" err="1"/>
              <a:t>Taipy</a:t>
            </a:r>
            <a:r>
              <a:rPr lang="en-US" sz="1400" dirty="0"/>
              <a:t>, ACON,, </a:t>
            </a:r>
            <a:r>
              <a:rPr lang="en-US" sz="1400" dirty="0" err="1"/>
              <a:t>HuggingFace</a:t>
            </a:r>
            <a:r>
              <a:rPr lang="en-US" sz="1400" dirty="0"/>
              <a:t> Transformer, KERAS, data-science-centric libraries like (Scikit-learn, </a:t>
            </a:r>
            <a:r>
              <a:rPr lang="en-US" sz="1400" dirty="0" err="1"/>
              <a:t>numpy</a:t>
            </a:r>
            <a:r>
              <a:rPr lang="en-US" sz="1400" dirty="0"/>
              <a:t>, </a:t>
            </a:r>
            <a:r>
              <a:rPr lang="en-US" sz="1400" dirty="0" err="1"/>
              <a:t>matplot</a:t>
            </a:r>
            <a:r>
              <a:rPr lang="en-US" sz="1400" dirty="0"/>
              <a:t> lib)</a:t>
            </a:r>
          </a:p>
          <a:p>
            <a:r>
              <a:rPr lang="en-US" sz="1400" dirty="0"/>
              <a:t>Frameworks</a:t>
            </a:r>
          </a:p>
          <a:p>
            <a:pPr lvl="1"/>
            <a:r>
              <a:rPr lang="en-US" sz="1400" dirty="0"/>
              <a:t>Rasa, </a:t>
            </a:r>
            <a:r>
              <a:rPr lang="en-US" sz="1400" dirty="0" err="1"/>
              <a:t>DialogFlowCX</a:t>
            </a:r>
            <a:r>
              <a:rPr lang="en-US" sz="1400" dirty="0"/>
              <a:t>, </a:t>
            </a:r>
            <a:r>
              <a:rPr lang="en-US" sz="1400" dirty="0" err="1"/>
              <a:t>LangChain</a:t>
            </a:r>
            <a:r>
              <a:rPr lang="en-US" sz="1400" dirty="0"/>
              <a:t> framework for agentic AI, </a:t>
            </a:r>
            <a:r>
              <a:rPr lang="en-US" sz="1400" dirty="0" err="1"/>
              <a:t>Onnx</a:t>
            </a:r>
            <a:r>
              <a:rPr lang="en-US" sz="1400" dirty="0"/>
              <a:t>, </a:t>
            </a:r>
            <a:r>
              <a:rPr lang="en-US" sz="1400" dirty="0" err="1"/>
              <a:t>DeepPavlov</a:t>
            </a:r>
            <a:r>
              <a:rPr lang="en-US" sz="1400" dirty="0"/>
              <a:t>, Vision models like YOLO</a:t>
            </a:r>
          </a:p>
          <a:p>
            <a:r>
              <a:rPr lang="en-US" sz="1400" dirty="0"/>
              <a:t>The models themselves (</a:t>
            </a:r>
            <a:r>
              <a:rPr lang="en-US" sz="1400" dirty="0" err="1"/>
              <a:t>LLama</a:t>
            </a:r>
            <a:r>
              <a:rPr lang="en-US" sz="1400" dirty="0"/>
              <a:t>, </a:t>
            </a:r>
            <a:r>
              <a:rPr lang="en-US" sz="1400" dirty="0" err="1"/>
              <a:t>Deepseek</a:t>
            </a:r>
            <a:r>
              <a:rPr lang="en-US" sz="1400" dirty="0"/>
              <a:t>, Claude, Mistral, GPT family, Gemini, Grok, Qwen). Consider open-source versus hosted, where versions might be better tracked/stable in OSS</a:t>
            </a:r>
          </a:p>
          <a:p>
            <a:r>
              <a:rPr lang="en-US" sz="1400" dirty="0" err="1"/>
              <a:t>HuggingFace</a:t>
            </a:r>
            <a:r>
              <a:rPr lang="en-US" sz="1400" dirty="0"/>
              <a:t> and Black Duck are doing some work in the supply-chain area. Linux / SSF is working in AI BOMs</a:t>
            </a:r>
          </a:p>
          <a:p>
            <a:r>
              <a:rPr lang="en-US" sz="1400" dirty="0"/>
              <a:t>Can auto-load models – subverting that could cause some damage</a:t>
            </a:r>
          </a:p>
          <a:p>
            <a:r>
              <a:rPr lang="en-US" sz="1400" dirty="0"/>
              <a:t>“AI features” in various products</a:t>
            </a:r>
          </a:p>
        </p:txBody>
      </p:sp>
      <p:sp>
        <p:nvSpPr>
          <p:cNvPr id="4" name="Slide Number Placeholder 3">
            <a:extLst>
              <a:ext uri="{FF2B5EF4-FFF2-40B4-BE49-F238E27FC236}">
                <a16:creationId xmlns:a16="http://schemas.microsoft.com/office/drawing/2014/main" id="{0A6FD7BE-7997-F375-33CB-01C3283C946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64013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069B4-6195-612A-07B5-84AE5DFC1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5CFAA-BDEE-F107-6B4E-BA25EFBB9056}"/>
              </a:ext>
            </a:extLst>
          </p:cNvPr>
          <p:cNvSpPr>
            <a:spLocks noGrp="1"/>
          </p:cNvSpPr>
          <p:nvPr>
            <p:ph type="title"/>
          </p:nvPr>
        </p:nvSpPr>
        <p:spPr/>
        <p:txBody>
          <a:bodyPr/>
          <a:lstStyle/>
          <a:p>
            <a:r>
              <a:rPr lang="en-US" dirty="0"/>
              <a:t>“Classes” of AI/ML Products (2)</a:t>
            </a:r>
          </a:p>
        </p:txBody>
      </p:sp>
      <p:sp>
        <p:nvSpPr>
          <p:cNvPr id="3" name="Content Placeholder 2">
            <a:extLst>
              <a:ext uri="{FF2B5EF4-FFF2-40B4-BE49-F238E27FC236}">
                <a16:creationId xmlns:a16="http://schemas.microsoft.com/office/drawing/2014/main" id="{3D12BCC4-D733-3132-B1C9-9FACDE9BF720}"/>
              </a:ext>
            </a:extLst>
          </p:cNvPr>
          <p:cNvSpPr>
            <a:spLocks noGrp="1"/>
          </p:cNvSpPr>
          <p:nvPr>
            <p:ph idx="1"/>
          </p:nvPr>
        </p:nvSpPr>
        <p:spPr/>
        <p:txBody>
          <a:bodyPr/>
          <a:lstStyle/>
          <a:p>
            <a:r>
              <a:rPr lang="en-US" sz="1200" dirty="0"/>
              <a:t>Class: “applications that include AI/ML components”</a:t>
            </a:r>
          </a:p>
          <a:p>
            <a:r>
              <a:rPr lang="en-US" sz="1200" dirty="0"/>
              <a:t>Distinguish between agentic products vs. models vs. chatbots?</a:t>
            </a:r>
          </a:p>
          <a:p>
            <a:r>
              <a:rPr lang="en-US" sz="1200" dirty="0"/>
              <a:t>“Moving up the stack”</a:t>
            </a:r>
          </a:p>
          <a:p>
            <a:r>
              <a:rPr lang="en-US" sz="1200" dirty="0"/>
              <a:t>“More traditional” ML models? (e.g. background noise removal; changing one voice to another e.g. for social engineering as covered in a Black Hat talk)</a:t>
            </a:r>
          </a:p>
          <a:p>
            <a:r>
              <a:rPr lang="en-US" sz="1200" dirty="0"/>
              <a:t>AI content writer / content generators – Grammarly, Jasper AI, napkin AI, Adobe Firefly, Canva, CoPilot, Perplexity, Gemini, ChatGPT, </a:t>
            </a:r>
            <a:r>
              <a:rPr lang="en-US" sz="1200" dirty="0" err="1"/>
              <a:t>notebookLM</a:t>
            </a:r>
            <a:r>
              <a:rPr lang="en-US" sz="1200" dirty="0"/>
              <a:t>, Amazon Kiro</a:t>
            </a:r>
          </a:p>
          <a:p>
            <a:r>
              <a:rPr lang="en-US" sz="1200" dirty="0"/>
              <a:t>Plugins</a:t>
            </a:r>
          </a:p>
          <a:p>
            <a:pPr lvl="1"/>
            <a:r>
              <a:rPr lang="en-US" sz="1200" dirty="0"/>
              <a:t>Google </a:t>
            </a:r>
            <a:r>
              <a:rPr lang="en-US" sz="1200" dirty="0" err="1"/>
              <a:t>Colab</a:t>
            </a:r>
            <a:r>
              <a:rPr lang="en-US" sz="1200" dirty="0"/>
              <a:t> (maybe not a plugin per se), </a:t>
            </a:r>
            <a:r>
              <a:rPr lang="en-US" sz="1200" dirty="0" err="1"/>
              <a:t>Jupyter</a:t>
            </a:r>
            <a:r>
              <a:rPr lang="en-US" sz="1200" dirty="0"/>
              <a:t> notebook</a:t>
            </a:r>
          </a:p>
          <a:p>
            <a:pPr lvl="1"/>
            <a:r>
              <a:rPr lang="en-US" sz="1200" dirty="0"/>
              <a:t>When using ChatGPT, you can select plugins (e.g. Leonardo and Dall-E for image generation) to help with generation</a:t>
            </a:r>
          </a:p>
          <a:p>
            <a:pPr lvl="1"/>
            <a:r>
              <a:rPr lang="en-US" sz="1200" dirty="0"/>
              <a:t>Agents - a plugin is essentially a tool that is used with agentic AI</a:t>
            </a:r>
          </a:p>
          <a:p>
            <a:pPr lvl="1"/>
            <a:r>
              <a:rPr lang="en-US" sz="1200" dirty="0"/>
              <a:t>Drupal/</a:t>
            </a:r>
            <a:r>
              <a:rPr lang="en-US" sz="1200" dirty="0" err="1"/>
              <a:t>Wordpress</a:t>
            </a:r>
            <a:r>
              <a:rPr lang="en-US" sz="1200" dirty="0"/>
              <a:t> plugins/components and browser extensions</a:t>
            </a:r>
          </a:p>
          <a:p>
            <a:r>
              <a:rPr lang="en-US" sz="1200" dirty="0"/>
              <a:t>Interfaces to foundational models</a:t>
            </a:r>
          </a:p>
          <a:p>
            <a:pPr lvl="1"/>
            <a:r>
              <a:rPr lang="en-US" sz="1200" dirty="0"/>
              <a:t>ChatGPT: 41 CVEs; Gemini: maybe 10?; Many products with names like “</a:t>
            </a:r>
            <a:r>
              <a:rPr lang="en-US" sz="1200" dirty="0" err="1"/>
              <a:t>xyzGPT</a:t>
            </a:r>
            <a:r>
              <a:rPr lang="en-US" sz="1200" dirty="0"/>
              <a:t>” (e.g. </a:t>
            </a:r>
            <a:r>
              <a:rPr lang="en-US" sz="1200" b="0" i="0" dirty="0" err="1">
                <a:solidFill>
                  <a:srgbClr val="000000"/>
                </a:solidFill>
                <a:effectLst/>
                <a:latin typeface="Verdana" panose="020B0604030504040204" pitchFamily="34" charset="0"/>
              </a:rPr>
              <a:t>AutoGPT</a:t>
            </a:r>
            <a:r>
              <a:rPr lang="en-US" sz="1200" b="0" i="0" dirty="0">
                <a:solidFill>
                  <a:srgbClr val="000000"/>
                </a:solidFill>
                <a:effectLst/>
                <a:latin typeface="Verdana" panose="020B0604030504040204" pitchFamily="34" charset="0"/>
              </a:rPr>
              <a:t>)</a:t>
            </a:r>
            <a:endParaRPr lang="en-US" sz="1200" dirty="0"/>
          </a:p>
          <a:p>
            <a:r>
              <a:rPr lang="en-US" sz="1200" dirty="0"/>
              <a:t>Models themselves?</a:t>
            </a:r>
          </a:p>
          <a:p>
            <a:pPr lvl="1"/>
            <a:r>
              <a:rPr lang="en-US" sz="1200" dirty="0"/>
              <a:t>Including foundational models?</a:t>
            </a:r>
          </a:p>
          <a:p>
            <a:r>
              <a:rPr lang="en-US" sz="1200" dirty="0" err="1"/>
              <a:t>ChatBots</a:t>
            </a:r>
            <a:endParaRPr lang="en-US" sz="1200" dirty="0"/>
          </a:p>
          <a:p>
            <a:pPr lvl="1"/>
            <a:r>
              <a:rPr lang="en-US" sz="1200" dirty="0"/>
              <a:t>Typically tied to / integrated with LLMs instead of their own separate products</a:t>
            </a:r>
          </a:p>
          <a:p>
            <a:pPr lvl="1"/>
            <a:r>
              <a:rPr lang="en-US" sz="1200" dirty="0"/>
              <a:t>Chatterbot, </a:t>
            </a:r>
            <a:r>
              <a:rPr lang="en-US" sz="1200" dirty="0" err="1"/>
              <a:t>BotPress</a:t>
            </a:r>
            <a:endParaRPr lang="en-US" sz="1200" dirty="0"/>
          </a:p>
          <a:p>
            <a:pPr lvl="1"/>
            <a:r>
              <a:rPr lang="en-US" sz="1200" dirty="0"/>
              <a:t>101 CVEs; this involves chatbots themselves, and interfaces to chatbots</a:t>
            </a:r>
          </a:p>
          <a:p>
            <a:endParaRPr lang="en-US" sz="1200" dirty="0"/>
          </a:p>
        </p:txBody>
      </p:sp>
      <p:sp>
        <p:nvSpPr>
          <p:cNvPr id="4" name="Slide Number Placeholder 3">
            <a:extLst>
              <a:ext uri="{FF2B5EF4-FFF2-40B4-BE49-F238E27FC236}">
                <a16:creationId xmlns:a16="http://schemas.microsoft.com/office/drawing/2014/main" id="{D913C183-D1C6-E906-1431-5448F6E529B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34053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A01C-787D-7610-3D16-2F66D3573FDE}"/>
              </a:ext>
            </a:extLst>
          </p:cNvPr>
          <p:cNvSpPr>
            <a:spLocks noGrp="1"/>
          </p:cNvSpPr>
          <p:nvPr>
            <p:ph type="title"/>
          </p:nvPr>
        </p:nvSpPr>
        <p:spPr/>
        <p:txBody>
          <a:bodyPr/>
          <a:lstStyle/>
          <a:p>
            <a:r>
              <a:rPr lang="en-US" dirty="0"/>
              <a:t>CVE-Driven Analysis</a:t>
            </a:r>
          </a:p>
        </p:txBody>
      </p:sp>
      <p:sp>
        <p:nvSpPr>
          <p:cNvPr id="3" name="Content Placeholder 2">
            <a:extLst>
              <a:ext uri="{FF2B5EF4-FFF2-40B4-BE49-F238E27FC236}">
                <a16:creationId xmlns:a16="http://schemas.microsoft.com/office/drawing/2014/main" id="{77F1E062-A3B2-3DB3-817C-35C41779241B}"/>
              </a:ext>
            </a:extLst>
          </p:cNvPr>
          <p:cNvSpPr>
            <a:spLocks noGrp="1"/>
          </p:cNvSpPr>
          <p:nvPr>
            <p:ph idx="1"/>
          </p:nvPr>
        </p:nvSpPr>
        <p:spPr/>
        <p:txBody>
          <a:bodyPr/>
          <a:lstStyle/>
          <a:p>
            <a:r>
              <a:rPr lang="en-US" dirty="0"/>
              <a:t>Identify “classes” / groups of products to look at</a:t>
            </a:r>
          </a:p>
          <a:p>
            <a:pPr lvl="1"/>
            <a:r>
              <a:rPr lang="en-US" dirty="0"/>
              <a:t>Already done</a:t>
            </a:r>
          </a:p>
          <a:p>
            <a:r>
              <a:rPr lang="en-US" dirty="0"/>
              <a:t>Identify specific product names</a:t>
            </a:r>
          </a:p>
          <a:p>
            <a:pPr lvl="1"/>
            <a:r>
              <a:rPr lang="en-US" dirty="0"/>
              <a:t>Already done?</a:t>
            </a:r>
          </a:p>
          <a:p>
            <a:r>
              <a:rPr lang="en-US" dirty="0"/>
              <a:t>Obtain the CVE “target list”</a:t>
            </a:r>
          </a:p>
          <a:p>
            <a:pPr lvl="1"/>
            <a:r>
              <a:rPr lang="en-US" dirty="0"/>
              <a:t>Any CVE with the given product names</a:t>
            </a:r>
          </a:p>
          <a:p>
            <a:r>
              <a:rPr lang="en-US" dirty="0"/>
              <a:t>Extract CWEs</a:t>
            </a:r>
          </a:p>
          <a:p>
            <a:pPr lvl="1"/>
            <a:r>
              <a:rPr lang="en-US" dirty="0"/>
              <a:t>Mappings can be inaccurate</a:t>
            </a:r>
          </a:p>
          <a:p>
            <a:r>
              <a:rPr lang="en-US" dirty="0"/>
              <a:t>Data review</a:t>
            </a:r>
          </a:p>
          <a:p>
            <a:pPr lvl="1"/>
            <a:r>
              <a:rPr lang="en-US" dirty="0"/>
              <a:t>Most common CWEs</a:t>
            </a:r>
          </a:p>
          <a:p>
            <a:r>
              <a:rPr lang="en-US" dirty="0"/>
              <a:t>Prioritize CWEs to update</a:t>
            </a:r>
          </a:p>
          <a:p>
            <a:endParaRPr lang="en-US" dirty="0"/>
          </a:p>
        </p:txBody>
      </p:sp>
      <p:sp>
        <p:nvSpPr>
          <p:cNvPr id="4" name="Slide Number Placeholder 3">
            <a:extLst>
              <a:ext uri="{FF2B5EF4-FFF2-40B4-BE49-F238E27FC236}">
                <a16:creationId xmlns:a16="http://schemas.microsoft.com/office/drawing/2014/main" id="{A5E1ACF2-BDC1-BB00-BF96-2C06D361F8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54040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124C6-101D-706E-ADE5-967031525A6A}"/>
              </a:ext>
            </a:extLst>
          </p:cNvPr>
          <p:cNvSpPr>
            <a:spLocks noGrp="1"/>
          </p:cNvSpPr>
          <p:nvPr>
            <p:ph type="title"/>
          </p:nvPr>
        </p:nvSpPr>
        <p:spPr/>
        <p:txBody>
          <a:bodyPr/>
          <a:lstStyle/>
          <a:p>
            <a:r>
              <a:rPr lang="en-US" dirty="0"/>
              <a:t>Initial Findings – Finding AI/ML Related CVEs</a:t>
            </a:r>
          </a:p>
        </p:txBody>
      </p:sp>
      <p:sp>
        <p:nvSpPr>
          <p:cNvPr id="3" name="Content Placeholder 2">
            <a:extLst>
              <a:ext uri="{FF2B5EF4-FFF2-40B4-BE49-F238E27FC236}">
                <a16:creationId xmlns:a16="http://schemas.microsoft.com/office/drawing/2014/main" id="{62F6D486-F5B9-4EB9-7D76-9D8DD439D4F3}"/>
              </a:ext>
            </a:extLst>
          </p:cNvPr>
          <p:cNvSpPr>
            <a:spLocks noGrp="1"/>
          </p:cNvSpPr>
          <p:nvPr>
            <p:ph idx="1"/>
          </p:nvPr>
        </p:nvSpPr>
        <p:spPr/>
        <p:txBody>
          <a:bodyPr/>
          <a:lstStyle/>
          <a:p>
            <a:r>
              <a:rPr lang="en-US" dirty="0"/>
              <a:t>Using “enriched” NVD data from June 1, 2024 to June 1, 2025</a:t>
            </a:r>
          </a:p>
          <a:p>
            <a:pPr lvl="1"/>
            <a:r>
              <a:rPr lang="en-US" dirty="0"/>
              <a:t>Just happened to be available</a:t>
            </a:r>
          </a:p>
          <a:p>
            <a:r>
              <a:rPr lang="en-US" dirty="0"/>
              <a:t>Keyword matches against listed products</a:t>
            </a:r>
          </a:p>
          <a:p>
            <a:pPr lvl="1"/>
            <a:r>
              <a:rPr lang="en-US" dirty="0"/>
              <a:t>Lots of false negatives due to spelling variations (“XY” vs. “X Y”)</a:t>
            </a:r>
          </a:p>
          <a:p>
            <a:pPr lvl="1"/>
            <a:r>
              <a:rPr lang="en-US" dirty="0"/>
              <a:t>Could attempt CPE data – which is likely incomplete</a:t>
            </a:r>
          </a:p>
          <a:p>
            <a:r>
              <a:rPr lang="en-US" dirty="0"/>
              <a:t>299 CVEs found (so far)</a:t>
            </a:r>
          </a:p>
          <a:p>
            <a:r>
              <a:rPr lang="en-US" dirty="0"/>
              <a:t>Various false positives</a:t>
            </a:r>
          </a:p>
          <a:p>
            <a:r>
              <a:rPr lang="en-US" dirty="0"/>
              <a:t>Incorrect CWE mappings</a:t>
            </a:r>
          </a:p>
          <a:p>
            <a:pPr lvl="1"/>
            <a:r>
              <a:rPr lang="en-US" dirty="0"/>
              <a:t>e.g., one CVE has CWE-20 (improper input validation) but is clearly for relative path traversal (CWE-23)</a:t>
            </a:r>
          </a:p>
          <a:p>
            <a:endParaRPr lang="en-US" dirty="0"/>
          </a:p>
        </p:txBody>
      </p:sp>
      <p:sp>
        <p:nvSpPr>
          <p:cNvPr id="4" name="Slide Number Placeholder 3">
            <a:extLst>
              <a:ext uri="{FF2B5EF4-FFF2-40B4-BE49-F238E27FC236}">
                <a16:creationId xmlns:a16="http://schemas.microsoft.com/office/drawing/2014/main" id="{DFEAB0F3-FD12-5B1E-5531-13F7B6EDDCA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0279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7C55A-E333-2243-4E9E-3BAC951D3A5D}"/>
              </a:ext>
            </a:extLst>
          </p:cNvPr>
          <p:cNvSpPr>
            <a:spLocks noGrp="1"/>
          </p:cNvSpPr>
          <p:nvPr>
            <p:ph type="title"/>
          </p:nvPr>
        </p:nvSpPr>
        <p:spPr/>
        <p:txBody>
          <a:bodyPr/>
          <a:lstStyle/>
          <a:p>
            <a:r>
              <a:rPr lang="en-US" dirty="0"/>
              <a:t>Initial Findings – Most Common CWE Mappings</a:t>
            </a:r>
          </a:p>
        </p:txBody>
      </p:sp>
      <p:sp>
        <p:nvSpPr>
          <p:cNvPr id="3" name="Content Placeholder 2">
            <a:extLst>
              <a:ext uri="{FF2B5EF4-FFF2-40B4-BE49-F238E27FC236}">
                <a16:creationId xmlns:a16="http://schemas.microsoft.com/office/drawing/2014/main" id="{2CB2715F-530D-1C6A-4453-B5E535D82374}"/>
              </a:ext>
            </a:extLst>
          </p:cNvPr>
          <p:cNvSpPr>
            <a:spLocks noGrp="1"/>
          </p:cNvSpPr>
          <p:nvPr>
            <p:ph idx="1"/>
          </p:nvPr>
        </p:nvSpPr>
        <p:spPr>
          <a:xfrm>
            <a:off x="616449" y="1371601"/>
            <a:ext cx="5478329" cy="4794737"/>
          </a:xfrm>
        </p:spPr>
        <p:txBody>
          <a:bodyPr/>
          <a:lstStyle/>
          <a:p>
            <a:r>
              <a:rPr lang="en-US" sz="2000" dirty="0"/>
              <a:t>CWEs:</a:t>
            </a:r>
          </a:p>
          <a:p>
            <a:pPr lvl="1"/>
            <a:r>
              <a:rPr lang="en-US" sz="2000" dirty="0"/>
              <a:t>23 CWE-502 – untrusted deserialization</a:t>
            </a:r>
          </a:p>
          <a:p>
            <a:pPr lvl="1"/>
            <a:r>
              <a:rPr lang="en-US" sz="2000" dirty="0"/>
              <a:t>21 CWE-22 – path traversal</a:t>
            </a:r>
          </a:p>
          <a:p>
            <a:pPr lvl="1"/>
            <a:r>
              <a:rPr lang="en-US" sz="2000" dirty="0"/>
              <a:t>20 </a:t>
            </a:r>
            <a:r>
              <a:rPr lang="en-US" sz="2000" dirty="0">
                <a:solidFill>
                  <a:srgbClr val="FF0000"/>
                </a:solidFill>
              </a:rPr>
              <a:t>NVD-CWE-</a:t>
            </a:r>
            <a:r>
              <a:rPr lang="en-US" sz="2000" dirty="0" err="1">
                <a:solidFill>
                  <a:srgbClr val="FF0000"/>
                </a:solidFill>
              </a:rPr>
              <a:t>noinfo</a:t>
            </a:r>
            <a:endParaRPr lang="en-US" sz="2000" dirty="0">
              <a:solidFill>
                <a:srgbClr val="FF0000"/>
              </a:solidFill>
            </a:endParaRPr>
          </a:p>
          <a:p>
            <a:pPr lvl="1"/>
            <a:r>
              <a:rPr lang="en-US" sz="2000" dirty="0"/>
              <a:t>20 CWE-400 – high-level resource consumption</a:t>
            </a:r>
          </a:p>
          <a:p>
            <a:pPr lvl="1"/>
            <a:r>
              <a:rPr lang="en-US" sz="2000" dirty="0"/>
              <a:t>19 CWE-79 - XSS</a:t>
            </a:r>
          </a:p>
          <a:p>
            <a:pPr lvl="1"/>
            <a:r>
              <a:rPr lang="en-US" sz="2000" dirty="0"/>
              <a:t>18 CWE-918 - SSRF</a:t>
            </a:r>
          </a:p>
          <a:p>
            <a:pPr lvl="1"/>
            <a:r>
              <a:rPr lang="en-US" sz="2000" dirty="0"/>
              <a:t>15 CWE-94 – code injection</a:t>
            </a:r>
          </a:p>
          <a:p>
            <a:pPr lvl="1"/>
            <a:r>
              <a:rPr lang="en-US" sz="2000" dirty="0"/>
              <a:t>11 CWE-284 – access control</a:t>
            </a:r>
          </a:p>
          <a:p>
            <a:endParaRPr lang="en-US" sz="2000" dirty="0"/>
          </a:p>
        </p:txBody>
      </p:sp>
      <p:sp>
        <p:nvSpPr>
          <p:cNvPr id="4" name="Slide Number Placeholder 3">
            <a:extLst>
              <a:ext uri="{FF2B5EF4-FFF2-40B4-BE49-F238E27FC236}">
                <a16:creationId xmlns:a16="http://schemas.microsoft.com/office/drawing/2014/main" id="{3690E29C-8636-26CC-4467-0813BFDE5BB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Content Placeholder 2">
            <a:extLst>
              <a:ext uri="{FF2B5EF4-FFF2-40B4-BE49-F238E27FC236}">
                <a16:creationId xmlns:a16="http://schemas.microsoft.com/office/drawing/2014/main" id="{A579C1F4-F10C-0D13-69C5-B750E6EF16C9}"/>
              </a:ext>
            </a:extLst>
          </p:cNvPr>
          <p:cNvSpPr txBox="1">
            <a:spLocks/>
          </p:cNvSpPr>
          <p:nvPr/>
        </p:nvSpPr>
        <p:spPr>
          <a:xfrm>
            <a:off x="6000251" y="1473201"/>
            <a:ext cx="5575300" cy="4794737"/>
          </a:xfrm>
          <a:prstGeom prst="rect">
            <a:avLst/>
          </a:prstGeom>
        </p:spPr>
        <p:txBody>
          <a:bodyPr vert="horz" lIns="91440" tIns="45720" rIns="91440" bIns="45720" rtlCol="0">
            <a:noAutofit/>
          </a:bodyPr>
          <a:lstStyle>
            <a:lvl1pPr marL="308269" indent="-308269" algn="l" defTabSz="1216185" rtl="0" eaLnBrk="1" latinLnBrk="0" hangingPunct="1">
              <a:lnSpc>
                <a:spcPct val="90000"/>
              </a:lnSpc>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lnSpc>
                <a:spcPct val="90000"/>
              </a:lnSpc>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1216185" rtl="0" eaLnBrk="1" latinLnBrk="0" hangingPunct="1">
              <a:lnSpc>
                <a:spcPct val="90000"/>
              </a:lnSpc>
              <a:spcBef>
                <a:spcPts val="0"/>
              </a:spcBef>
              <a:spcAft>
                <a:spcPts val="798"/>
              </a:spcAft>
              <a:buClr>
                <a:schemeClr val="tx2"/>
              </a:buClr>
              <a:buFont typeface="Arial" panose="020B0604020202020204" pitchFamily="34" charset="0"/>
              <a:buChar char="•"/>
              <a:defRPr lang="en-US" sz="2660" b="1"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CWEs:</a:t>
            </a:r>
          </a:p>
          <a:p>
            <a:pPr lvl="1"/>
            <a:r>
              <a:rPr lang="en-US" sz="2000" dirty="0"/>
              <a:t>9 CWE-89 - SQLi</a:t>
            </a:r>
          </a:p>
          <a:p>
            <a:pPr lvl="1"/>
            <a:r>
              <a:rPr lang="en-US" sz="2000" dirty="0"/>
              <a:t>9 CWE-352 - CSRF</a:t>
            </a:r>
          </a:p>
          <a:p>
            <a:pPr lvl="1"/>
            <a:r>
              <a:rPr lang="en-US" sz="2000" dirty="0"/>
              <a:t>9 CWE-20 – input validation</a:t>
            </a:r>
          </a:p>
          <a:p>
            <a:pPr lvl="1"/>
            <a:r>
              <a:rPr lang="en-US" sz="2000" dirty="0"/>
              <a:t>9 CWE-119 – high-level buffer overflows</a:t>
            </a:r>
          </a:p>
          <a:p>
            <a:pPr lvl="1"/>
            <a:r>
              <a:rPr lang="en-US" sz="2000" dirty="0"/>
              <a:t>8 CWE-77 – command injection</a:t>
            </a:r>
          </a:p>
          <a:p>
            <a:pPr lvl="1"/>
            <a:r>
              <a:rPr lang="en-US" sz="2000" dirty="0"/>
              <a:t>7 CWE-78 – OS command injection</a:t>
            </a:r>
          </a:p>
          <a:p>
            <a:pPr lvl="1"/>
            <a:r>
              <a:rPr lang="en-US" sz="2000" dirty="0"/>
              <a:t>7 CWE-434 – untrusted file upload</a:t>
            </a:r>
          </a:p>
          <a:p>
            <a:endParaRPr lang="en-US" sz="2000" dirty="0"/>
          </a:p>
        </p:txBody>
      </p:sp>
    </p:spTree>
    <p:extLst>
      <p:ext uri="{BB962C8B-B14F-4D97-AF65-F5344CB8AC3E}">
        <p14:creationId xmlns:p14="http://schemas.microsoft.com/office/powerpoint/2010/main" val="1583770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F2BB-D1D3-7458-9F48-439EF2FE3483}"/>
              </a:ext>
            </a:extLst>
          </p:cNvPr>
          <p:cNvSpPr>
            <a:spLocks noGrp="1"/>
          </p:cNvSpPr>
          <p:nvPr>
            <p:ph type="title"/>
          </p:nvPr>
        </p:nvSpPr>
        <p:spPr/>
        <p:txBody>
          <a:bodyPr/>
          <a:lstStyle/>
          <a:p>
            <a:r>
              <a:rPr lang="en-US" dirty="0"/>
              <a:t>Anecdotal Observations of Common Weaknesses</a:t>
            </a:r>
          </a:p>
        </p:txBody>
      </p:sp>
      <p:sp>
        <p:nvSpPr>
          <p:cNvPr id="3" name="Content Placeholder 2">
            <a:extLst>
              <a:ext uri="{FF2B5EF4-FFF2-40B4-BE49-F238E27FC236}">
                <a16:creationId xmlns:a16="http://schemas.microsoft.com/office/drawing/2014/main" id="{BBCBA22B-D692-268F-86DD-891216B01686}"/>
              </a:ext>
            </a:extLst>
          </p:cNvPr>
          <p:cNvSpPr>
            <a:spLocks noGrp="1"/>
          </p:cNvSpPr>
          <p:nvPr>
            <p:ph idx="1"/>
          </p:nvPr>
        </p:nvSpPr>
        <p:spPr/>
        <p:txBody>
          <a:bodyPr/>
          <a:lstStyle/>
          <a:p>
            <a:r>
              <a:rPr lang="en-US" dirty="0"/>
              <a:t>SSTI</a:t>
            </a:r>
          </a:p>
          <a:p>
            <a:r>
              <a:rPr lang="en-US" dirty="0"/>
              <a:t>Serialization</a:t>
            </a:r>
          </a:p>
          <a:p>
            <a:r>
              <a:rPr lang="en-US" dirty="0"/>
              <a:t>Access control – authorization and authentication</a:t>
            </a:r>
          </a:p>
          <a:p>
            <a:r>
              <a:rPr lang="en-US" dirty="0"/>
              <a:t>DoS (discussed by Martin)</a:t>
            </a:r>
          </a:p>
          <a:p>
            <a:pPr lvl="1"/>
            <a:r>
              <a:rPr lang="en-US" dirty="0"/>
              <a:t>Excessive allocation</a:t>
            </a:r>
          </a:p>
          <a:p>
            <a:pPr lvl="1"/>
            <a:r>
              <a:rPr lang="en-US" dirty="0"/>
              <a:t>Computationally expensive ops</a:t>
            </a:r>
          </a:p>
          <a:p>
            <a:pPr lvl="1"/>
            <a:r>
              <a:rPr lang="en-US" dirty="0"/>
              <a:t>User session management, prioritizing connections, etc.</a:t>
            </a:r>
          </a:p>
          <a:p>
            <a:r>
              <a:rPr lang="en-US" dirty="0"/>
              <a:t>CWE-912 hidden functionality in the models themselves</a:t>
            </a:r>
          </a:p>
          <a:p>
            <a:r>
              <a:rPr lang="en-US" dirty="0"/>
              <a:t>“State” preservation/loss [see chat log]</a:t>
            </a:r>
          </a:p>
          <a:p>
            <a:r>
              <a:rPr lang="en-US" dirty="0"/>
              <a:t>[see recommendations from Erick in chat log]</a:t>
            </a:r>
          </a:p>
          <a:p>
            <a:r>
              <a:rPr lang="en-US" dirty="0"/>
              <a:t>[see CWEs suggested by Chris Gourley in chat]</a:t>
            </a:r>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E5557E5D-DD8A-D9F5-46DC-354926B9601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060175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A079-559E-04FB-78DE-066E3648C623}"/>
              </a:ext>
            </a:extLst>
          </p:cNvPr>
          <p:cNvSpPr>
            <a:spLocks noGrp="1"/>
          </p:cNvSpPr>
          <p:nvPr>
            <p:ph type="ctrTitle" sz="quarter"/>
          </p:nvPr>
        </p:nvSpPr>
        <p:spPr/>
        <p:txBody>
          <a:bodyPr/>
          <a:lstStyle/>
          <a:p>
            <a:r>
              <a:rPr lang="en-US" dirty="0"/>
              <a:t>“Demo” – Potential Observed Examples Report</a:t>
            </a:r>
          </a:p>
        </p:txBody>
      </p:sp>
      <p:sp>
        <p:nvSpPr>
          <p:cNvPr id="3" name="Slide Number Placeholder 2">
            <a:extLst>
              <a:ext uri="{FF2B5EF4-FFF2-40B4-BE49-F238E27FC236}">
                <a16:creationId xmlns:a16="http://schemas.microsoft.com/office/drawing/2014/main" id="{EDD4055E-1704-F1D5-0879-53B9E21A8DF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64881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E6488-2D72-A286-DFAB-D16972B3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7F19-1D5D-997D-EFF7-FAE70DDEDED3}"/>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59370F8-2BBD-91B3-403D-EEBC3F9028D7}"/>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A90B3ED-3A49-975B-AD20-A6E0F9C7094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841179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86E32-0E53-7C1A-BA74-51AAF5019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628AF-250E-48A2-F5EB-9282497FA516}"/>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CD04C986-5298-744E-6E9A-3A2EED860667}"/>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CE4433FE-E2FB-A308-4E12-EF39D6FA663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6177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62BAB-9D2C-48B6-6211-1DBBA012B95C}"/>
              </a:ext>
            </a:extLst>
          </p:cNvPr>
          <p:cNvSpPr>
            <a:spLocks noGrp="1"/>
          </p:cNvSpPr>
          <p:nvPr>
            <p:ph type="title"/>
          </p:nvPr>
        </p:nvSpPr>
        <p:spPr/>
        <p:txBody>
          <a:bodyPr/>
          <a:lstStyle/>
          <a:p>
            <a:r>
              <a:rPr lang="en-US" dirty="0"/>
              <a:t>Collaboration on Data Gathering</a:t>
            </a:r>
          </a:p>
        </p:txBody>
      </p:sp>
      <p:sp>
        <p:nvSpPr>
          <p:cNvPr id="3" name="Content Placeholder 2">
            <a:extLst>
              <a:ext uri="{FF2B5EF4-FFF2-40B4-BE49-F238E27FC236}">
                <a16:creationId xmlns:a16="http://schemas.microsoft.com/office/drawing/2014/main" id="{E6C71981-487C-57E6-8812-5FA29F8007D4}"/>
              </a:ext>
            </a:extLst>
          </p:cNvPr>
          <p:cNvSpPr>
            <a:spLocks noGrp="1"/>
          </p:cNvSpPr>
          <p:nvPr>
            <p:ph idx="1"/>
          </p:nvPr>
        </p:nvSpPr>
        <p:spPr/>
        <p:txBody>
          <a:bodyPr/>
          <a:lstStyle/>
          <a:p>
            <a:r>
              <a:rPr lang="en-US" sz="2000" dirty="0"/>
              <a:t>How should we communicate – mailing list? CDR?</a:t>
            </a:r>
          </a:p>
          <a:p>
            <a:pPr lvl="1"/>
            <a:r>
              <a:rPr lang="en-US" sz="2000" dirty="0"/>
              <a:t>Start with email; could put prelim findings into CDR</a:t>
            </a:r>
          </a:p>
          <a:p>
            <a:r>
              <a:rPr lang="en-US" sz="2000" dirty="0"/>
              <a:t>Any academic research such as analysis against many products?</a:t>
            </a:r>
          </a:p>
          <a:p>
            <a:r>
              <a:rPr lang="en-US" sz="2000" dirty="0"/>
              <a:t>Performing CVE-driven analysis</a:t>
            </a:r>
          </a:p>
          <a:p>
            <a:pPr lvl="1"/>
            <a:r>
              <a:rPr lang="en-US" sz="2000" dirty="0"/>
              <a:t>Is somebody willing to implement the CVE search?</a:t>
            </a:r>
          </a:p>
          <a:p>
            <a:r>
              <a:rPr lang="en-US" sz="2000" dirty="0"/>
              <a:t>Start with anecdotal observations</a:t>
            </a:r>
          </a:p>
          <a:p>
            <a:pPr lvl="1"/>
            <a:r>
              <a:rPr lang="en-US" sz="2000" dirty="0"/>
              <a:t>Probably relatively easy to find some CVE examples</a:t>
            </a:r>
          </a:p>
          <a:p>
            <a:pPr lvl="1"/>
            <a:r>
              <a:rPr lang="en-US" sz="2000" dirty="0"/>
              <a:t>This WG could also develop demonstrative examples</a:t>
            </a:r>
          </a:p>
          <a:p>
            <a:r>
              <a:rPr lang="en-US" sz="2000" dirty="0"/>
              <a:t>Possible </a:t>
            </a:r>
            <a:r>
              <a:rPr lang="en-US" sz="2000" dirty="0" err="1"/>
              <a:t>todo</a:t>
            </a:r>
            <a:r>
              <a:rPr lang="en-US" sz="2000" dirty="0"/>
              <a:t>: analyze academic papers and link to CWE(s)</a:t>
            </a:r>
          </a:p>
          <a:p>
            <a:r>
              <a:rPr lang="en-US" sz="2000" dirty="0"/>
              <a:t>Nominees</a:t>
            </a:r>
          </a:p>
          <a:p>
            <a:pPr lvl="1"/>
            <a:r>
              <a:rPr lang="en-US" sz="2000" dirty="0"/>
              <a:t>Serialization</a:t>
            </a:r>
          </a:p>
          <a:p>
            <a:pPr lvl="1"/>
            <a:r>
              <a:rPr lang="en-US" sz="2000" dirty="0"/>
              <a:t>Hidden functionality</a:t>
            </a:r>
          </a:p>
          <a:p>
            <a:pPr lvl="1"/>
            <a:r>
              <a:rPr lang="en-US" sz="2000" dirty="0"/>
              <a:t>Authorization (agentic AI – AI is operating at higher privileges than the user)</a:t>
            </a:r>
          </a:p>
          <a:p>
            <a:endParaRPr lang="en-US" sz="2000" dirty="0"/>
          </a:p>
        </p:txBody>
      </p:sp>
      <p:sp>
        <p:nvSpPr>
          <p:cNvPr id="4" name="Slide Number Placeholder 3">
            <a:extLst>
              <a:ext uri="{FF2B5EF4-FFF2-40B4-BE49-F238E27FC236}">
                <a16:creationId xmlns:a16="http://schemas.microsoft.com/office/drawing/2014/main" id="{1C69589B-8E2A-CAEE-7CC6-3FA26A50454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713656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8B45C-8B7F-809E-36C4-F44086F1DCD7}"/>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1CF7618-078F-E22E-D337-0DA0B2D6AB85}"/>
              </a:ext>
            </a:extLst>
          </p:cNvPr>
          <p:cNvSpPr>
            <a:spLocks noGrp="1"/>
          </p:cNvSpPr>
          <p:nvPr>
            <p:ph idx="1"/>
          </p:nvPr>
        </p:nvSpPr>
        <p:spPr/>
        <p:txBody>
          <a:bodyPr/>
          <a:lstStyle/>
          <a:p>
            <a:r>
              <a:rPr lang="en-US" dirty="0"/>
              <a:t>Meetings</a:t>
            </a:r>
          </a:p>
          <a:p>
            <a:pPr lvl="1"/>
            <a:r>
              <a:rPr lang="en-US" dirty="0"/>
              <a:t>June 20 – new entry subgroup</a:t>
            </a:r>
          </a:p>
          <a:p>
            <a:pPr lvl="1"/>
            <a:r>
              <a:rPr lang="en-US" dirty="0"/>
              <a:t>July 4 (needs rescheduling) – modification subgroup</a:t>
            </a:r>
          </a:p>
          <a:p>
            <a:endParaRPr lang="en-US" dirty="0"/>
          </a:p>
        </p:txBody>
      </p:sp>
      <p:sp>
        <p:nvSpPr>
          <p:cNvPr id="4" name="Slide Number Placeholder 3">
            <a:extLst>
              <a:ext uri="{FF2B5EF4-FFF2-40B4-BE49-F238E27FC236}">
                <a16:creationId xmlns:a16="http://schemas.microsoft.com/office/drawing/2014/main" id="{940009AE-E205-99A1-710C-AFAFECBDD27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108029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0E0D3-0880-549B-AFBE-8EADDBC52B82}"/>
              </a:ext>
            </a:extLst>
          </p:cNvPr>
          <p:cNvSpPr>
            <a:spLocks noGrp="1"/>
          </p:cNvSpPr>
          <p:nvPr>
            <p:ph type="ctrTitle" sz="quarter"/>
          </p:nvPr>
        </p:nvSpPr>
        <p:spPr/>
        <p:txBody>
          <a:bodyPr/>
          <a:lstStyle/>
          <a:p>
            <a:r>
              <a:rPr lang="en-US"/>
              <a:t>Other / Older Slides</a:t>
            </a:r>
          </a:p>
        </p:txBody>
      </p:sp>
      <p:sp>
        <p:nvSpPr>
          <p:cNvPr id="3" name="Slide Number Placeholder 2">
            <a:extLst>
              <a:ext uri="{FF2B5EF4-FFF2-40B4-BE49-F238E27FC236}">
                <a16:creationId xmlns:a16="http://schemas.microsoft.com/office/drawing/2014/main" id="{072F433C-A5DD-F658-7165-5B2A8AD0C58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623664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828848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Status</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Incomplete entry</a:t>
            </a:r>
          </a:p>
          <a:p>
            <a:pPr lvl="1"/>
            <a:r>
              <a:rPr lang="en-US"/>
              <a:t>No examples (observed or demonstrative), mitigations, etc.</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Quick Demo - CWE-1039</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Content Placeholder 5">
            <a:extLst>
              <a:ext uri="{FF2B5EF4-FFF2-40B4-BE49-F238E27FC236}">
                <a16:creationId xmlns:a16="http://schemas.microsoft.com/office/drawing/2014/main" id="{E7EC792B-BCD0-F7FA-F6CF-1E02310B78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7368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“LLM Bad Practices: Improper tuning of model control parameters” (Lily Wong) - ES2406-9e5fcf10</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6522502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Name, Summary, and Extended Description</a:t>
            </a:r>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616448" y="2321584"/>
            <a:ext cx="11088894" cy="923330"/>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has a component that relies on a generative AI/ML model, but the model is configured with incorrect inference parameters that produce excessive erroneous or unexpected outputs that violate the intended security policy.</a:t>
            </a:r>
          </a:p>
        </p:txBody>
      </p:sp>
      <p:sp>
        <p:nvSpPr>
          <p:cNvPr id="8" name="TextBox 7">
            <a:extLst>
              <a:ext uri="{FF2B5EF4-FFF2-40B4-BE49-F238E27FC236}">
                <a16:creationId xmlns:a16="http://schemas.microsoft.com/office/drawing/2014/main" id="{C4B54ECF-A9AA-CA85-AA8D-702D0649EFC9}"/>
              </a:ext>
            </a:extLst>
          </p:cNvPr>
          <p:cNvSpPr txBox="1"/>
          <p:nvPr/>
        </p:nvSpPr>
        <p:spPr>
          <a:xfrm>
            <a:off x="616448" y="3796010"/>
            <a:ext cx="11088894" cy="2031325"/>
          </a:xfrm>
          <a:prstGeom prst="rect">
            <a:avLst/>
          </a:prstGeom>
          <a:solidFill>
            <a:schemeClr val="accent3">
              <a:lumMod val="20000"/>
              <a:lumOff val="80000"/>
            </a:schemeClr>
          </a:solidFill>
          <a:ln>
            <a:solidFill>
              <a:schemeClr val="accent1"/>
            </a:solidFill>
          </a:ln>
        </p:spPr>
        <p:txBody>
          <a:bodyPr wrap="square" lIns="91440" tIns="45720" rIns="91440" bIns="45720" rtlCol="0" anchor="t">
            <a:spAutoFit/>
          </a:bodyPr>
          <a:lstStyle/>
          <a:p>
            <a:r>
              <a:rPr lang="en-US" b="0" i="0">
                <a:solidFill>
                  <a:srgbClr val="1F2328"/>
                </a:solidFill>
                <a:effectLst/>
                <a:latin typeface="-apple-system"/>
              </a:rPr>
              <a:t>Generative AI/ML models, such as those used for text generation, image synthesis, and other creative tasks, rely on </a:t>
            </a:r>
            <a:r>
              <a:rPr lang="en-US" b="0" i="0" u="sng">
                <a:solidFill>
                  <a:srgbClr val="1F2328"/>
                </a:solidFill>
                <a:effectLst/>
                <a:latin typeface="-apple-system"/>
              </a:rPr>
              <a:t>inference parameters </a:t>
            </a:r>
            <a:r>
              <a:rPr lang="en-US" b="0" i="0">
                <a:solidFill>
                  <a:srgbClr val="1F2328"/>
                </a:solidFill>
                <a:effectLst/>
                <a:latin typeface="-apple-system"/>
              </a:rPr>
              <a:t>that control model behavior, </a:t>
            </a:r>
            <a:r>
              <a:rPr lang="en-US" b="0" i="0" u="sng">
                <a:solidFill>
                  <a:srgbClr val="1F2328"/>
                </a:solidFill>
                <a:effectLst/>
                <a:latin typeface="-apple-system"/>
              </a:rPr>
              <a:t>such as temperature, Top P, and Top K</a:t>
            </a:r>
            <a:r>
              <a:rPr lang="en-US" b="0" i="0">
                <a:solidFill>
                  <a:srgbClr val="1F2328"/>
                </a:solidFill>
                <a:effectLst/>
                <a:latin typeface="-apple-system"/>
              </a:rPr>
              <a:t>. These parameters affect the model's internal decision-making processes, learning rate, and probability distributions. Incorrect settings </a:t>
            </a:r>
            <a:r>
              <a:rPr lang="en-US">
                <a:solidFill>
                  <a:srgbClr val="1F2328"/>
                </a:solidFill>
                <a:latin typeface="-apple-system"/>
              </a:rPr>
              <a:t>can lead</a:t>
            </a:r>
            <a:r>
              <a:rPr lang="en-US" b="0" i="0">
                <a:solidFill>
                  <a:srgbClr val="1F2328"/>
                </a:solidFill>
                <a:effectLst/>
                <a:latin typeface="-apple-system"/>
              </a:rPr>
              <a:t> to unusual behavior such as "hallucinations" in text generation, unrealistic images, or failure to converge during training. The impact of such misconfigurations can compromise the integrity of the application. If the results are used in security-critical operations or decisions, then this could violate the intended security policy, i.e., introduce a vulnerability.</a:t>
            </a:r>
            <a:endParaRPr lang="en-US"/>
          </a:p>
        </p:txBody>
      </p:sp>
      <p:sp>
        <p:nvSpPr>
          <p:cNvPr id="9" name="TextBox 8">
            <a:extLst>
              <a:ext uri="{FF2B5EF4-FFF2-40B4-BE49-F238E27FC236}">
                <a16:creationId xmlns:a16="http://schemas.microsoft.com/office/drawing/2014/main" id="{9E3A903E-5FA1-1226-0FE2-9210E3C13BE2}"/>
              </a:ext>
            </a:extLst>
          </p:cNvPr>
          <p:cNvSpPr txBox="1"/>
          <p:nvPr/>
        </p:nvSpPr>
        <p:spPr>
          <a:xfrm>
            <a:off x="616448" y="1585822"/>
            <a:ext cx="11088894" cy="461665"/>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sz="2400" b="1" i="0">
                <a:solidFill>
                  <a:srgbClr val="1F2328"/>
                </a:solidFill>
                <a:effectLst/>
                <a:latin typeface="-apple-system"/>
              </a:rPr>
              <a:t>Insecure Setting of Generative AI/ML Model Inference Parameters</a:t>
            </a:r>
          </a:p>
        </p:txBody>
      </p:sp>
    </p:spTree>
    <p:extLst>
      <p:ext uri="{BB962C8B-B14F-4D97-AF65-F5344CB8AC3E}">
        <p14:creationId xmlns:p14="http://schemas.microsoft.com/office/powerpoint/2010/main" val="34590027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err="1"/>
              <a:t>ChildOf</a:t>
            </a:r>
            <a:r>
              <a:rPr lang="en-US" sz="1800"/>
              <a:t> CWE-440: Expected Behavior Violation</a:t>
            </a:r>
          </a:p>
          <a:p>
            <a:r>
              <a:rPr lang="en-US" sz="1800" err="1"/>
              <a:t>ChildOf</a:t>
            </a:r>
            <a:r>
              <a:rPr lang="en-US" sz="1800"/>
              <a:t> CWE-665: Improper Initialization</a:t>
            </a:r>
          </a:p>
          <a:p>
            <a:pPr marL="382170" lvl="1" indent="0">
              <a:buNone/>
            </a:pPr>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lnSpcReduction="10000"/>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a:t>
            </a:r>
            <a:r>
              <a:rPr lang="en-US" sz="1500">
                <a:solidFill>
                  <a:srgbClr val="FF0000"/>
                </a:solidFill>
              </a:rPr>
              <a:t>Modify Application Data</a:t>
            </a:r>
            <a:r>
              <a:rPr lang="en-US" sz="1500"/>
              <a:t>,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 </a:t>
            </a:r>
            <a:r>
              <a:rPr lang="en-US" sz="1500">
                <a:solidFill>
                  <a:srgbClr val="FF0000"/>
                </a:solidFill>
              </a:rPr>
              <a:t>[MAYBE ADD “OUTPUT CORRECTNESS”]</a:t>
            </a:r>
          </a:p>
          <a:p>
            <a:r>
              <a:rPr lang="en-US" sz="2000" err="1"/>
              <a:t>Conseq</a:t>
            </a:r>
            <a:r>
              <a:rPr lang="en-US" sz="2000"/>
              <a:t> 1</a:t>
            </a:r>
          </a:p>
          <a:p>
            <a:pPr lvl="1"/>
            <a:r>
              <a:rPr lang="en-US" sz="2000"/>
              <a:t>Impact: </a:t>
            </a:r>
            <a:r>
              <a:rPr lang="en-US" sz="2000">
                <a:solidFill>
                  <a:srgbClr val="FF0000"/>
                </a:solidFill>
              </a:rPr>
              <a:t>Varies by Context; Unexpected State</a:t>
            </a:r>
          </a:p>
          <a:p>
            <a:pPr lvl="1"/>
            <a:r>
              <a:rPr lang="en-US" sz="2000"/>
              <a:t>Note: Generation of inaccurate, misleading, or nonsensical information.</a:t>
            </a:r>
          </a:p>
          <a:p>
            <a:r>
              <a:rPr lang="en-US" sz="2000" err="1"/>
              <a:t>Conseq</a:t>
            </a:r>
            <a:r>
              <a:rPr lang="en-US" sz="2000"/>
              <a:t> 2</a:t>
            </a:r>
          </a:p>
          <a:p>
            <a:pPr lvl="1"/>
            <a:r>
              <a:rPr lang="en-US" sz="2000"/>
              <a:t>Impact: </a:t>
            </a:r>
            <a:r>
              <a:rPr lang="en-US" sz="2000">
                <a:solidFill>
                  <a:srgbClr val="FF0000"/>
                </a:solidFill>
              </a:rPr>
              <a:t>Alter Execution Logic; Unexpected State; Varies by Context</a:t>
            </a:r>
          </a:p>
          <a:p>
            <a:pPr lvl="1"/>
            <a:r>
              <a:rPr lang="en-US" sz="2000"/>
              <a:t>Note: Propagation of errors if outputs are used in critical decision-making processes.</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&lt;Implementation; Build and Compilation&gt;</a:t>
            </a:r>
          </a:p>
          <a:p>
            <a:pPr lvl="1"/>
            <a:r>
              <a:rPr lang="en-US"/>
              <a:t>Notes: &lt;During model training, when hyperparameters are set without adequate validation or understanding of their impact.&gt;</a:t>
            </a:r>
          </a:p>
          <a:p>
            <a:r>
              <a:rPr lang="en-US"/>
              <a:t>Mode 2:</a:t>
            </a:r>
          </a:p>
          <a:p>
            <a:pPr lvl="1"/>
            <a:r>
              <a:rPr lang="en-US"/>
              <a:t>SDLC phase: </a:t>
            </a:r>
            <a:r>
              <a:rPr lang="en-US">
                <a:solidFill>
                  <a:srgbClr val="FF0000"/>
                </a:solidFill>
              </a:rPr>
              <a:t>&lt;Installation; System Configuration&gt;</a:t>
            </a:r>
          </a:p>
          <a:p>
            <a:pPr lvl="1"/>
            <a:r>
              <a:rPr lang="en-US"/>
              <a:t>Notes: &lt;During deployment, when model parameters are adjusted to optimize performance without comprehensive testing&gt;</a:t>
            </a:r>
          </a:p>
          <a:p>
            <a:r>
              <a:rPr lang="en-US"/>
              <a:t>Mode 3:</a:t>
            </a:r>
          </a:p>
          <a:p>
            <a:pPr lvl="1"/>
            <a:r>
              <a:rPr lang="en-US"/>
              <a:t>SDLC phase: </a:t>
            </a:r>
            <a:r>
              <a:rPr lang="en-US">
                <a:solidFill>
                  <a:srgbClr val="FF0000"/>
                </a:solidFill>
              </a:rPr>
              <a:t>&lt;Operation; Patching and Maintenance&gt;</a:t>
            </a:r>
          </a:p>
          <a:p>
            <a:pPr lvl="1"/>
            <a:r>
              <a:rPr lang="en-US"/>
              <a:t>Notes: &lt;Updates or modifications may be made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&lt;Implementation; System Configuration; Operation&gt;</a:t>
            </a:r>
            <a:endParaRPr lang="en-US" sz="1700"/>
          </a:p>
          <a:p>
            <a:pPr lvl="1"/>
            <a:r>
              <a:rPr lang="en-US" sz="1700"/>
              <a:t>Name/brief desc: Develop and adhere to robust parameter tuning processes that include extensive testing and validation</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&lt;Implementation; System Configuration; Operation&gt; </a:t>
            </a:r>
            <a:endParaRPr lang="en-US" sz="1700"/>
          </a:p>
          <a:p>
            <a:pPr lvl="1"/>
            <a:r>
              <a:rPr lang="en-US" sz="1700"/>
              <a:t>Name/brief desc: Implement feedback mechanisms to continuously assess and adjust model performance</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&lt;Documentation&gt; </a:t>
            </a:r>
            <a:endParaRPr lang="en-US" sz="1700"/>
          </a:p>
          <a:p>
            <a:pPr lvl="1"/>
            <a:r>
              <a:rPr lang="en-US" sz="1700"/>
              <a:t>Name/brief desc: &lt;Provide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&lt;Dynamic Analysis&gt;</a:t>
            </a:r>
          </a:p>
          <a:p>
            <a:pPr lvl="1"/>
            <a:r>
              <a:rPr lang="en-US" sz="1800"/>
              <a:t>Desc:</a:t>
            </a:r>
            <a:r>
              <a:rPr lang="en-US" sz="1800">
                <a:solidFill>
                  <a:srgbClr val="FF0000"/>
                </a:solidFill>
              </a:rPr>
              <a:t> &lt;(1) Run the model against the test sets again. (2) Compare to other models in its lineage.&gt;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&lt;“fuzzing” style hyperparameter search. Automated Dynamic Analysis, Manual Dynamic Analysis, Dynamic Analysis with Automatic/Manual Results Interpretation&gt;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&lt;Erick will suggest a paper&gt;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&lt;this might not be reported at this level of detail&gt;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 controller operating within safety parameters, requiring less “creativity” and lower temperature than some gen AI&gt;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CWE 4.17 – Published Thursday, April 3</a:t>
            </a:r>
          </a:p>
          <a:p>
            <a:r>
              <a:rPr lang="en-US"/>
              <a:t>Upcoming meetings:</a:t>
            </a:r>
          </a:p>
          <a:p>
            <a:pPr lvl="1"/>
            <a:r>
              <a:rPr lang="en-US"/>
              <a:t>Modifications subgroup: April 11</a:t>
            </a:r>
          </a:p>
          <a:p>
            <a:pPr lvl="1"/>
            <a:r>
              <a:rPr lang="en-US"/>
              <a:t>New entry subgroup: April 25</a:t>
            </a:r>
          </a:p>
          <a:p>
            <a:endParaRPr lang="en-US"/>
          </a:p>
          <a:p>
            <a:r>
              <a:rPr lang="en-US"/>
              <a:t>Formalize subgroup leadership</a:t>
            </a:r>
          </a:p>
          <a:p>
            <a:endParaRPr lang="en-US"/>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96684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a:t>Documentation for Transformers text generation parameters</a:t>
            </a:r>
          </a:p>
          <a:p>
            <a:pPr lvl="1"/>
            <a:r>
              <a:rPr lang="en-US"/>
              <a:t>https://huggingface.co/docs/transformers/main_classes/text_generation#transformers.GenerationConfig</a:t>
            </a:r>
          </a:p>
          <a:p>
            <a:r>
              <a:rPr lang="en-US"/>
              <a:t>Any others that come to mind?</a:t>
            </a:r>
          </a:p>
          <a:p>
            <a:endParaRPr lang="en-US"/>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Delayed: “Bias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a:t>Name: Bias in AI Models</a:t>
            </a:r>
          </a:p>
          <a:p>
            <a:r>
              <a:rPr lang="en-US" sz="2000"/>
              <a:t>Description:</a:t>
            </a:r>
          </a:p>
          <a:p>
            <a:pPr lvl="1"/>
            <a:r>
              <a:rPr lang="en-US" sz="200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t>Significant overlap problems (see “ACTIVE ISSUES” in submission file)</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0F6FC14-EC19-43FE-8CEF-35F00732D9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3.xml><?xml version="1.0" encoding="utf-8"?>
<ds:datastoreItem xmlns:ds="http://schemas.openxmlformats.org/officeDocument/2006/customXml" ds:itemID="{5450FCDD-08B1-48D8-BB50-7A17E590A5EE}">
  <ds:schemaRefs>
    <ds:schemaRef ds:uri="http://schemas.microsoft.com/office/2006/metadata/properties"/>
    <ds:schemaRef ds:uri="http://schemas.openxmlformats.org/package/2006/metadata/core-properties"/>
    <ds:schemaRef ds:uri="http://purl.org/dc/elements/1.1/"/>
    <ds:schemaRef ds:uri="http://purl.org/dc/terms/"/>
    <ds:schemaRef ds:uri="http://schemas.microsoft.com/office/2006/documentManagement/types"/>
    <ds:schemaRef ds:uri="http://schemas.microsoft.com/office/infopath/2007/PartnerControls"/>
    <ds:schemaRef ds:uri="b5a44311-ed64-4a72-909f-c9dc6973bde2"/>
    <ds:schemaRef ds:uri="f3e578be-7961-41e8-91c9-b742ecb60a74"/>
    <ds:schemaRef ds:uri="aff8eeb6-53bf-44bf-a224-fac977cd228b"/>
    <ds:schemaRef ds:uri="http://www.w3.org/XML/1998/namespace"/>
    <ds:schemaRef ds:uri="http://purl.org/dc/dcmitype/"/>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1226</TotalTime>
  <Words>6280</Words>
  <Application>Microsoft Office PowerPoint</Application>
  <PresentationFormat>Widescreen</PresentationFormat>
  <Paragraphs>741</Paragraphs>
  <Slides>86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86</vt:i4>
      </vt:variant>
    </vt:vector>
  </HeadingPairs>
  <TitlesOfParts>
    <vt:vector size="95"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Changing Tactics</vt:lpstr>
      <vt:lpstr>Proposal to Modify CWE-1427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Steps</vt:lpstr>
      <vt:lpstr>Observed Examples – Older Slides (January 2026)</vt:lpstr>
      <vt:lpstr>Summary of Last Modification Meeting? (November 2025)</vt:lpstr>
      <vt:lpstr>What We Did (s/We/What Steve Thought We/): Identifying Observed / Demonstrative Examples for “General” CWEs</vt:lpstr>
      <vt:lpstr>New Plan? Based on Feedback</vt:lpstr>
      <vt:lpstr>Interesting CWEs (biased human sample)</vt:lpstr>
      <vt:lpstr>Could We? Should We? Memory…</vt:lpstr>
      <vt:lpstr>Oh, Right, the Point.</vt:lpstr>
      <vt:lpstr>Selecting an Observed Example (obex)</vt:lpstr>
      <vt:lpstr>“Classes” of AI/ML Products</vt:lpstr>
      <vt:lpstr>“Classes” of AI/ML Products (2)</vt:lpstr>
      <vt:lpstr>Upcoming Dates</vt:lpstr>
      <vt:lpstr>OTHER SLIDES (TBD AS OF JANUARY 22)</vt:lpstr>
      <vt:lpstr>Submission to Focus Discussion / Review</vt:lpstr>
      <vt:lpstr>Basic Process</vt:lpstr>
      <vt:lpstr>Initial Investigation – from May</vt:lpstr>
      <vt:lpstr>“Classes” of AI/ML Products</vt:lpstr>
      <vt:lpstr>“Classes” of AI/ML Products (2)</vt:lpstr>
      <vt:lpstr>CVE-Driven Analysis</vt:lpstr>
      <vt:lpstr>Initial Findings – Finding AI/ML Related CVEs</vt:lpstr>
      <vt:lpstr>Initial Findings – Most Common CWE Mappings</vt:lpstr>
      <vt:lpstr>Anecdotal Observations of Common Weaknesses</vt:lpstr>
      <vt:lpstr>“Demo” – Potential Observed Examples Report</vt:lpstr>
      <vt:lpstr>Demonstrative Examples</vt:lpstr>
      <vt:lpstr>Demonstrative example - 1</vt:lpstr>
      <vt:lpstr>Collaboration on Data Gathering</vt:lpstr>
      <vt:lpstr>Next Steps</vt:lpstr>
      <vt:lpstr>Other / Older Slides</vt:lpstr>
      <vt:lpstr>Subgroups </vt:lpstr>
      <vt:lpstr>Modifications to CWE-1039: Automated Recognition Mechanism with Inadequate Detection or Handling of Adversarial Input Perturbations</vt:lpstr>
      <vt:lpstr>CWE-1039 Status</vt:lpstr>
      <vt:lpstr>Quick Demo - CWE-1039</vt:lpstr>
      <vt:lpstr>“LLM Bad Practices: Improper tuning of model control parameters” (Lily Wong) - ES2406-9e5fcf10</vt:lpstr>
      <vt:lpstr>Name, Summary, and Extended Description</vt:lpstr>
      <vt:lpstr>Relationships Worksheet</vt:lpstr>
      <vt:lpstr>Common Consequences Worksheet</vt:lpstr>
      <vt:lpstr>Modes of Introduction Worksheet</vt:lpstr>
      <vt:lpstr>Potential Mitigations Worksheet</vt:lpstr>
      <vt:lpstr>Detection Methods Worksheet</vt:lpstr>
      <vt:lpstr>References Worksheet</vt:lpstr>
      <vt:lpstr>Observed Examples Worksheet</vt:lpstr>
      <vt:lpstr>Demonstrative Examples</vt:lpstr>
      <vt:lpstr>Demonstrative example - 1</vt:lpstr>
      <vt:lpstr>Demonstrative example - 2</vt:lpstr>
      <vt:lpstr>Next Steps</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2026-05-15T15:09:00Z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