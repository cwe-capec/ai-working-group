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75"/>
  </p:notesMasterIdLst>
  <p:handoutMasterIdLst>
    <p:handoutMasterId r:id="rId76"/>
  </p:handoutMasterIdLst>
  <p:sldIdLst>
    <p:sldId id="459" r:id="rId5"/>
    <p:sldId id="475" r:id="rId6"/>
    <p:sldId id="514" r:id="rId7"/>
    <p:sldId id="533" r:id="rId8"/>
    <p:sldId id="596" r:id="rId9"/>
    <p:sldId id="547" r:id="rId10"/>
    <p:sldId id="598" r:id="rId11"/>
    <p:sldId id="597" r:id="rId12"/>
    <p:sldId id="539" r:id="rId13"/>
    <p:sldId id="592" r:id="rId14"/>
    <p:sldId id="541" r:id="rId15"/>
    <p:sldId id="543" r:id="rId16"/>
    <p:sldId id="599" r:id="rId17"/>
    <p:sldId id="600" r:id="rId18"/>
    <p:sldId id="602" r:id="rId19"/>
    <p:sldId id="603" r:id="rId20"/>
    <p:sldId id="604" r:id="rId21"/>
    <p:sldId id="606" r:id="rId22"/>
    <p:sldId id="605" r:id="rId23"/>
    <p:sldId id="601" r:id="rId24"/>
    <p:sldId id="583" r:id="rId25"/>
    <p:sldId id="585" r:id="rId26"/>
    <p:sldId id="594" r:id="rId27"/>
    <p:sldId id="595" r:id="rId28"/>
    <p:sldId id="495" r:id="rId29"/>
    <p:sldId id="591" r:id="rId30"/>
    <p:sldId id="587" r:id="rId31"/>
    <p:sldId id="590" r:id="rId32"/>
    <p:sldId id="588" r:id="rId33"/>
    <p:sldId id="593" r:id="rId34"/>
    <p:sldId id="589" r:id="rId35"/>
    <p:sldId id="493" r:id="rId36"/>
    <p:sldId id="488" r:id="rId37"/>
    <p:sldId id="496" r:id="rId38"/>
    <p:sldId id="586" r:id="rId39"/>
    <p:sldId id="505" r:id="rId40"/>
    <p:sldId id="494" r:id="rId41"/>
    <p:sldId id="497" r:id="rId42"/>
    <p:sldId id="560" r:id="rId43"/>
    <p:sldId id="552" r:id="rId44"/>
    <p:sldId id="575" r:id="rId45"/>
    <p:sldId id="502" r:id="rId46"/>
    <p:sldId id="501" r:id="rId47"/>
    <p:sldId id="576" r:id="rId48"/>
    <p:sldId id="503" r:id="rId49"/>
    <p:sldId id="504" r:id="rId50"/>
    <p:sldId id="548" r:id="rId51"/>
    <p:sldId id="542" r:id="rId52"/>
    <p:sldId id="581" r:id="rId53"/>
    <p:sldId id="582" r:id="rId54"/>
    <p:sldId id="579" r:id="rId55"/>
    <p:sldId id="580" r:id="rId56"/>
    <p:sldId id="584" r:id="rId57"/>
    <p:sldId id="554" r:id="rId58"/>
    <p:sldId id="561" r:id="rId59"/>
    <p:sldId id="562" r:id="rId60"/>
    <p:sldId id="563" r:id="rId61"/>
    <p:sldId id="564" r:id="rId62"/>
    <p:sldId id="565" r:id="rId63"/>
    <p:sldId id="566" r:id="rId64"/>
    <p:sldId id="567" r:id="rId65"/>
    <p:sldId id="568" r:id="rId66"/>
    <p:sldId id="569" r:id="rId67"/>
    <p:sldId id="570" r:id="rId68"/>
    <p:sldId id="571" r:id="rId69"/>
    <p:sldId id="572" r:id="rId70"/>
    <p:sldId id="573" r:id="rId71"/>
    <p:sldId id="574" r:id="rId72"/>
    <p:sldId id="545" r:id="rId73"/>
    <p:sldId id="534"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EC7566-FE38-4CD1-9FA4-E6E953CA2F18}" v="36" dt="2025-09-12T14:58:06.8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63" autoAdjust="0"/>
    <p:restoredTop sz="94660"/>
  </p:normalViewPr>
  <p:slideViewPr>
    <p:cSldViewPr snapToGrid="0">
      <p:cViewPr varScale="1">
        <p:scale>
          <a:sx n="59" d="100"/>
          <a:sy n="59" d="100"/>
        </p:scale>
        <p:origin x="653" y="53"/>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82"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83"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9CEC7566-FE38-4CD1-9FA4-E6E953CA2F18}"/>
    <pc:docChg chg="undo custSel addSld delSld modSld">
      <pc:chgData name="Steven M Christey" userId="f24da668-4c1f-41c0-850e-113e2bdf78cf" providerId="ADAL" clId="{9CEC7566-FE38-4CD1-9FA4-E6E953CA2F18}" dt="2025-09-12T15:54:50.818" v="2141" actId="20577"/>
      <pc:docMkLst>
        <pc:docMk/>
      </pc:docMkLst>
      <pc:sldChg chg="modSp mod">
        <pc:chgData name="Steven M Christey" userId="f24da668-4c1f-41c0-850e-113e2bdf78cf" providerId="ADAL" clId="{9CEC7566-FE38-4CD1-9FA4-E6E953CA2F18}" dt="2025-09-12T14:36:16.850" v="11" actId="20577"/>
        <pc:sldMkLst>
          <pc:docMk/>
          <pc:sldMk cId="1454278300" sldId="459"/>
        </pc:sldMkLst>
        <pc:spChg chg="mod">
          <ac:chgData name="Steven M Christey" userId="f24da668-4c1f-41c0-850e-113e2bdf78cf" providerId="ADAL" clId="{9CEC7566-FE38-4CD1-9FA4-E6E953CA2F18}" dt="2025-09-12T14:36:16.850" v="11" actId="20577"/>
          <ac:spMkLst>
            <pc:docMk/>
            <pc:sldMk cId="1454278300" sldId="459"/>
            <ac:spMk id="3" creationId="{0992DF88-AC24-0FBF-1177-62DD9110498B}"/>
          </ac:spMkLst>
        </pc:spChg>
      </pc:sldChg>
      <pc:sldChg chg="modSp mod">
        <pc:chgData name="Steven M Christey" userId="f24da668-4c1f-41c0-850e-113e2bdf78cf" providerId="ADAL" clId="{9CEC7566-FE38-4CD1-9FA4-E6E953CA2F18}" dt="2025-09-12T15:03:47.499" v="1725" actId="20577"/>
        <pc:sldMkLst>
          <pc:docMk/>
          <pc:sldMk cId="1259113184" sldId="475"/>
        </pc:sldMkLst>
        <pc:spChg chg="mod">
          <ac:chgData name="Steven M Christey" userId="f24da668-4c1f-41c0-850e-113e2bdf78cf" providerId="ADAL" clId="{9CEC7566-FE38-4CD1-9FA4-E6E953CA2F18}" dt="2025-09-12T15:03:47.499" v="1725" actId="20577"/>
          <ac:spMkLst>
            <pc:docMk/>
            <pc:sldMk cId="1259113184" sldId="475"/>
            <ac:spMk id="3" creationId="{32062DF9-CFF1-0BEE-15FF-59D403B018ED}"/>
          </ac:spMkLst>
        </pc:spChg>
      </pc:sldChg>
      <pc:sldChg chg="del">
        <pc:chgData name="Steven M Christey" userId="f24da668-4c1f-41c0-850e-113e2bdf78cf" providerId="ADAL" clId="{9CEC7566-FE38-4CD1-9FA4-E6E953CA2F18}" dt="2025-09-12T14:40:00.826" v="247" actId="2696"/>
        <pc:sldMkLst>
          <pc:docMk/>
          <pc:sldMk cId="712466533" sldId="488"/>
        </pc:sldMkLst>
      </pc:sldChg>
      <pc:sldChg chg="add">
        <pc:chgData name="Steven M Christey" userId="f24da668-4c1f-41c0-850e-113e2bdf78cf" providerId="ADAL" clId="{9CEC7566-FE38-4CD1-9FA4-E6E953CA2F18}" dt="2025-09-12T14:40:09.105" v="248"/>
        <pc:sldMkLst>
          <pc:docMk/>
          <pc:sldMk cId="2014152433" sldId="488"/>
        </pc:sldMkLst>
      </pc:sldChg>
      <pc:sldChg chg="add">
        <pc:chgData name="Steven M Christey" userId="f24da668-4c1f-41c0-850e-113e2bdf78cf" providerId="ADAL" clId="{9CEC7566-FE38-4CD1-9FA4-E6E953CA2F18}" dt="2025-09-12T14:40:09.105" v="248"/>
        <pc:sldMkLst>
          <pc:docMk/>
          <pc:sldMk cId="2192985751" sldId="493"/>
        </pc:sldMkLst>
      </pc:sldChg>
      <pc:sldChg chg="del">
        <pc:chgData name="Steven M Christey" userId="f24da668-4c1f-41c0-850e-113e2bdf78cf" providerId="ADAL" clId="{9CEC7566-FE38-4CD1-9FA4-E6E953CA2F18}" dt="2025-09-12T14:40:00.826" v="247" actId="2696"/>
        <pc:sldMkLst>
          <pc:docMk/>
          <pc:sldMk cId="2576501791" sldId="493"/>
        </pc:sldMkLst>
      </pc:sldChg>
      <pc:sldChg chg="del">
        <pc:chgData name="Steven M Christey" userId="f24da668-4c1f-41c0-850e-113e2bdf78cf" providerId="ADAL" clId="{9CEC7566-FE38-4CD1-9FA4-E6E953CA2F18}" dt="2025-09-12T14:40:00.826" v="247" actId="2696"/>
        <pc:sldMkLst>
          <pc:docMk/>
          <pc:sldMk cId="251328882" sldId="494"/>
        </pc:sldMkLst>
      </pc:sldChg>
      <pc:sldChg chg="add">
        <pc:chgData name="Steven M Christey" userId="f24da668-4c1f-41c0-850e-113e2bdf78cf" providerId="ADAL" clId="{9CEC7566-FE38-4CD1-9FA4-E6E953CA2F18}" dt="2025-09-12T14:40:09.105" v="248"/>
        <pc:sldMkLst>
          <pc:docMk/>
          <pc:sldMk cId="2091921391" sldId="494"/>
        </pc:sldMkLst>
      </pc:sldChg>
      <pc:sldChg chg="del">
        <pc:chgData name="Steven M Christey" userId="f24da668-4c1f-41c0-850e-113e2bdf78cf" providerId="ADAL" clId="{9CEC7566-FE38-4CD1-9FA4-E6E953CA2F18}" dt="2025-09-12T14:40:00.826" v="247" actId="2696"/>
        <pc:sldMkLst>
          <pc:docMk/>
          <pc:sldMk cId="625922019" sldId="495"/>
        </pc:sldMkLst>
      </pc:sldChg>
      <pc:sldChg chg="add">
        <pc:chgData name="Steven M Christey" userId="f24da668-4c1f-41c0-850e-113e2bdf78cf" providerId="ADAL" clId="{9CEC7566-FE38-4CD1-9FA4-E6E953CA2F18}" dt="2025-09-12T14:40:09.105" v="248"/>
        <pc:sldMkLst>
          <pc:docMk/>
          <pc:sldMk cId="1746193301" sldId="495"/>
        </pc:sldMkLst>
      </pc:sldChg>
      <pc:sldChg chg="del">
        <pc:chgData name="Steven M Christey" userId="f24da668-4c1f-41c0-850e-113e2bdf78cf" providerId="ADAL" clId="{9CEC7566-FE38-4CD1-9FA4-E6E953CA2F18}" dt="2025-09-12T14:40:00.826" v="247" actId="2696"/>
        <pc:sldMkLst>
          <pc:docMk/>
          <pc:sldMk cId="2206607210" sldId="496"/>
        </pc:sldMkLst>
      </pc:sldChg>
      <pc:sldChg chg="add">
        <pc:chgData name="Steven M Christey" userId="f24da668-4c1f-41c0-850e-113e2bdf78cf" providerId="ADAL" clId="{9CEC7566-FE38-4CD1-9FA4-E6E953CA2F18}" dt="2025-09-12T14:40:09.105" v="248"/>
        <pc:sldMkLst>
          <pc:docMk/>
          <pc:sldMk cId="4163045049" sldId="496"/>
        </pc:sldMkLst>
      </pc:sldChg>
      <pc:sldChg chg="add">
        <pc:chgData name="Steven M Christey" userId="f24da668-4c1f-41c0-850e-113e2bdf78cf" providerId="ADAL" clId="{9CEC7566-FE38-4CD1-9FA4-E6E953CA2F18}" dt="2025-09-12T14:40:09.105" v="248"/>
        <pc:sldMkLst>
          <pc:docMk/>
          <pc:sldMk cId="2437701710" sldId="497"/>
        </pc:sldMkLst>
      </pc:sldChg>
      <pc:sldChg chg="del">
        <pc:chgData name="Steven M Christey" userId="f24da668-4c1f-41c0-850e-113e2bdf78cf" providerId="ADAL" clId="{9CEC7566-FE38-4CD1-9FA4-E6E953CA2F18}" dt="2025-09-12T14:40:00.826" v="247" actId="2696"/>
        <pc:sldMkLst>
          <pc:docMk/>
          <pc:sldMk cId="3791636204" sldId="497"/>
        </pc:sldMkLst>
      </pc:sldChg>
      <pc:sldChg chg="add">
        <pc:chgData name="Steven M Christey" userId="f24da668-4c1f-41c0-850e-113e2bdf78cf" providerId="ADAL" clId="{9CEC7566-FE38-4CD1-9FA4-E6E953CA2F18}" dt="2025-09-12T14:40:09.105" v="248"/>
        <pc:sldMkLst>
          <pc:docMk/>
          <pc:sldMk cId="2102883440" sldId="501"/>
        </pc:sldMkLst>
      </pc:sldChg>
      <pc:sldChg chg="del">
        <pc:chgData name="Steven M Christey" userId="f24da668-4c1f-41c0-850e-113e2bdf78cf" providerId="ADAL" clId="{9CEC7566-FE38-4CD1-9FA4-E6E953CA2F18}" dt="2025-09-12T14:40:00.826" v="247" actId="2696"/>
        <pc:sldMkLst>
          <pc:docMk/>
          <pc:sldMk cId="2746674832" sldId="501"/>
        </pc:sldMkLst>
      </pc:sldChg>
      <pc:sldChg chg="del">
        <pc:chgData name="Steven M Christey" userId="f24da668-4c1f-41c0-850e-113e2bdf78cf" providerId="ADAL" clId="{9CEC7566-FE38-4CD1-9FA4-E6E953CA2F18}" dt="2025-09-12T14:40:00.826" v="247" actId="2696"/>
        <pc:sldMkLst>
          <pc:docMk/>
          <pc:sldMk cId="1027931571" sldId="502"/>
        </pc:sldMkLst>
      </pc:sldChg>
      <pc:sldChg chg="add">
        <pc:chgData name="Steven M Christey" userId="f24da668-4c1f-41c0-850e-113e2bdf78cf" providerId="ADAL" clId="{9CEC7566-FE38-4CD1-9FA4-E6E953CA2F18}" dt="2025-09-12T14:40:09.105" v="248"/>
        <pc:sldMkLst>
          <pc:docMk/>
          <pc:sldMk cId="2897182333" sldId="502"/>
        </pc:sldMkLst>
      </pc:sldChg>
      <pc:sldChg chg="del">
        <pc:chgData name="Steven M Christey" userId="f24da668-4c1f-41c0-850e-113e2bdf78cf" providerId="ADAL" clId="{9CEC7566-FE38-4CD1-9FA4-E6E953CA2F18}" dt="2025-09-12T14:40:00.826" v="247" actId="2696"/>
        <pc:sldMkLst>
          <pc:docMk/>
          <pc:sldMk cId="775243355" sldId="503"/>
        </pc:sldMkLst>
      </pc:sldChg>
      <pc:sldChg chg="add">
        <pc:chgData name="Steven M Christey" userId="f24da668-4c1f-41c0-850e-113e2bdf78cf" providerId="ADAL" clId="{9CEC7566-FE38-4CD1-9FA4-E6E953CA2F18}" dt="2025-09-12T14:40:09.105" v="248"/>
        <pc:sldMkLst>
          <pc:docMk/>
          <pc:sldMk cId="4059783316" sldId="503"/>
        </pc:sldMkLst>
      </pc:sldChg>
      <pc:sldChg chg="del">
        <pc:chgData name="Steven M Christey" userId="f24da668-4c1f-41c0-850e-113e2bdf78cf" providerId="ADAL" clId="{9CEC7566-FE38-4CD1-9FA4-E6E953CA2F18}" dt="2025-09-12T14:40:00.826" v="247" actId="2696"/>
        <pc:sldMkLst>
          <pc:docMk/>
          <pc:sldMk cId="1394811699" sldId="504"/>
        </pc:sldMkLst>
      </pc:sldChg>
      <pc:sldChg chg="add">
        <pc:chgData name="Steven M Christey" userId="f24da668-4c1f-41c0-850e-113e2bdf78cf" providerId="ADAL" clId="{9CEC7566-FE38-4CD1-9FA4-E6E953CA2F18}" dt="2025-09-12T14:40:09.105" v="248"/>
        <pc:sldMkLst>
          <pc:docMk/>
          <pc:sldMk cId="3708401930" sldId="504"/>
        </pc:sldMkLst>
      </pc:sldChg>
      <pc:sldChg chg="add">
        <pc:chgData name="Steven M Christey" userId="f24da668-4c1f-41c0-850e-113e2bdf78cf" providerId="ADAL" clId="{9CEC7566-FE38-4CD1-9FA4-E6E953CA2F18}" dt="2025-09-12T14:40:09.105" v="248"/>
        <pc:sldMkLst>
          <pc:docMk/>
          <pc:sldMk cId="2984651380" sldId="505"/>
        </pc:sldMkLst>
      </pc:sldChg>
      <pc:sldChg chg="del">
        <pc:chgData name="Steven M Christey" userId="f24da668-4c1f-41c0-850e-113e2bdf78cf" providerId="ADAL" clId="{9CEC7566-FE38-4CD1-9FA4-E6E953CA2F18}" dt="2025-09-12T14:40:00.826" v="247" actId="2696"/>
        <pc:sldMkLst>
          <pc:docMk/>
          <pc:sldMk cId="4160156297" sldId="505"/>
        </pc:sldMkLst>
      </pc:sldChg>
      <pc:sldChg chg="modSp mod">
        <pc:chgData name="Steven M Christey" userId="f24da668-4c1f-41c0-850e-113e2bdf78cf" providerId="ADAL" clId="{9CEC7566-FE38-4CD1-9FA4-E6E953CA2F18}" dt="2025-09-12T15:08:14.722" v="1959" actId="20577"/>
        <pc:sldMkLst>
          <pc:docMk/>
          <pc:sldMk cId="915149386" sldId="514"/>
        </pc:sldMkLst>
        <pc:spChg chg="mod">
          <ac:chgData name="Steven M Christey" userId="f24da668-4c1f-41c0-850e-113e2bdf78cf" providerId="ADAL" clId="{9CEC7566-FE38-4CD1-9FA4-E6E953CA2F18}" dt="2025-09-12T15:08:14.722" v="1959" actId="20577"/>
          <ac:spMkLst>
            <pc:docMk/>
            <pc:sldMk cId="915149386" sldId="514"/>
            <ac:spMk id="3" creationId="{D4348C02-DFCE-A2E4-D523-D69A254A7D49}"/>
          </ac:spMkLst>
        </pc:spChg>
      </pc:sldChg>
      <pc:sldChg chg="modSp mod">
        <pc:chgData name="Steven M Christey" userId="f24da668-4c1f-41c0-850e-113e2bdf78cf" providerId="ADAL" clId="{9CEC7566-FE38-4CD1-9FA4-E6E953CA2F18}" dt="2025-09-12T15:07:57.529" v="1955" actId="20577"/>
        <pc:sldMkLst>
          <pc:docMk/>
          <pc:sldMk cId="150708501" sldId="533"/>
        </pc:sldMkLst>
        <pc:spChg chg="mod">
          <ac:chgData name="Steven M Christey" userId="f24da668-4c1f-41c0-850e-113e2bdf78cf" providerId="ADAL" clId="{9CEC7566-FE38-4CD1-9FA4-E6E953CA2F18}" dt="2025-09-12T15:07:57.529" v="1955" actId="20577"/>
          <ac:spMkLst>
            <pc:docMk/>
            <pc:sldMk cId="150708501" sldId="533"/>
            <ac:spMk id="5" creationId="{F150325F-23B4-2959-C512-1363416E3D5B}"/>
          </ac:spMkLst>
        </pc:spChg>
      </pc:sldChg>
      <pc:sldChg chg="modSp mod">
        <pc:chgData name="Steven M Christey" userId="f24da668-4c1f-41c0-850e-113e2bdf78cf" providerId="ADAL" clId="{9CEC7566-FE38-4CD1-9FA4-E6E953CA2F18}" dt="2025-09-12T14:45:36.414" v="501"/>
        <pc:sldMkLst>
          <pc:docMk/>
          <pc:sldMk cId="2266223281" sldId="539"/>
        </pc:sldMkLst>
        <pc:spChg chg="mod">
          <ac:chgData name="Steven M Christey" userId="f24da668-4c1f-41c0-850e-113e2bdf78cf" providerId="ADAL" clId="{9CEC7566-FE38-4CD1-9FA4-E6E953CA2F18}" dt="2025-09-12T14:45:36.414" v="501"/>
          <ac:spMkLst>
            <pc:docMk/>
            <pc:sldMk cId="2266223281" sldId="539"/>
            <ac:spMk id="3" creationId="{9915B450-3AB3-4605-EAE8-C84785DE6064}"/>
          </ac:spMkLst>
        </pc:spChg>
      </pc:sldChg>
      <pc:sldChg chg="modSp mod">
        <pc:chgData name="Steven M Christey" userId="f24da668-4c1f-41c0-850e-113e2bdf78cf" providerId="ADAL" clId="{9CEC7566-FE38-4CD1-9FA4-E6E953CA2F18}" dt="2025-09-12T15:00:08.426" v="1709" actId="20577"/>
        <pc:sldMkLst>
          <pc:docMk/>
          <pc:sldMk cId="373026186" sldId="543"/>
        </pc:sldMkLst>
        <pc:spChg chg="mod">
          <ac:chgData name="Steven M Christey" userId="f24da668-4c1f-41c0-850e-113e2bdf78cf" providerId="ADAL" clId="{9CEC7566-FE38-4CD1-9FA4-E6E953CA2F18}" dt="2025-09-12T15:00:08.426" v="1709" actId="20577"/>
          <ac:spMkLst>
            <pc:docMk/>
            <pc:sldMk cId="373026186" sldId="543"/>
            <ac:spMk id="3" creationId="{4AAD0163-4D5C-07F0-AD94-0E567808EB5B}"/>
          </ac:spMkLst>
        </pc:spChg>
      </pc:sldChg>
      <pc:sldChg chg="modSp mod">
        <pc:chgData name="Steven M Christey" userId="f24da668-4c1f-41c0-850e-113e2bdf78cf" providerId="ADAL" clId="{9CEC7566-FE38-4CD1-9FA4-E6E953CA2F18}" dt="2025-09-12T14:41:47.448" v="358" actId="20577"/>
        <pc:sldMkLst>
          <pc:docMk/>
          <pc:sldMk cId="853201468" sldId="547"/>
        </pc:sldMkLst>
        <pc:spChg chg="mod">
          <ac:chgData name="Steven M Christey" userId="f24da668-4c1f-41c0-850e-113e2bdf78cf" providerId="ADAL" clId="{9CEC7566-FE38-4CD1-9FA4-E6E953CA2F18}" dt="2025-09-12T14:41:47.448" v="358" actId="20577"/>
          <ac:spMkLst>
            <pc:docMk/>
            <pc:sldMk cId="853201468" sldId="547"/>
            <ac:spMk id="2" creationId="{40F73B08-2967-AAF3-53F0-447CEF4E99B5}"/>
          </ac:spMkLst>
        </pc:spChg>
      </pc:sldChg>
      <pc:sldChg chg="add">
        <pc:chgData name="Steven M Christey" userId="f24da668-4c1f-41c0-850e-113e2bdf78cf" providerId="ADAL" clId="{9CEC7566-FE38-4CD1-9FA4-E6E953CA2F18}" dt="2025-09-12T14:40:09.105" v="248"/>
        <pc:sldMkLst>
          <pc:docMk/>
          <pc:sldMk cId="645936177" sldId="552"/>
        </pc:sldMkLst>
      </pc:sldChg>
      <pc:sldChg chg="del">
        <pc:chgData name="Steven M Christey" userId="f24da668-4c1f-41c0-850e-113e2bdf78cf" providerId="ADAL" clId="{9CEC7566-FE38-4CD1-9FA4-E6E953CA2F18}" dt="2025-09-12T14:40:00.826" v="247" actId="2696"/>
        <pc:sldMkLst>
          <pc:docMk/>
          <pc:sldMk cId="1946407008" sldId="552"/>
        </pc:sldMkLst>
      </pc:sldChg>
      <pc:sldChg chg="del">
        <pc:chgData name="Steven M Christey" userId="f24da668-4c1f-41c0-850e-113e2bdf78cf" providerId="ADAL" clId="{9CEC7566-FE38-4CD1-9FA4-E6E953CA2F18}" dt="2025-09-12T14:40:00.826" v="247" actId="2696"/>
        <pc:sldMkLst>
          <pc:docMk/>
          <pc:sldMk cId="1378741067" sldId="560"/>
        </pc:sldMkLst>
      </pc:sldChg>
      <pc:sldChg chg="add">
        <pc:chgData name="Steven M Christey" userId="f24da668-4c1f-41c0-850e-113e2bdf78cf" providerId="ADAL" clId="{9CEC7566-FE38-4CD1-9FA4-E6E953CA2F18}" dt="2025-09-12T14:40:09.105" v="248"/>
        <pc:sldMkLst>
          <pc:docMk/>
          <pc:sldMk cId="1641807260" sldId="560"/>
        </pc:sldMkLst>
      </pc:sldChg>
      <pc:sldChg chg="del">
        <pc:chgData name="Steven M Christey" userId="f24da668-4c1f-41c0-850e-113e2bdf78cf" providerId="ADAL" clId="{9CEC7566-FE38-4CD1-9FA4-E6E953CA2F18}" dt="2025-09-12T14:40:00.826" v="247" actId="2696"/>
        <pc:sldMkLst>
          <pc:docMk/>
          <pc:sldMk cId="1418569140" sldId="575"/>
        </pc:sldMkLst>
      </pc:sldChg>
      <pc:sldChg chg="add">
        <pc:chgData name="Steven M Christey" userId="f24da668-4c1f-41c0-850e-113e2bdf78cf" providerId="ADAL" clId="{9CEC7566-FE38-4CD1-9FA4-E6E953CA2F18}" dt="2025-09-12T14:40:09.105" v="248"/>
        <pc:sldMkLst>
          <pc:docMk/>
          <pc:sldMk cId="3498970029" sldId="575"/>
        </pc:sldMkLst>
      </pc:sldChg>
      <pc:sldChg chg="add">
        <pc:chgData name="Steven M Christey" userId="f24da668-4c1f-41c0-850e-113e2bdf78cf" providerId="ADAL" clId="{9CEC7566-FE38-4CD1-9FA4-E6E953CA2F18}" dt="2025-09-12T14:40:09.105" v="248"/>
        <pc:sldMkLst>
          <pc:docMk/>
          <pc:sldMk cId="1477218667" sldId="576"/>
        </pc:sldMkLst>
      </pc:sldChg>
      <pc:sldChg chg="del">
        <pc:chgData name="Steven M Christey" userId="f24da668-4c1f-41c0-850e-113e2bdf78cf" providerId="ADAL" clId="{9CEC7566-FE38-4CD1-9FA4-E6E953CA2F18}" dt="2025-09-12T14:40:00.826" v="247" actId="2696"/>
        <pc:sldMkLst>
          <pc:docMk/>
          <pc:sldMk cId="3655762862" sldId="576"/>
        </pc:sldMkLst>
      </pc:sldChg>
      <pc:sldChg chg="del">
        <pc:chgData name="Steven M Christey" userId="f24da668-4c1f-41c0-850e-113e2bdf78cf" providerId="ADAL" clId="{9CEC7566-FE38-4CD1-9FA4-E6E953CA2F18}" dt="2025-09-12T14:40:00.826" v="247" actId="2696"/>
        <pc:sldMkLst>
          <pc:docMk/>
          <pc:sldMk cId="189528037" sldId="583"/>
        </pc:sldMkLst>
      </pc:sldChg>
      <pc:sldChg chg="add">
        <pc:chgData name="Steven M Christey" userId="f24da668-4c1f-41c0-850e-113e2bdf78cf" providerId="ADAL" clId="{9CEC7566-FE38-4CD1-9FA4-E6E953CA2F18}" dt="2025-09-12T14:40:09.105" v="248"/>
        <pc:sldMkLst>
          <pc:docMk/>
          <pc:sldMk cId="1222190396" sldId="583"/>
        </pc:sldMkLst>
      </pc:sldChg>
      <pc:sldChg chg="add">
        <pc:chgData name="Steven M Christey" userId="f24da668-4c1f-41c0-850e-113e2bdf78cf" providerId="ADAL" clId="{9CEC7566-FE38-4CD1-9FA4-E6E953CA2F18}" dt="2025-09-12T14:40:09.105" v="248"/>
        <pc:sldMkLst>
          <pc:docMk/>
          <pc:sldMk cId="1148006286" sldId="585"/>
        </pc:sldMkLst>
      </pc:sldChg>
      <pc:sldChg chg="del">
        <pc:chgData name="Steven M Christey" userId="f24da668-4c1f-41c0-850e-113e2bdf78cf" providerId="ADAL" clId="{9CEC7566-FE38-4CD1-9FA4-E6E953CA2F18}" dt="2025-09-12T14:40:00.826" v="247" actId="2696"/>
        <pc:sldMkLst>
          <pc:docMk/>
          <pc:sldMk cId="1570532610" sldId="585"/>
        </pc:sldMkLst>
      </pc:sldChg>
      <pc:sldChg chg="add">
        <pc:chgData name="Steven M Christey" userId="f24da668-4c1f-41c0-850e-113e2bdf78cf" providerId="ADAL" clId="{9CEC7566-FE38-4CD1-9FA4-E6E953CA2F18}" dt="2025-09-12T14:40:09.105" v="248"/>
        <pc:sldMkLst>
          <pc:docMk/>
          <pc:sldMk cId="1167105080" sldId="586"/>
        </pc:sldMkLst>
      </pc:sldChg>
      <pc:sldChg chg="del">
        <pc:chgData name="Steven M Christey" userId="f24da668-4c1f-41c0-850e-113e2bdf78cf" providerId="ADAL" clId="{9CEC7566-FE38-4CD1-9FA4-E6E953CA2F18}" dt="2025-09-12T14:40:00.826" v="247" actId="2696"/>
        <pc:sldMkLst>
          <pc:docMk/>
          <pc:sldMk cId="1440328160" sldId="586"/>
        </pc:sldMkLst>
      </pc:sldChg>
      <pc:sldChg chg="add">
        <pc:chgData name="Steven M Christey" userId="f24da668-4c1f-41c0-850e-113e2bdf78cf" providerId="ADAL" clId="{9CEC7566-FE38-4CD1-9FA4-E6E953CA2F18}" dt="2025-09-12T14:40:09.105" v="248"/>
        <pc:sldMkLst>
          <pc:docMk/>
          <pc:sldMk cId="1099874395" sldId="587"/>
        </pc:sldMkLst>
      </pc:sldChg>
      <pc:sldChg chg="del">
        <pc:chgData name="Steven M Christey" userId="f24da668-4c1f-41c0-850e-113e2bdf78cf" providerId="ADAL" clId="{9CEC7566-FE38-4CD1-9FA4-E6E953CA2F18}" dt="2025-09-12T14:40:00.826" v="247" actId="2696"/>
        <pc:sldMkLst>
          <pc:docMk/>
          <pc:sldMk cId="3428824971" sldId="587"/>
        </pc:sldMkLst>
      </pc:sldChg>
      <pc:sldChg chg="del">
        <pc:chgData name="Steven M Christey" userId="f24da668-4c1f-41c0-850e-113e2bdf78cf" providerId="ADAL" clId="{9CEC7566-FE38-4CD1-9FA4-E6E953CA2F18}" dt="2025-09-12T14:40:00.826" v="247" actId="2696"/>
        <pc:sldMkLst>
          <pc:docMk/>
          <pc:sldMk cId="2203204905" sldId="588"/>
        </pc:sldMkLst>
      </pc:sldChg>
      <pc:sldChg chg="add">
        <pc:chgData name="Steven M Christey" userId="f24da668-4c1f-41c0-850e-113e2bdf78cf" providerId="ADAL" clId="{9CEC7566-FE38-4CD1-9FA4-E6E953CA2F18}" dt="2025-09-12T14:40:09.105" v="248"/>
        <pc:sldMkLst>
          <pc:docMk/>
          <pc:sldMk cId="2929312174" sldId="588"/>
        </pc:sldMkLst>
      </pc:sldChg>
      <pc:sldChg chg="del">
        <pc:chgData name="Steven M Christey" userId="f24da668-4c1f-41c0-850e-113e2bdf78cf" providerId="ADAL" clId="{9CEC7566-FE38-4CD1-9FA4-E6E953CA2F18}" dt="2025-09-12T14:40:00.826" v="247" actId="2696"/>
        <pc:sldMkLst>
          <pc:docMk/>
          <pc:sldMk cId="84884298" sldId="589"/>
        </pc:sldMkLst>
      </pc:sldChg>
      <pc:sldChg chg="add">
        <pc:chgData name="Steven M Christey" userId="f24da668-4c1f-41c0-850e-113e2bdf78cf" providerId="ADAL" clId="{9CEC7566-FE38-4CD1-9FA4-E6E953CA2F18}" dt="2025-09-12T14:40:09.105" v="248"/>
        <pc:sldMkLst>
          <pc:docMk/>
          <pc:sldMk cId="3417000376" sldId="589"/>
        </pc:sldMkLst>
      </pc:sldChg>
      <pc:sldChg chg="add">
        <pc:chgData name="Steven M Christey" userId="f24da668-4c1f-41c0-850e-113e2bdf78cf" providerId="ADAL" clId="{9CEC7566-FE38-4CD1-9FA4-E6E953CA2F18}" dt="2025-09-12T14:40:09.105" v="248"/>
        <pc:sldMkLst>
          <pc:docMk/>
          <pc:sldMk cId="2205109428" sldId="590"/>
        </pc:sldMkLst>
      </pc:sldChg>
      <pc:sldChg chg="del">
        <pc:chgData name="Steven M Christey" userId="f24da668-4c1f-41c0-850e-113e2bdf78cf" providerId="ADAL" clId="{9CEC7566-FE38-4CD1-9FA4-E6E953CA2F18}" dt="2025-09-12T14:40:00.826" v="247" actId="2696"/>
        <pc:sldMkLst>
          <pc:docMk/>
          <pc:sldMk cId="3258265038" sldId="590"/>
        </pc:sldMkLst>
      </pc:sldChg>
      <pc:sldChg chg="add">
        <pc:chgData name="Steven M Christey" userId="f24da668-4c1f-41c0-850e-113e2bdf78cf" providerId="ADAL" clId="{9CEC7566-FE38-4CD1-9FA4-E6E953CA2F18}" dt="2025-09-12T14:40:09.105" v="248"/>
        <pc:sldMkLst>
          <pc:docMk/>
          <pc:sldMk cId="57588450" sldId="591"/>
        </pc:sldMkLst>
      </pc:sldChg>
      <pc:sldChg chg="del">
        <pc:chgData name="Steven M Christey" userId="f24da668-4c1f-41c0-850e-113e2bdf78cf" providerId="ADAL" clId="{9CEC7566-FE38-4CD1-9FA4-E6E953CA2F18}" dt="2025-09-12T14:40:00.826" v="247" actId="2696"/>
        <pc:sldMkLst>
          <pc:docMk/>
          <pc:sldMk cId="4074219294" sldId="591"/>
        </pc:sldMkLst>
      </pc:sldChg>
      <pc:sldChg chg="del">
        <pc:chgData name="Steven M Christey" userId="f24da668-4c1f-41c0-850e-113e2bdf78cf" providerId="ADAL" clId="{9CEC7566-FE38-4CD1-9FA4-E6E953CA2F18}" dt="2025-09-12T14:40:00.826" v="247" actId="2696"/>
        <pc:sldMkLst>
          <pc:docMk/>
          <pc:sldMk cId="656038621" sldId="593"/>
        </pc:sldMkLst>
      </pc:sldChg>
      <pc:sldChg chg="add">
        <pc:chgData name="Steven M Christey" userId="f24da668-4c1f-41c0-850e-113e2bdf78cf" providerId="ADAL" clId="{9CEC7566-FE38-4CD1-9FA4-E6E953CA2F18}" dt="2025-09-12T14:40:09.105" v="248"/>
        <pc:sldMkLst>
          <pc:docMk/>
          <pc:sldMk cId="2454665117" sldId="593"/>
        </pc:sldMkLst>
      </pc:sldChg>
      <pc:sldChg chg="del">
        <pc:chgData name="Steven M Christey" userId="f24da668-4c1f-41c0-850e-113e2bdf78cf" providerId="ADAL" clId="{9CEC7566-FE38-4CD1-9FA4-E6E953CA2F18}" dt="2025-09-12T14:40:00.826" v="247" actId="2696"/>
        <pc:sldMkLst>
          <pc:docMk/>
          <pc:sldMk cId="1280874337" sldId="594"/>
        </pc:sldMkLst>
      </pc:sldChg>
      <pc:sldChg chg="add">
        <pc:chgData name="Steven M Christey" userId="f24da668-4c1f-41c0-850e-113e2bdf78cf" providerId="ADAL" clId="{9CEC7566-FE38-4CD1-9FA4-E6E953CA2F18}" dt="2025-09-12T14:40:09.105" v="248"/>
        <pc:sldMkLst>
          <pc:docMk/>
          <pc:sldMk cId="2414035460" sldId="594"/>
        </pc:sldMkLst>
      </pc:sldChg>
      <pc:sldChg chg="del">
        <pc:chgData name="Steven M Christey" userId="f24da668-4c1f-41c0-850e-113e2bdf78cf" providerId="ADAL" clId="{9CEC7566-FE38-4CD1-9FA4-E6E953CA2F18}" dt="2025-09-12T14:40:00.826" v="247" actId="2696"/>
        <pc:sldMkLst>
          <pc:docMk/>
          <pc:sldMk cId="507329500" sldId="595"/>
        </pc:sldMkLst>
      </pc:sldChg>
      <pc:sldChg chg="add">
        <pc:chgData name="Steven M Christey" userId="f24da668-4c1f-41c0-850e-113e2bdf78cf" providerId="ADAL" clId="{9CEC7566-FE38-4CD1-9FA4-E6E953CA2F18}" dt="2025-09-12T14:40:09.105" v="248"/>
        <pc:sldMkLst>
          <pc:docMk/>
          <pc:sldMk cId="3414056382" sldId="595"/>
        </pc:sldMkLst>
      </pc:sldChg>
      <pc:sldChg chg="modSp new mod">
        <pc:chgData name="Steven M Christey" userId="f24da668-4c1f-41c0-850e-113e2bdf78cf" providerId="ADAL" clId="{9CEC7566-FE38-4CD1-9FA4-E6E953CA2F18}" dt="2025-09-12T15:08:33.452" v="1983" actId="20577"/>
        <pc:sldMkLst>
          <pc:docMk/>
          <pc:sldMk cId="428931698" sldId="596"/>
        </pc:sldMkLst>
        <pc:spChg chg="mod">
          <ac:chgData name="Steven M Christey" userId="f24da668-4c1f-41c0-850e-113e2bdf78cf" providerId="ADAL" clId="{9CEC7566-FE38-4CD1-9FA4-E6E953CA2F18}" dt="2025-09-12T14:37:00.284" v="61" actId="20577"/>
          <ac:spMkLst>
            <pc:docMk/>
            <pc:sldMk cId="428931698" sldId="596"/>
            <ac:spMk id="2" creationId="{AA8C1E67-6D5C-2384-C9DC-009F5255503E}"/>
          </ac:spMkLst>
        </pc:spChg>
        <pc:spChg chg="mod">
          <ac:chgData name="Steven M Christey" userId="f24da668-4c1f-41c0-850e-113e2bdf78cf" providerId="ADAL" clId="{9CEC7566-FE38-4CD1-9FA4-E6E953CA2F18}" dt="2025-09-12T15:08:33.452" v="1983" actId="20577"/>
          <ac:spMkLst>
            <pc:docMk/>
            <pc:sldMk cId="428931698" sldId="596"/>
            <ac:spMk id="3" creationId="{E50530C7-06BB-A237-C82F-312CBBC46751}"/>
          </ac:spMkLst>
        </pc:spChg>
      </pc:sldChg>
      <pc:sldChg chg="add">
        <pc:chgData name="Steven M Christey" userId="f24da668-4c1f-41c0-850e-113e2bdf78cf" providerId="ADAL" clId="{9CEC7566-FE38-4CD1-9FA4-E6E953CA2F18}" dt="2025-09-12T14:41:30.665" v="301"/>
        <pc:sldMkLst>
          <pc:docMk/>
          <pc:sldMk cId="411241409" sldId="597"/>
        </pc:sldMkLst>
      </pc:sldChg>
      <pc:sldChg chg="modSp new mod">
        <pc:chgData name="Steven M Christey" userId="f24da668-4c1f-41c0-850e-113e2bdf78cf" providerId="ADAL" clId="{9CEC7566-FE38-4CD1-9FA4-E6E953CA2F18}" dt="2025-09-12T15:40:29.100" v="2118" actId="6549"/>
        <pc:sldMkLst>
          <pc:docMk/>
          <pc:sldMk cId="73265659" sldId="598"/>
        </pc:sldMkLst>
        <pc:spChg chg="mod">
          <ac:chgData name="Steven M Christey" userId="f24da668-4c1f-41c0-850e-113e2bdf78cf" providerId="ADAL" clId="{9CEC7566-FE38-4CD1-9FA4-E6E953CA2F18}" dt="2025-09-12T14:42:16.533" v="434" actId="6549"/>
          <ac:spMkLst>
            <pc:docMk/>
            <pc:sldMk cId="73265659" sldId="598"/>
            <ac:spMk id="2" creationId="{A79B8D90-AE1E-61E6-A8AE-966211EB5CB3}"/>
          </ac:spMkLst>
        </pc:spChg>
        <pc:spChg chg="mod">
          <ac:chgData name="Steven M Christey" userId="f24da668-4c1f-41c0-850e-113e2bdf78cf" providerId="ADAL" clId="{9CEC7566-FE38-4CD1-9FA4-E6E953CA2F18}" dt="2025-09-12T15:40:29.100" v="2118" actId="6549"/>
          <ac:spMkLst>
            <pc:docMk/>
            <pc:sldMk cId="73265659" sldId="598"/>
            <ac:spMk id="3" creationId="{C8B3929B-252C-092D-7EEE-6EDA7076798B}"/>
          </ac:spMkLst>
        </pc:spChg>
      </pc:sldChg>
      <pc:sldChg chg="modSp new mod">
        <pc:chgData name="Steven M Christey" userId="f24da668-4c1f-41c0-850e-113e2bdf78cf" providerId="ADAL" clId="{9CEC7566-FE38-4CD1-9FA4-E6E953CA2F18}" dt="2025-09-12T14:50:16.160" v="773" actId="21"/>
        <pc:sldMkLst>
          <pc:docMk/>
          <pc:sldMk cId="1680666144" sldId="599"/>
        </pc:sldMkLst>
        <pc:spChg chg="mod">
          <ac:chgData name="Steven M Christey" userId="f24da668-4c1f-41c0-850e-113e2bdf78cf" providerId="ADAL" clId="{9CEC7566-FE38-4CD1-9FA4-E6E953CA2F18}" dt="2025-09-12T14:46:52.527" v="526" actId="20577"/>
          <ac:spMkLst>
            <pc:docMk/>
            <pc:sldMk cId="1680666144" sldId="599"/>
            <ac:spMk id="2" creationId="{6B2D1101-7C9F-7495-D56C-1D51522ED7A5}"/>
          </ac:spMkLst>
        </pc:spChg>
        <pc:spChg chg="mod">
          <ac:chgData name="Steven M Christey" userId="f24da668-4c1f-41c0-850e-113e2bdf78cf" providerId="ADAL" clId="{9CEC7566-FE38-4CD1-9FA4-E6E953CA2F18}" dt="2025-09-12T14:50:16.160" v="773" actId="21"/>
          <ac:spMkLst>
            <pc:docMk/>
            <pc:sldMk cId="1680666144" sldId="599"/>
            <ac:spMk id="3" creationId="{DB6A4387-1FE7-CE01-5DE8-DF9417BCDCEC}"/>
          </ac:spMkLst>
        </pc:spChg>
      </pc:sldChg>
      <pc:sldChg chg="modSp add mod">
        <pc:chgData name="Steven M Christey" userId="f24da668-4c1f-41c0-850e-113e2bdf78cf" providerId="ADAL" clId="{9CEC7566-FE38-4CD1-9FA4-E6E953CA2F18}" dt="2025-09-12T15:54:50.818" v="2141" actId="20577"/>
        <pc:sldMkLst>
          <pc:docMk/>
          <pc:sldMk cId="2248564156" sldId="600"/>
        </pc:sldMkLst>
        <pc:spChg chg="mod">
          <ac:chgData name="Steven M Christey" userId="f24da668-4c1f-41c0-850e-113e2bdf78cf" providerId="ADAL" clId="{9CEC7566-FE38-4CD1-9FA4-E6E953CA2F18}" dt="2025-09-12T14:50:26.551" v="779" actId="20577"/>
          <ac:spMkLst>
            <pc:docMk/>
            <pc:sldMk cId="2248564156" sldId="600"/>
            <ac:spMk id="2" creationId="{3BCD3F36-B417-99B5-0904-35E78CF612D3}"/>
          </ac:spMkLst>
        </pc:spChg>
        <pc:spChg chg="mod">
          <ac:chgData name="Steven M Christey" userId="f24da668-4c1f-41c0-850e-113e2bdf78cf" providerId="ADAL" clId="{9CEC7566-FE38-4CD1-9FA4-E6E953CA2F18}" dt="2025-09-12T15:54:50.818" v="2141" actId="20577"/>
          <ac:spMkLst>
            <pc:docMk/>
            <pc:sldMk cId="2248564156" sldId="600"/>
            <ac:spMk id="3" creationId="{EF251B09-2795-CDF8-DEFA-98E8D21B04C0}"/>
          </ac:spMkLst>
        </pc:spChg>
      </pc:sldChg>
      <pc:sldChg chg="new">
        <pc:chgData name="Steven M Christey" userId="f24da668-4c1f-41c0-850e-113e2bdf78cf" providerId="ADAL" clId="{9CEC7566-FE38-4CD1-9FA4-E6E953CA2F18}" dt="2025-09-12T14:53:10.990" v="957" actId="680"/>
        <pc:sldMkLst>
          <pc:docMk/>
          <pc:sldMk cId="1875688239" sldId="601"/>
        </pc:sldMkLst>
      </pc:sldChg>
      <pc:sldChg chg="modSp new mod">
        <pc:chgData name="Steven M Christey" userId="f24da668-4c1f-41c0-850e-113e2bdf78cf" providerId="ADAL" clId="{9CEC7566-FE38-4CD1-9FA4-E6E953CA2F18}" dt="2025-09-12T14:55:31.122" v="1041" actId="404"/>
        <pc:sldMkLst>
          <pc:docMk/>
          <pc:sldMk cId="702320256" sldId="602"/>
        </pc:sldMkLst>
        <pc:spChg chg="mod">
          <ac:chgData name="Steven M Christey" userId="f24da668-4c1f-41c0-850e-113e2bdf78cf" providerId="ADAL" clId="{9CEC7566-FE38-4CD1-9FA4-E6E953CA2F18}" dt="2025-09-12T14:53:58.457" v="969" actId="20577"/>
          <ac:spMkLst>
            <pc:docMk/>
            <pc:sldMk cId="702320256" sldId="602"/>
            <ac:spMk id="2" creationId="{9CFCF172-E2A3-6D2F-4294-C5E37951695E}"/>
          </ac:spMkLst>
        </pc:spChg>
        <pc:spChg chg="mod">
          <ac:chgData name="Steven M Christey" userId="f24da668-4c1f-41c0-850e-113e2bdf78cf" providerId="ADAL" clId="{9CEC7566-FE38-4CD1-9FA4-E6E953CA2F18}" dt="2025-09-12T14:55:31.122" v="1041" actId="404"/>
          <ac:spMkLst>
            <pc:docMk/>
            <pc:sldMk cId="702320256" sldId="602"/>
            <ac:spMk id="3" creationId="{BD2D8855-69B0-63EC-B138-745740AF05E0}"/>
          </ac:spMkLst>
        </pc:spChg>
      </pc:sldChg>
      <pc:sldChg chg="modSp new mod">
        <pc:chgData name="Steven M Christey" userId="f24da668-4c1f-41c0-850e-113e2bdf78cf" providerId="ADAL" clId="{9CEC7566-FE38-4CD1-9FA4-E6E953CA2F18}" dt="2025-09-12T14:57:03.306" v="1416" actId="20577"/>
        <pc:sldMkLst>
          <pc:docMk/>
          <pc:sldMk cId="2291983724" sldId="603"/>
        </pc:sldMkLst>
        <pc:spChg chg="mod">
          <ac:chgData name="Steven M Christey" userId="f24da668-4c1f-41c0-850e-113e2bdf78cf" providerId="ADAL" clId="{9CEC7566-FE38-4CD1-9FA4-E6E953CA2F18}" dt="2025-09-12T14:55:39.244" v="1052" actId="20577"/>
          <ac:spMkLst>
            <pc:docMk/>
            <pc:sldMk cId="2291983724" sldId="603"/>
            <ac:spMk id="2" creationId="{83BE59BF-CA3E-CDE3-C060-CB3B092BB8E3}"/>
          </ac:spMkLst>
        </pc:spChg>
        <pc:spChg chg="mod">
          <ac:chgData name="Steven M Christey" userId="f24da668-4c1f-41c0-850e-113e2bdf78cf" providerId="ADAL" clId="{9CEC7566-FE38-4CD1-9FA4-E6E953CA2F18}" dt="2025-09-12T14:57:03.306" v="1416" actId="20577"/>
          <ac:spMkLst>
            <pc:docMk/>
            <pc:sldMk cId="2291983724" sldId="603"/>
            <ac:spMk id="3" creationId="{DF983D4B-9C49-BB2A-4F5A-F0DB2139812B}"/>
          </ac:spMkLst>
        </pc:spChg>
      </pc:sldChg>
      <pc:sldChg chg="modSp add mod">
        <pc:chgData name="Steven M Christey" userId="f24da668-4c1f-41c0-850e-113e2bdf78cf" providerId="ADAL" clId="{9CEC7566-FE38-4CD1-9FA4-E6E953CA2F18}" dt="2025-09-12T14:58:21.083" v="1452" actId="20577"/>
        <pc:sldMkLst>
          <pc:docMk/>
          <pc:sldMk cId="2567930599" sldId="604"/>
        </pc:sldMkLst>
        <pc:spChg chg="mod">
          <ac:chgData name="Steven M Christey" userId="f24da668-4c1f-41c0-850e-113e2bdf78cf" providerId="ADAL" clId="{9CEC7566-FE38-4CD1-9FA4-E6E953CA2F18}" dt="2025-09-12T14:58:21.083" v="1452" actId="20577"/>
          <ac:spMkLst>
            <pc:docMk/>
            <pc:sldMk cId="2567930599" sldId="604"/>
            <ac:spMk id="2" creationId="{6D3E2E97-8808-E69A-32B7-0931DFAA5918}"/>
          </ac:spMkLst>
        </pc:spChg>
      </pc:sldChg>
      <pc:sldChg chg="modSp add mod">
        <pc:chgData name="Steven M Christey" userId="f24da668-4c1f-41c0-850e-113e2bdf78cf" providerId="ADAL" clId="{9CEC7566-FE38-4CD1-9FA4-E6E953CA2F18}" dt="2025-09-12T14:58:13.630" v="1439" actId="20577"/>
        <pc:sldMkLst>
          <pc:docMk/>
          <pc:sldMk cId="3401077441" sldId="605"/>
        </pc:sldMkLst>
        <pc:spChg chg="mod">
          <ac:chgData name="Steven M Christey" userId="f24da668-4c1f-41c0-850e-113e2bdf78cf" providerId="ADAL" clId="{9CEC7566-FE38-4CD1-9FA4-E6E953CA2F18}" dt="2025-09-12T14:58:13.630" v="1439" actId="20577"/>
          <ac:spMkLst>
            <pc:docMk/>
            <pc:sldMk cId="3401077441" sldId="605"/>
            <ac:spMk id="2" creationId="{F586E8D5-1660-CA57-6D3B-70493948D6D6}"/>
          </ac:spMkLst>
        </pc:spChg>
      </pc:sldChg>
      <pc:sldChg chg="modSp new mod">
        <pc:chgData name="Steven M Christey" userId="f24da668-4c1f-41c0-850e-113e2bdf78cf" providerId="ADAL" clId="{9CEC7566-FE38-4CD1-9FA4-E6E953CA2F18}" dt="2025-09-12T14:59:46.879" v="1631" actId="20577"/>
        <pc:sldMkLst>
          <pc:docMk/>
          <pc:sldMk cId="3329228180" sldId="606"/>
        </pc:sldMkLst>
        <pc:spChg chg="mod">
          <ac:chgData name="Steven M Christey" userId="f24da668-4c1f-41c0-850e-113e2bdf78cf" providerId="ADAL" clId="{9CEC7566-FE38-4CD1-9FA4-E6E953CA2F18}" dt="2025-09-12T14:59:17.962" v="1544" actId="20577"/>
          <ac:spMkLst>
            <pc:docMk/>
            <pc:sldMk cId="3329228180" sldId="606"/>
            <ac:spMk id="2" creationId="{9D8633AA-2C2D-8939-4026-D51EC14631B3}"/>
          </ac:spMkLst>
        </pc:spChg>
        <pc:spChg chg="mod">
          <ac:chgData name="Steven M Christey" userId="f24da668-4c1f-41c0-850e-113e2bdf78cf" providerId="ADAL" clId="{9CEC7566-FE38-4CD1-9FA4-E6E953CA2F18}" dt="2025-09-12T14:59:46.879" v="1631" actId="20577"/>
          <ac:spMkLst>
            <pc:docMk/>
            <pc:sldMk cId="3329228180" sldId="606"/>
            <ac:spMk id="3" creationId="{8754BE33-23EB-99D2-B3D5-31779558DDA6}"/>
          </ac:spMkLst>
        </pc:spChg>
      </pc:sldChg>
    </pc:docChg>
  </pc:docChgLst>
  <pc:docChgLst>
    <pc:chgData name="Steven M Christey" userId="f24da668-4c1f-41c0-850e-113e2bdf78cf" providerId="ADAL" clId="{C405519F-7056-4F7D-9BDF-05628DABAED4}"/>
    <pc:docChg chg="custSel addSld delSld modSld sldOrd">
      <pc:chgData name="Steven M Christey" userId="f24da668-4c1f-41c0-850e-113e2bdf78cf" providerId="ADAL" clId="{C405519F-7056-4F7D-9BDF-05628DABAED4}" dt="2025-08-15T15:47:50.082" v="1366" actId="313"/>
      <pc:docMkLst>
        <pc:docMk/>
      </pc:docMkLst>
      <pc:sldChg chg="modSp mod">
        <pc:chgData name="Steven M Christey" userId="f24da668-4c1f-41c0-850e-113e2bdf78cf" providerId="ADAL" clId="{C405519F-7056-4F7D-9BDF-05628DABAED4}" dt="2025-08-15T14:42:59.187" v="8" actId="20577"/>
        <pc:sldMkLst>
          <pc:docMk/>
          <pc:sldMk cId="1454278300" sldId="459"/>
        </pc:sldMkLst>
        <pc:spChg chg="mod">
          <ac:chgData name="Steven M Christey" userId="f24da668-4c1f-41c0-850e-113e2bdf78cf" providerId="ADAL" clId="{C405519F-7056-4F7D-9BDF-05628DABAED4}" dt="2025-08-15T14:42:59.187" v="8" actId="20577"/>
          <ac:spMkLst>
            <pc:docMk/>
            <pc:sldMk cId="1454278300" sldId="459"/>
            <ac:spMk id="3" creationId="{0992DF88-AC24-0FBF-1177-62DD9110498B}"/>
          </ac:spMkLst>
        </pc:spChg>
      </pc:sldChg>
      <pc:sldChg chg="modSp mod">
        <pc:chgData name="Steven M Christey" userId="f24da668-4c1f-41c0-850e-113e2bdf78cf" providerId="ADAL" clId="{C405519F-7056-4F7D-9BDF-05628DABAED4}" dt="2025-08-15T14:53:45.419" v="475" actId="20577"/>
        <pc:sldMkLst>
          <pc:docMk/>
          <pc:sldMk cId="1259113184" sldId="475"/>
        </pc:sldMkLst>
        <pc:spChg chg="mod">
          <ac:chgData name="Steven M Christey" userId="f24da668-4c1f-41c0-850e-113e2bdf78cf" providerId="ADAL" clId="{C405519F-7056-4F7D-9BDF-05628DABAED4}" dt="2025-08-15T14:53:45.419" v="475" actId="20577"/>
          <ac:spMkLst>
            <pc:docMk/>
            <pc:sldMk cId="1259113184" sldId="475"/>
            <ac:spMk id="3" creationId="{32062DF9-CFF1-0BEE-15FF-59D403B018ED}"/>
          </ac:spMkLst>
        </pc:spChg>
      </pc:sldChg>
      <pc:sldChg chg="add">
        <pc:chgData name="Steven M Christey" userId="f24da668-4c1f-41c0-850e-113e2bdf78cf" providerId="ADAL" clId="{C405519F-7056-4F7D-9BDF-05628DABAED4}" dt="2025-08-15T14:55:02.141" v="477"/>
        <pc:sldMkLst>
          <pc:docMk/>
          <pc:sldMk cId="712466533" sldId="488"/>
        </pc:sldMkLst>
      </pc:sldChg>
      <pc:sldChg chg="del">
        <pc:chgData name="Steven M Christey" userId="f24da668-4c1f-41c0-850e-113e2bdf78cf" providerId="ADAL" clId="{C405519F-7056-4F7D-9BDF-05628DABAED4}" dt="2025-08-15T14:54:52.597" v="476" actId="2696"/>
        <pc:sldMkLst>
          <pc:docMk/>
          <pc:sldMk cId="4197602607" sldId="488"/>
        </pc:sldMkLst>
      </pc:sldChg>
      <pc:sldChg chg="del">
        <pc:chgData name="Steven M Christey" userId="f24da668-4c1f-41c0-850e-113e2bdf78cf" providerId="ADAL" clId="{C405519F-7056-4F7D-9BDF-05628DABAED4}" dt="2025-08-15T14:49:33.413" v="441" actId="2696"/>
        <pc:sldMkLst>
          <pc:docMk/>
          <pc:sldMk cId="1870174279" sldId="493"/>
        </pc:sldMkLst>
      </pc:sldChg>
      <pc:sldChg chg="modSp add mod">
        <pc:chgData name="Steven M Christey" userId="f24da668-4c1f-41c0-850e-113e2bdf78cf" providerId="ADAL" clId="{C405519F-7056-4F7D-9BDF-05628DABAED4}" dt="2025-08-15T15:47:50.082" v="1366" actId="313"/>
        <pc:sldMkLst>
          <pc:docMk/>
          <pc:sldMk cId="2576501791" sldId="493"/>
        </pc:sldMkLst>
      </pc:sldChg>
      <pc:sldChg chg="add">
        <pc:chgData name="Steven M Christey" userId="f24da668-4c1f-41c0-850e-113e2bdf78cf" providerId="ADAL" clId="{C405519F-7056-4F7D-9BDF-05628DABAED4}" dt="2025-08-15T14:51:07.665" v="444"/>
        <pc:sldMkLst>
          <pc:docMk/>
          <pc:sldMk cId="2206607210" sldId="496"/>
        </pc:sldMkLst>
      </pc:sldChg>
      <pc:sldChg chg="del">
        <pc:chgData name="Steven M Christey" userId="f24da668-4c1f-41c0-850e-113e2bdf78cf" providerId="ADAL" clId="{C405519F-7056-4F7D-9BDF-05628DABAED4}" dt="2025-08-15T14:51:02.869" v="443" actId="2696"/>
        <pc:sldMkLst>
          <pc:docMk/>
          <pc:sldMk cId="2785828844" sldId="496"/>
        </pc:sldMkLst>
      </pc:sldChg>
      <pc:sldChg chg="add">
        <pc:chgData name="Steven M Christey" userId="f24da668-4c1f-41c0-850e-113e2bdf78cf" providerId="ADAL" clId="{C405519F-7056-4F7D-9BDF-05628DABAED4}" dt="2025-08-15T14:48:31.688" v="440"/>
        <pc:sldMkLst>
          <pc:docMk/>
          <pc:sldMk cId="775243355" sldId="503"/>
        </pc:sldMkLst>
      </pc:sldChg>
      <pc:sldChg chg="del">
        <pc:chgData name="Steven M Christey" userId="f24da668-4c1f-41c0-850e-113e2bdf78cf" providerId="ADAL" clId="{C405519F-7056-4F7D-9BDF-05628DABAED4}" dt="2025-08-15T14:48:19.372" v="439" actId="2696"/>
        <pc:sldMkLst>
          <pc:docMk/>
          <pc:sldMk cId="2072573845" sldId="503"/>
        </pc:sldMkLst>
      </pc:sldChg>
      <pc:sldChg chg="add">
        <pc:chgData name="Steven M Christey" userId="f24da668-4c1f-41c0-850e-113e2bdf78cf" providerId="ADAL" clId="{C405519F-7056-4F7D-9BDF-05628DABAED4}" dt="2025-08-15T14:48:31.688" v="440"/>
        <pc:sldMkLst>
          <pc:docMk/>
          <pc:sldMk cId="1394811699" sldId="504"/>
        </pc:sldMkLst>
      </pc:sldChg>
      <pc:sldChg chg="del">
        <pc:chgData name="Steven M Christey" userId="f24da668-4c1f-41c0-850e-113e2bdf78cf" providerId="ADAL" clId="{C405519F-7056-4F7D-9BDF-05628DABAED4}" dt="2025-08-15T14:48:19.372" v="439" actId="2696"/>
        <pc:sldMkLst>
          <pc:docMk/>
          <pc:sldMk cId="1678047159" sldId="504"/>
        </pc:sldMkLst>
      </pc:sldChg>
      <pc:sldChg chg="modSp mod">
        <pc:chgData name="Steven M Christey" userId="f24da668-4c1f-41c0-850e-113e2bdf78cf" providerId="ADAL" clId="{C405519F-7056-4F7D-9BDF-05628DABAED4}" dt="2025-08-15T14:43:13.982" v="20" actId="20577"/>
        <pc:sldMkLst>
          <pc:docMk/>
          <pc:sldMk cId="915149386" sldId="514"/>
        </pc:sldMkLst>
        <pc:spChg chg="mod">
          <ac:chgData name="Steven M Christey" userId="f24da668-4c1f-41c0-850e-113e2bdf78cf" providerId="ADAL" clId="{C405519F-7056-4F7D-9BDF-05628DABAED4}" dt="2025-08-15T14:43:13.982" v="20" actId="20577"/>
          <ac:spMkLst>
            <pc:docMk/>
            <pc:sldMk cId="915149386" sldId="514"/>
            <ac:spMk id="3" creationId="{D4348C02-DFCE-A2E4-D523-D69A254A7D49}"/>
          </ac:spMkLst>
        </pc:spChg>
      </pc:sldChg>
      <pc:sldChg chg="del">
        <pc:chgData name="Steven M Christey" userId="f24da668-4c1f-41c0-850e-113e2bdf78cf" providerId="ADAL" clId="{C405519F-7056-4F7D-9BDF-05628DABAED4}" dt="2025-08-15T14:51:11.846" v="445" actId="47"/>
        <pc:sldMkLst>
          <pc:docMk/>
          <pc:sldMk cId="2639086877" sldId="551"/>
        </pc:sldMkLst>
      </pc:sldChg>
      <pc:sldChg chg="modSp mod">
        <pc:chgData name="Steven M Christey" userId="f24da668-4c1f-41c0-850e-113e2bdf78cf" providerId="ADAL" clId="{C405519F-7056-4F7D-9BDF-05628DABAED4}" dt="2025-08-15T14:45:28.513" v="102" actId="6549"/>
        <pc:sldMkLst>
          <pc:docMk/>
          <pc:sldMk cId="1570532610" sldId="585"/>
        </pc:sldMkLst>
      </pc:sldChg>
      <pc:sldChg chg="modSp mod">
        <pc:chgData name="Steven M Christey" userId="f24da668-4c1f-41c0-850e-113e2bdf78cf" providerId="ADAL" clId="{C405519F-7056-4F7D-9BDF-05628DABAED4}" dt="2025-08-15T15:31:56.197" v="918" actId="207"/>
        <pc:sldMkLst>
          <pc:docMk/>
          <pc:sldMk cId="3428824971" sldId="587"/>
        </pc:sldMkLst>
      </pc:sldChg>
      <pc:sldChg chg="modSp mod">
        <pc:chgData name="Steven M Christey" userId="f24da668-4c1f-41c0-850e-113e2bdf78cf" providerId="ADAL" clId="{C405519F-7056-4F7D-9BDF-05628DABAED4}" dt="2025-08-15T15:40:14.512" v="1266" actId="20577"/>
        <pc:sldMkLst>
          <pc:docMk/>
          <pc:sldMk cId="2203204905" sldId="588"/>
        </pc:sldMkLst>
      </pc:sldChg>
      <pc:sldChg chg="ord">
        <pc:chgData name="Steven M Christey" userId="f24da668-4c1f-41c0-850e-113e2bdf78cf" providerId="ADAL" clId="{C405519F-7056-4F7D-9BDF-05628DABAED4}" dt="2025-08-15T14:48:05.123" v="438"/>
        <pc:sldMkLst>
          <pc:docMk/>
          <pc:sldMk cId="84884298" sldId="589"/>
        </pc:sldMkLst>
      </pc:sldChg>
      <pc:sldChg chg="modSp mod">
        <pc:chgData name="Steven M Christey" userId="f24da668-4c1f-41c0-850e-113e2bdf78cf" providerId="ADAL" clId="{C405519F-7056-4F7D-9BDF-05628DABAED4}" dt="2025-08-15T15:03:44.793" v="821" actId="404"/>
        <pc:sldMkLst>
          <pc:docMk/>
          <pc:sldMk cId="2965866587" sldId="592"/>
        </pc:sldMkLst>
        <pc:spChg chg="mod">
          <ac:chgData name="Steven M Christey" userId="f24da668-4c1f-41c0-850e-113e2bdf78cf" providerId="ADAL" clId="{C405519F-7056-4F7D-9BDF-05628DABAED4}" dt="2025-08-15T15:03:44.793" v="821" actId="404"/>
          <ac:spMkLst>
            <pc:docMk/>
            <pc:sldMk cId="2965866587" sldId="592"/>
            <ac:spMk id="3" creationId="{9CA0F585-8488-AE38-3828-8BF5511D450B}"/>
          </ac:spMkLst>
        </pc:spChg>
      </pc:sldChg>
      <pc:sldChg chg="modSp mod">
        <pc:chgData name="Steven M Christey" userId="f24da668-4c1f-41c0-850e-113e2bdf78cf" providerId="ADAL" clId="{C405519F-7056-4F7D-9BDF-05628DABAED4}" dt="2025-08-15T15:41:13.177" v="1268" actId="207"/>
        <pc:sldMkLst>
          <pc:docMk/>
          <pc:sldMk cId="656038621" sldId="593"/>
        </pc:sldMkLst>
      </pc:sldChg>
      <pc:sldChg chg="modSp add mod">
        <pc:chgData name="Steven M Christey" userId="f24da668-4c1f-41c0-850e-113e2bdf78cf" providerId="ADAL" clId="{C405519F-7056-4F7D-9BDF-05628DABAED4}" dt="2025-08-15T14:47:28.511" v="435" actId="404"/>
        <pc:sldMkLst>
          <pc:docMk/>
          <pc:sldMk cId="1280874337" sldId="594"/>
        </pc:sldMkLst>
      </pc:sldChg>
      <pc:sldChg chg="modSp new mod">
        <pc:chgData name="Steven M Christey" userId="f24da668-4c1f-41c0-850e-113e2bdf78cf" providerId="ADAL" clId="{C405519F-7056-4F7D-9BDF-05628DABAED4}" dt="2025-08-15T15:26:54.827" v="917" actId="20577"/>
        <pc:sldMkLst>
          <pc:docMk/>
          <pc:sldMk cId="507329500" sldId="595"/>
        </pc:sldMkLst>
      </pc:sldChg>
    </pc:docChg>
  </pc:docChgLst>
  <pc:docChgLst>
    <pc:chgData name="Steven M Christey" userId="f24da668-4c1f-41c0-850e-113e2bdf78cf" providerId="ADAL" clId="{AEB1D6EE-8801-498C-A083-A25B7AE7E3A5}"/>
    <pc:docChg chg="undo custSel addSld modSld sldOrd">
      <pc:chgData name="Steven M Christey" userId="f24da668-4c1f-41c0-850e-113e2bdf78cf" providerId="ADAL" clId="{AEB1D6EE-8801-498C-A083-A25B7AE7E3A5}" dt="2025-07-18T15:56:08.886" v="4256" actId="20577"/>
      <pc:docMkLst>
        <pc:docMk/>
      </pc:docMkLst>
      <pc:sldChg chg="modSp mod">
        <pc:chgData name="Steven M Christey" userId="f24da668-4c1f-41c0-850e-113e2bdf78cf" providerId="ADAL" clId="{AEB1D6EE-8801-498C-A083-A25B7AE7E3A5}" dt="2025-07-18T14:23:59.930" v="9" actId="20577"/>
        <pc:sldMkLst>
          <pc:docMk/>
          <pc:sldMk cId="1454278300" sldId="459"/>
        </pc:sldMkLst>
      </pc:sldChg>
      <pc:sldChg chg="modSp mod">
        <pc:chgData name="Steven M Christey" userId="f24da668-4c1f-41c0-850e-113e2bdf78cf" providerId="ADAL" clId="{AEB1D6EE-8801-498C-A083-A25B7AE7E3A5}" dt="2025-07-18T14:24:25.378" v="52" actId="20577"/>
        <pc:sldMkLst>
          <pc:docMk/>
          <pc:sldMk cId="1259113184" sldId="475"/>
        </pc:sldMkLst>
      </pc:sldChg>
      <pc:sldChg chg="modSp mod ord">
        <pc:chgData name="Steven M Christey" userId="f24da668-4c1f-41c0-850e-113e2bdf78cf" providerId="ADAL" clId="{AEB1D6EE-8801-498C-A083-A25B7AE7E3A5}" dt="2025-07-18T14:39:08.937" v="556"/>
        <pc:sldMkLst>
          <pc:docMk/>
          <pc:sldMk cId="2266223281" sldId="539"/>
        </pc:sldMkLst>
      </pc:sldChg>
      <pc:sldChg chg="modSp mod">
        <pc:chgData name="Steven M Christey" userId="f24da668-4c1f-41c0-850e-113e2bdf78cf" providerId="ADAL" clId="{AEB1D6EE-8801-498C-A083-A25B7AE7E3A5}" dt="2025-07-18T15:55:49.682" v="4217" actId="207"/>
        <pc:sldMkLst>
          <pc:docMk/>
          <pc:sldMk cId="1570532610" sldId="585"/>
        </pc:sldMkLst>
      </pc:sldChg>
      <pc:sldChg chg="modSp mod ord">
        <pc:chgData name="Steven M Christey" userId="f24da668-4c1f-41c0-850e-113e2bdf78cf" providerId="ADAL" clId="{AEB1D6EE-8801-498C-A083-A25B7AE7E3A5}" dt="2025-07-18T15:34:43.857" v="3175" actId="20577"/>
        <pc:sldMkLst>
          <pc:docMk/>
          <pc:sldMk cId="3428824971" sldId="587"/>
        </pc:sldMkLst>
      </pc:sldChg>
      <pc:sldChg chg="modSp mod ord">
        <pc:chgData name="Steven M Christey" userId="f24da668-4c1f-41c0-850e-113e2bdf78cf" providerId="ADAL" clId="{AEB1D6EE-8801-498C-A083-A25B7AE7E3A5}" dt="2025-07-18T15:44:59.693" v="3462" actId="20577"/>
        <pc:sldMkLst>
          <pc:docMk/>
          <pc:sldMk cId="2203204905" sldId="588"/>
        </pc:sldMkLst>
      </pc:sldChg>
      <pc:sldChg chg="modSp add mod ord">
        <pc:chgData name="Steven M Christey" userId="f24da668-4c1f-41c0-850e-113e2bdf78cf" providerId="ADAL" clId="{AEB1D6EE-8801-498C-A083-A25B7AE7E3A5}" dt="2025-07-18T15:40:53.369" v="3306" actId="20577"/>
        <pc:sldMkLst>
          <pc:docMk/>
          <pc:sldMk cId="84884298" sldId="589"/>
        </pc:sldMkLst>
      </pc:sldChg>
      <pc:sldChg chg="modSp add mod">
        <pc:chgData name="Steven M Christey" userId="f24da668-4c1f-41c0-850e-113e2bdf78cf" providerId="ADAL" clId="{AEB1D6EE-8801-498C-A083-A25B7AE7E3A5}" dt="2025-07-18T15:39:40.960" v="3305" actId="6549"/>
        <pc:sldMkLst>
          <pc:docMk/>
          <pc:sldMk cId="3258265038" sldId="590"/>
        </pc:sldMkLst>
      </pc:sldChg>
      <pc:sldChg chg="modSp add mod">
        <pc:chgData name="Steven M Christey" userId="f24da668-4c1f-41c0-850e-113e2bdf78cf" providerId="ADAL" clId="{AEB1D6EE-8801-498C-A083-A25B7AE7E3A5}" dt="2025-07-18T14:42:41.049" v="1053" actId="20577"/>
        <pc:sldMkLst>
          <pc:docMk/>
          <pc:sldMk cId="4074219294" sldId="591"/>
        </pc:sldMkLst>
      </pc:sldChg>
      <pc:sldChg chg="modSp new mod">
        <pc:chgData name="Steven M Christey" userId="f24da668-4c1f-41c0-850e-113e2bdf78cf" providerId="ADAL" clId="{AEB1D6EE-8801-498C-A083-A25B7AE7E3A5}" dt="2025-07-18T14:37:59.583" v="552" actId="20577"/>
        <pc:sldMkLst>
          <pc:docMk/>
          <pc:sldMk cId="2965866587" sldId="592"/>
        </pc:sldMkLst>
      </pc:sldChg>
      <pc:sldChg chg="modSp add mod">
        <pc:chgData name="Steven M Christey" userId="f24da668-4c1f-41c0-850e-113e2bdf78cf" providerId="ADAL" clId="{AEB1D6EE-8801-498C-A083-A25B7AE7E3A5}" dt="2025-07-18T15:56:08.886" v="4256" actId="20577"/>
        <pc:sldMkLst>
          <pc:docMk/>
          <pc:sldMk cId="656038621" sldId="593"/>
        </pc:sldMkLst>
      </pc:sldChg>
    </pc:docChg>
  </pc:docChgLst>
  <pc:docChgLst>
    <pc:chgData name="Steven M Christey" userId="f24da668-4c1f-41c0-850e-113e2bdf78cf" providerId="ADAL" clId="{C2F18F40-825E-4AB2-AAE5-04A45408A365}"/>
    <pc:docChg chg="modSld">
      <pc:chgData name="Steven M Christey" userId="f24da668-4c1f-41c0-850e-113e2bdf78cf" providerId="ADAL" clId="{C2F18F40-825E-4AB2-AAE5-04A45408A365}" dt="2025-06-06T14:35:02.444" v="8" actId="20577"/>
      <pc:docMkLst>
        <pc:docMk/>
      </pc:docMkLst>
      <pc:sldChg chg="modSp mod">
        <pc:chgData name="Steven M Christey" userId="f24da668-4c1f-41c0-850e-113e2bdf78cf" providerId="ADAL" clId="{C2F18F40-825E-4AB2-AAE5-04A45408A365}" dt="2025-06-06T14:35:02.444" v="8" actId="20577"/>
        <pc:sldMkLst>
          <pc:docMk/>
          <pc:sldMk cId="1454278300" sldId="459"/>
        </pc:sldMkLst>
      </pc:sldChg>
    </pc:docChg>
  </pc:docChgLst>
  <pc:docChgLst>
    <pc:chgData name="Steven M Christey" userId="f24da668-4c1f-41c0-850e-113e2bdf78cf" providerId="ADAL" clId="{71105D66-9E5B-49CD-8B52-70669F4EA7AE}"/>
    <pc:docChg chg="undo custSel addSld modSld sldOrd">
      <pc:chgData name="Steven M Christey" userId="f24da668-4c1f-41c0-850e-113e2bdf78cf" providerId="ADAL" clId="{71105D66-9E5B-49CD-8B52-70669F4EA7AE}" dt="2025-06-20T15:59:29.421" v="1756" actId="20577"/>
      <pc:docMkLst>
        <pc:docMk/>
      </pc:docMkLst>
      <pc:sldChg chg="modSp mod">
        <pc:chgData name="Steven M Christey" userId="f24da668-4c1f-41c0-850e-113e2bdf78cf" providerId="ADAL" clId="{71105D66-9E5B-49CD-8B52-70669F4EA7AE}" dt="2025-06-20T14:27:22.836" v="12" actId="20577"/>
        <pc:sldMkLst>
          <pc:docMk/>
          <pc:sldMk cId="1454278300" sldId="459"/>
        </pc:sldMkLst>
      </pc:sldChg>
      <pc:sldChg chg="modSp mod">
        <pc:chgData name="Steven M Christey" userId="f24da668-4c1f-41c0-850e-113e2bdf78cf" providerId="ADAL" clId="{71105D66-9E5B-49CD-8B52-70669F4EA7AE}" dt="2025-06-20T15:02:16.733" v="397" actId="20577"/>
        <pc:sldMkLst>
          <pc:docMk/>
          <pc:sldMk cId="1259113184" sldId="475"/>
        </pc:sldMkLst>
      </pc:sldChg>
      <pc:sldChg chg="modSp mod ord">
        <pc:chgData name="Steven M Christey" userId="f24da668-4c1f-41c0-850e-113e2bdf78cf" providerId="ADAL" clId="{71105D66-9E5B-49CD-8B52-70669F4EA7AE}" dt="2025-06-20T14:31:46.741" v="357" actId="6549"/>
        <pc:sldMkLst>
          <pc:docMk/>
          <pc:sldMk cId="625922019" sldId="495"/>
        </pc:sldMkLst>
      </pc:sldChg>
      <pc:sldChg chg="ord">
        <pc:chgData name="Steven M Christey" userId="f24da668-4c1f-41c0-850e-113e2bdf78cf" providerId="ADAL" clId="{71105D66-9E5B-49CD-8B52-70669F4EA7AE}" dt="2025-06-20T14:28:07.333" v="14"/>
        <pc:sldMkLst>
          <pc:docMk/>
          <pc:sldMk cId="2072573845" sldId="503"/>
        </pc:sldMkLst>
      </pc:sldChg>
      <pc:sldChg chg="ord">
        <pc:chgData name="Steven M Christey" userId="f24da668-4c1f-41c0-850e-113e2bdf78cf" providerId="ADAL" clId="{71105D66-9E5B-49CD-8B52-70669F4EA7AE}" dt="2025-06-20T14:28:07.333" v="14"/>
        <pc:sldMkLst>
          <pc:docMk/>
          <pc:sldMk cId="1678047159" sldId="504"/>
        </pc:sldMkLst>
      </pc:sldChg>
      <pc:sldChg chg="ord">
        <pc:chgData name="Steven M Christey" userId="f24da668-4c1f-41c0-850e-113e2bdf78cf" providerId="ADAL" clId="{71105D66-9E5B-49CD-8B52-70669F4EA7AE}" dt="2025-06-20T14:28:39.958" v="18"/>
        <pc:sldMkLst>
          <pc:docMk/>
          <pc:sldMk cId="2639086877" sldId="551"/>
        </pc:sldMkLst>
      </pc:sldChg>
      <pc:sldChg chg="modSp mod">
        <pc:chgData name="Steven M Christey" userId="f24da668-4c1f-41c0-850e-113e2bdf78cf" providerId="ADAL" clId="{71105D66-9E5B-49CD-8B52-70669F4EA7AE}" dt="2025-06-20T14:30:11.999" v="248" actId="20577"/>
        <pc:sldMkLst>
          <pc:docMk/>
          <pc:sldMk cId="1570532610" sldId="585"/>
        </pc:sldMkLst>
      </pc:sldChg>
      <pc:sldChg chg="ord">
        <pc:chgData name="Steven M Christey" userId="f24da668-4c1f-41c0-850e-113e2bdf78cf" providerId="ADAL" clId="{71105D66-9E5B-49CD-8B52-70669F4EA7AE}" dt="2025-06-20T14:28:50.854" v="22"/>
        <pc:sldMkLst>
          <pc:docMk/>
          <pc:sldMk cId="1440328160" sldId="586"/>
        </pc:sldMkLst>
      </pc:sldChg>
      <pc:sldChg chg="modSp mod ord">
        <pc:chgData name="Steven M Christey" userId="f24da668-4c1f-41c0-850e-113e2bdf78cf" providerId="ADAL" clId="{71105D66-9E5B-49CD-8B52-70669F4EA7AE}" dt="2025-06-20T15:55:25.534" v="1439"/>
        <pc:sldMkLst>
          <pc:docMk/>
          <pc:sldMk cId="3428824971" sldId="587"/>
        </pc:sldMkLst>
      </pc:sldChg>
      <pc:sldChg chg="modSp add mod">
        <pc:chgData name="Steven M Christey" userId="f24da668-4c1f-41c0-850e-113e2bdf78cf" providerId="ADAL" clId="{71105D66-9E5B-49CD-8B52-70669F4EA7AE}" dt="2025-06-20T15:59:29.421" v="1756" actId="20577"/>
        <pc:sldMkLst>
          <pc:docMk/>
          <pc:sldMk cId="2203204905" sldId="58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9/12/2025</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9/12/2025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cwe.mitre.org/data/definitions/1434.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CWE-CAPEC/CWE-Content-Development-Repository/issues/158"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dirty="0"/>
              <a:t>CWE AI Working Group Meeting:</a:t>
            </a:r>
            <a:br>
              <a:rPr lang="en-US" dirty="0"/>
            </a:br>
            <a:r>
              <a:rPr lang="en-US" dirty="0"/>
              <a:t>New Entry Subgroup</a:t>
            </a:r>
            <a:br>
              <a:rPr lang="en-US" dirty="0"/>
            </a:br>
            <a:endParaRPr lang="en-US" dirty="0"/>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September 12, 2025</a:t>
            </a:r>
          </a:p>
          <a:p>
            <a:endParaRPr lang="en-US" dirty="0"/>
          </a:p>
          <a:p>
            <a:r>
              <a:rPr lang="en-US" dirty="0"/>
              <a:t>Steve Christey Coley</a:t>
            </a:r>
          </a:p>
          <a:p>
            <a:r>
              <a:rPr lang="en-US" dirty="0"/>
              <a:t>Erick </a:t>
            </a:r>
            <a:r>
              <a:rPr lang="en-US" dirty="0" err="1"/>
              <a:t>Galinkin</a:t>
            </a: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Status updates</a:t>
            </a:r>
          </a:p>
          <a:p>
            <a:pPr marL="307975" indent="-307975"/>
            <a:r>
              <a:rPr lang="en-US" dirty="0">
                <a:latin typeface="Tahoma"/>
                <a:ea typeface="Tahoma"/>
                <a:cs typeface="Tahoma"/>
              </a:rPr>
              <a:t>CWE Release info</a:t>
            </a:r>
          </a:p>
          <a:p>
            <a:pPr marL="307975" indent="-307975"/>
            <a:r>
              <a:rPr lang="en-US" dirty="0">
                <a:latin typeface="Tahoma"/>
                <a:ea typeface="Tahoma"/>
                <a:cs typeface="Tahoma"/>
              </a:rPr>
              <a:t>Work planning</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dirty="0"/>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0" indent="0">
              <a:buNone/>
            </a:pPr>
            <a:endParaRPr lang="en-US" dirty="0">
              <a:latin typeface="Tahoma"/>
              <a:ea typeface="Tahoma"/>
              <a:cs typeface="Tahoma"/>
            </a:endParaRPr>
          </a:p>
          <a:p>
            <a:pPr marL="307975" indent="-307975"/>
            <a:r>
              <a:rPr lang="en-US" dirty="0">
                <a:latin typeface="Tahoma"/>
                <a:ea typeface="Tahoma"/>
                <a:cs typeface="Tahoma"/>
              </a:rPr>
              <a:t>CWE 4.18 released! September 9, 2025</a:t>
            </a:r>
          </a:p>
          <a:p>
            <a:pPr marL="307975" indent="-307975"/>
            <a:endParaRPr lang="en-US" dirty="0">
              <a:latin typeface="Tahoma"/>
              <a:ea typeface="Tahoma"/>
              <a:cs typeface="Tahoma"/>
            </a:endParaRPr>
          </a:p>
          <a:p>
            <a:pPr marL="307975" indent="-307975"/>
            <a:r>
              <a:rPr lang="en-US" dirty="0">
                <a:latin typeface="Tahoma"/>
                <a:ea typeface="Tahoma"/>
                <a:cs typeface="Tahoma"/>
              </a:rPr>
              <a:t>To do: addition of new subgroup leaders</a:t>
            </a:r>
          </a:p>
          <a:p>
            <a:pPr marL="307340" indent="-303530"/>
            <a:endParaRPr lang="en-US" dirty="0"/>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dirty="0"/>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dirty="0">
                <a:latin typeface="Tahoma" panose="020B0604030504040204" pitchFamily="34" charset="0"/>
                <a:ea typeface="Tahoma" panose="020B0604030504040204" pitchFamily="34" charset="0"/>
                <a:cs typeface="Tahoma" panose="020B0604030504040204" pitchFamily="34" charset="0"/>
              </a:rPr>
              <a:t>Subgroup 1</a:t>
            </a:r>
            <a:r>
              <a:rPr lang="en-US" sz="1600" b="1" dirty="0">
                <a:latin typeface="Tahoma" panose="020B0604030504040204" pitchFamily="34" charset="0"/>
                <a:ea typeface="Tahoma" panose="020B0604030504040204" pitchFamily="34" charset="0"/>
                <a:cs typeface="Tahoma" panose="020B0604030504040204" pitchFamily="34" charset="0"/>
              </a:rPr>
              <a:t>:</a:t>
            </a:r>
          </a:p>
          <a:p>
            <a:pPr lvl="2"/>
            <a:r>
              <a:rPr lang="en-US" sz="1600" b="1" i="1" dirty="0">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dirty="0" err="1">
                <a:latin typeface="Tahoma" panose="020B0604030504040204" pitchFamily="34" charset="0"/>
                <a:ea typeface="Tahoma" panose="020B0604030504040204" pitchFamily="34" charset="0"/>
                <a:cs typeface="Tahoma" panose="020B0604030504040204" pitchFamily="34" charset="0"/>
              </a:rPr>
              <a:t>Sudebi</a:t>
            </a:r>
            <a:r>
              <a:rPr lang="en-US" sz="1600" dirty="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Erick </a:t>
            </a:r>
            <a:r>
              <a:rPr lang="en-US" sz="1600" dirty="0" err="1">
                <a:latin typeface="Tahoma" panose="020B0604030504040204" pitchFamily="34" charset="0"/>
                <a:ea typeface="Tahoma" panose="020B0604030504040204" pitchFamily="34" charset="0"/>
                <a:cs typeface="Tahoma" panose="020B0604030504040204" pitchFamily="34" charset="0"/>
              </a:rPr>
              <a:t>Galinkin</a:t>
            </a:r>
            <a:r>
              <a:rPr lang="en-US" sz="1600" dirty="0">
                <a:latin typeface="Tahoma" panose="020B0604030504040204" pitchFamily="34" charset="0"/>
                <a:ea typeface="Tahoma" panose="020B0604030504040204" pitchFamily="34" charset="0"/>
                <a:cs typeface="Tahoma" panose="020B0604030504040204" pitchFamily="34" charset="0"/>
              </a:rPr>
              <a:t>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Caroline Rocha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Monika Akbar, (both w/out a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dirty="0">
              <a:latin typeface="Tahoma" panose="020B0604030504040204" pitchFamily="34" charset="0"/>
              <a:ea typeface="Tahoma" panose="020B0604030504040204" pitchFamily="34" charset="0"/>
              <a:cs typeface="Tahoma" panose="020B0604030504040204" pitchFamily="34" charset="0"/>
            </a:endParaRPr>
          </a:p>
          <a:p>
            <a:pPr lvl="1"/>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r>
              <a:rPr lang="en-US" sz="1600" b="1" u="sng" dirty="0">
                <a:latin typeface="Tahoma" panose="020B0604030504040204" pitchFamily="34" charset="0"/>
                <a:ea typeface="Tahoma" panose="020B0604030504040204" pitchFamily="34" charset="0"/>
                <a:cs typeface="Tahoma" panose="020B0604030504040204" pitchFamily="34" charset="0"/>
              </a:rPr>
              <a:t>Subgroup 2</a:t>
            </a:r>
            <a:r>
              <a:rPr lang="en-US" sz="1600" b="1" dirty="0">
                <a:latin typeface="Tahoma" panose="020B0604030504040204" pitchFamily="34" charset="0"/>
                <a:ea typeface="Tahoma" panose="020B0604030504040204" pitchFamily="34" charset="0"/>
                <a:cs typeface="Tahoma" panose="020B0604030504040204" pitchFamily="34" charset="0"/>
              </a:rPr>
              <a:t>:</a:t>
            </a:r>
          </a:p>
          <a:p>
            <a:pPr lvl="2"/>
            <a:r>
              <a:rPr lang="en-US" sz="1600" b="1" i="1" dirty="0">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dirty="0" err="1">
                <a:latin typeface="Tahoma" panose="020B0604030504040204" pitchFamily="34" charset="0"/>
                <a:ea typeface="Tahoma" panose="020B0604030504040204" pitchFamily="34" charset="0"/>
                <a:cs typeface="Tahoma" panose="020B0604030504040204" pitchFamily="34" charset="0"/>
              </a:rPr>
              <a:t>Aagam</a:t>
            </a:r>
            <a:r>
              <a:rPr lang="en-US" sz="1600" dirty="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Gary Lopez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Ahmed Nagy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Monika Akbar, (both w/out a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Martin Hodo (both,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Kevin Monette</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Bamidele Ajayi</a:t>
            </a:r>
          </a:p>
          <a:p>
            <a:endParaRPr lang="en-US" sz="16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C1E67-6D5C-2384-C9DC-009F5255503E}"/>
              </a:ext>
            </a:extLst>
          </p:cNvPr>
          <p:cNvSpPr>
            <a:spLocks noGrp="1"/>
          </p:cNvSpPr>
          <p:nvPr>
            <p:ph type="title"/>
          </p:nvPr>
        </p:nvSpPr>
        <p:spPr/>
        <p:txBody>
          <a:bodyPr/>
          <a:lstStyle/>
          <a:p>
            <a:r>
              <a:rPr lang="en-US" dirty="0"/>
              <a:t>CWE 4.18 Release – AI-Related Details</a:t>
            </a:r>
          </a:p>
        </p:txBody>
      </p:sp>
      <p:sp>
        <p:nvSpPr>
          <p:cNvPr id="3" name="Content Placeholder 2">
            <a:extLst>
              <a:ext uri="{FF2B5EF4-FFF2-40B4-BE49-F238E27FC236}">
                <a16:creationId xmlns:a16="http://schemas.microsoft.com/office/drawing/2014/main" id="{E50530C7-06BB-A237-C82F-312CBBC46751}"/>
              </a:ext>
            </a:extLst>
          </p:cNvPr>
          <p:cNvSpPr>
            <a:spLocks noGrp="1"/>
          </p:cNvSpPr>
          <p:nvPr>
            <p:ph idx="1"/>
          </p:nvPr>
        </p:nvSpPr>
        <p:spPr/>
        <p:txBody>
          <a:bodyPr/>
          <a:lstStyle/>
          <a:p>
            <a:r>
              <a:rPr lang="en-US" dirty="0"/>
              <a:t>Released on September 9</a:t>
            </a:r>
          </a:p>
          <a:p>
            <a:r>
              <a:rPr lang="en-US" dirty="0"/>
              <a:t>New CWE-1434: Insecure Setting of Generative AI/ML Model Inference Parameters</a:t>
            </a:r>
          </a:p>
          <a:p>
            <a:r>
              <a:rPr lang="en-US" dirty="0">
                <a:hlinkClick r:id="rId2"/>
              </a:rPr>
              <a:t>https://cwe.mitre.org/data/definitions/1434.html</a:t>
            </a:r>
            <a:endParaRPr lang="en-US" dirty="0"/>
          </a:p>
          <a:p>
            <a:r>
              <a:rPr lang="en-US" dirty="0"/>
              <a:t>Credit to AI WG “New Entry” Subgroup</a:t>
            </a:r>
          </a:p>
          <a:p>
            <a:pPr lvl="1"/>
            <a:r>
              <a:rPr lang="en-US" dirty="0"/>
              <a:t>“Participated in regular meetings from February to August 2025 to develop and refine most elements of this entry.”</a:t>
            </a:r>
          </a:p>
          <a:p>
            <a:r>
              <a:rPr lang="en-US" dirty="0"/>
              <a:t>Modifications</a:t>
            </a:r>
          </a:p>
          <a:p>
            <a:pPr lvl="1"/>
            <a:r>
              <a:rPr lang="en-US" dirty="0"/>
              <a:t>Some more CWEs with AI/ML as Affected Technology</a:t>
            </a:r>
          </a:p>
          <a:p>
            <a:pPr lvl="1"/>
            <a:r>
              <a:rPr lang="en-US" dirty="0"/>
              <a:t>Added some observed examples (CVEs) to some CWEs</a:t>
            </a:r>
          </a:p>
          <a:p>
            <a:pPr lvl="1"/>
            <a:r>
              <a:rPr lang="en-US" dirty="0"/>
              <a:t>More discussion in the upcoming Modification meeting</a:t>
            </a:r>
          </a:p>
          <a:p>
            <a:pPr lvl="1"/>
            <a:endParaRPr lang="en-US" dirty="0"/>
          </a:p>
        </p:txBody>
      </p:sp>
      <p:sp>
        <p:nvSpPr>
          <p:cNvPr id="4" name="Slide Number Placeholder 3">
            <a:extLst>
              <a:ext uri="{FF2B5EF4-FFF2-40B4-BE49-F238E27FC236}">
                <a16:creationId xmlns:a16="http://schemas.microsoft.com/office/drawing/2014/main" id="{73DF3950-FADD-5436-A155-B070D2CC3BE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8931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dirty="0"/>
              <a:t>Managing the Workload</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53201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B8D90-AE1E-61E6-A8AE-966211EB5CB3}"/>
              </a:ext>
            </a:extLst>
          </p:cNvPr>
          <p:cNvSpPr>
            <a:spLocks noGrp="1"/>
          </p:cNvSpPr>
          <p:nvPr>
            <p:ph type="title"/>
          </p:nvPr>
        </p:nvSpPr>
        <p:spPr/>
        <p:txBody>
          <a:bodyPr/>
          <a:lstStyle/>
          <a:p>
            <a:r>
              <a:rPr lang="en-US" dirty="0"/>
              <a:t>Addressing Submissions in the Working Queue</a:t>
            </a:r>
          </a:p>
        </p:txBody>
      </p:sp>
      <p:sp>
        <p:nvSpPr>
          <p:cNvPr id="3" name="Content Placeholder 2">
            <a:extLst>
              <a:ext uri="{FF2B5EF4-FFF2-40B4-BE49-F238E27FC236}">
                <a16:creationId xmlns:a16="http://schemas.microsoft.com/office/drawing/2014/main" id="{C8B3929B-252C-092D-7EEE-6EDA7076798B}"/>
              </a:ext>
            </a:extLst>
          </p:cNvPr>
          <p:cNvSpPr>
            <a:spLocks noGrp="1"/>
          </p:cNvSpPr>
          <p:nvPr>
            <p:ph idx="1"/>
          </p:nvPr>
        </p:nvSpPr>
        <p:spPr/>
        <p:txBody>
          <a:bodyPr/>
          <a:lstStyle/>
          <a:p>
            <a:r>
              <a:rPr lang="en-US" dirty="0"/>
              <a:t>5 or 6 submissions right now</a:t>
            </a:r>
          </a:p>
          <a:p>
            <a:r>
              <a:rPr lang="en-US" dirty="0"/>
              <a:t>Too much calendar time – the latest new CWE took about 6 calendar months</a:t>
            </a:r>
          </a:p>
          <a:p>
            <a:r>
              <a:rPr lang="en-US" dirty="0"/>
              <a:t>“Triage” was proposed in the last meeting</a:t>
            </a:r>
          </a:p>
          <a:p>
            <a:r>
              <a:rPr lang="en-US" dirty="0"/>
              <a:t>How much work can we carry on in CDR or elsewhere?</a:t>
            </a:r>
          </a:p>
          <a:p>
            <a:endParaRPr lang="en-US" dirty="0"/>
          </a:p>
          <a:p>
            <a:r>
              <a:rPr lang="en-US" dirty="0"/>
              <a:t>Do: provide a way for WG to see all AI-related submissions</a:t>
            </a:r>
          </a:p>
          <a:p>
            <a:r>
              <a:rPr lang="en-US" dirty="0"/>
              <a:t>Guidance for WG members to interact with submitters</a:t>
            </a:r>
          </a:p>
          <a:p>
            <a:endParaRPr lang="en-US" dirty="0"/>
          </a:p>
        </p:txBody>
      </p:sp>
      <p:sp>
        <p:nvSpPr>
          <p:cNvPr id="4" name="Slide Number Placeholder 3">
            <a:extLst>
              <a:ext uri="{FF2B5EF4-FFF2-40B4-BE49-F238E27FC236}">
                <a16:creationId xmlns:a16="http://schemas.microsoft.com/office/drawing/2014/main" id="{D6514C76-EE3E-A519-B188-762121283D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265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F1B5C-32A5-7886-19AB-6C3EF4F40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92CEA-B7D6-6462-D0C2-D4B03E7E3724}"/>
              </a:ext>
            </a:extLst>
          </p:cNvPr>
          <p:cNvSpPr>
            <a:spLocks noGrp="1"/>
          </p:cNvSpPr>
          <p:nvPr>
            <p:ph type="ctrTitle" sz="quarter"/>
          </p:nvPr>
        </p:nvSpPr>
        <p:spPr/>
        <p:txBody>
          <a:bodyPr/>
          <a:lstStyle/>
          <a:p>
            <a:r>
              <a:rPr lang="en-US" dirty="0"/>
              <a:t>Future Content Work</a:t>
            </a:r>
          </a:p>
        </p:txBody>
      </p:sp>
      <p:sp>
        <p:nvSpPr>
          <p:cNvPr id="3" name="Slide Number Placeholder 2">
            <a:extLst>
              <a:ext uri="{FF2B5EF4-FFF2-40B4-BE49-F238E27FC236}">
                <a16:creationId xmlns:a16="http://schemas.microsoft.com/office/drawing/2014/main" id="{3690D0E1-9DC3-33ED-93AE-012CE0848F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1241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dirty="0"/>
              <a:t>Other Work Items - New Entry Submissions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dirty="0"/>
              <a:t>Delayed / TBD</a:t>
            </a:r>
          </a:p>
          <a:p>
            <a:pPr lvl="1"/>
            <a:r>
              <a:rPr lang="en-US" sz="2000" dirty="0"/>
              <a:t>“Bias in AI Models” (Kurt Seifried) - ES2402-38e20ce6</a:t>
            </a:r>
          </a:p>
          <a:p>
            <a:pPr lvl="1"/>
            <a:r>
              <a:rPr lang="en-US" sz="2000" dirty="0"/>
              <a:t>“Insufficient Input Validation in Generative AI Applications” (Steve / AI WG) - ES2405-84711fc4</a:t>
            </a:r>
          </a:p>
          <a:p>
            <a:pPr lvl="1"/>
            <a:r>
              <a:rPr lang="en-US" sz="2000" dirty="0"/>
              <a:t>New: “Improper Neutralization of Configurations Used for MCP Client” (</a:t>
            </a:r>
            <a:r>
              <a:rPr lang="en-US" sz="2000" dirty="0" err="1"/>
              <a:t>Xinpeng</a:t>
            </a:r>
            <a:r>
              <a:rPr lang="en-US" sz="2000" dirty="0"/>
              <a:t> Liu) ES2506-e3c78a2a </a:t>
            </a:r>
          </a:p>
          <a:p>
            <a:r>
              <a:rPr lang="en-US" sz="2000" dirty="0"/>
              <a:t>New</a:t>
            </a:r>
          </a:p>
          <a:p>
            <a:pPr lvl="1"/>
            <a:r>
              <a:rPr lang="en-US" sz="2000" dirty="0"/>
              <a:t>“Improper Neutralization of Retrieved Content Used in AI Prompt Construction in AI/ML Systems” (Mehmet Yilmaz) - ES2508-e15b0715 / CDR #161</a:t>
            </a:r>
          </a:p>
          <a:p>
            <a:pPr lvl="1"/>
            <a:r>
              <a:rPr lang="en-US" sz="2000" dirty="0"/>
              <a:t>“Inclusion of ANSI escape codes in LLM tokenizer” (Erick Galinkin) - ES2508-95a780e3 / CDR #163</a:t>
            </a:r>
          </a:p>
          <a:p>
            <a:r>
              <a:rPr lang="en-US" sz="2000" dirty="0"/>
              <a:t>Other MITRE work outside of ATLAS (in process)</a:t>
            </a:r>
          </a:p>
          <a:p>
            <a:endParaRPr lang="en-US" dirty="0"/>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AED3-64B9-9F4A-E07C-98DD48B94568}"/>
              </a:ext>
            </a:extLst>
          </p:cNvPr>
          <p:cNvSpPr>
            <a:spLocks noGrp="1"/>
          </p:cNvSpPr>
          <p:nvPr>
            <p:ph type="title"/>
          </p:nvPr>
        </p:nvSpPr>
        <p:spPr/>
        <p:txBody>
          <a:bodyPr/>
          <a:lstStyle/>
          <a:p>
            <a:r>
              <a:rPr lang="en-US" dirty="0"/>
              <a:t>New: “Improper Neutralization of Configurations Used for MCP Client” (</a:t>
            </a:r>
            <a:r>
              <a:rPr lang="en-US" dirty="0" err="1"/>
              <a:t>Xinpeng</a:t>
            </a:r>
            <a:r>
              <a:rPr lang="en-US" dirty="0"/>
              <a:t> Liu) ES2506-e3c78a2a </a:t>
            </a:r>
          </a:p>
        </p:txBody>
      </p:sp>
      <p:sp>
        <p:nvSpPr>
          <p:cNvPr id="3" name="Content Placeholder 2">
            <a:extLst>
              <a:ext uri="{FF2B5EF4-FFF2-40B4-BE49-F238E27FC236}">
                <a16:creationId xmlns:a16="http://schemas.microsoft.com/office/drawing/2014/main" id="{9CA0F585-8488-AE38-3828-8BF5511D450B}"/>
              </a:ext>
            </a:extLst>
          </p:cNvPr>
          <p:cNvSpPr>
            <a:spLocks noGrp="1"/>
          </p:cNvSpPr>
          <p:nvPr>
            <p:ph idx="1"/>
          </p:nvPr>
        </p:nvSpPr>
        <p:spPr/>
        <p:txBody>
          <a:bodyPr/>
          <a:lstStyle/>
          <a:p>
            <a:r>
              <a:rPr lang="en-US" sz="1600" dirty="0"/>
              <a:t>Name: Improper Neutralization of Configurations Used for MCP Client</a:t>
            </a:r>
          </a:p>
          <a:p>
            <a:r>
              <a:rPr lang="en-US" sz="1600" dirty="0"/>
              <a:t>Description:</a:t>
            </a:r>
          </a:p>
          <a:p>
            <a:pPr lvl="1"/>
            <a:r>
              <a:rPr lang="en-US" sz="1600" dirty="0"/>
              <a:t>The product utilizes an AI Agent to generate or modify configuration files within the MCP Client, based on input provided by the MCP Server or prompt that has not been strictly reviewed by the user (e.g. a GitHub repo link or technical blog link containing the modified "vibe-coding" guidance). However, the MCP Client does not properly neutralize special elements when executing the server start command in configuration files, which allows attackers to inject malicious operating system commands. These commands are executed by the system when an arbitrary MCP Server is started, without disrupting the normal server connection, thereby remaining imperceptible to the user.</a:t>
            </a:r>
          </a:p>
          <a:p>
            <a:r>
              <a:rPr lang="en-US" sz="1600" dirty="0"/>
              <a:t>Submitter states this is distinct from CWE-77 (command injection) or CWE-1427 (prompt injection)</a:t>
            </a:r>
          </a:p>
          <a:p>
            <a:r>
              <a:rPr lang="en-US" sz="1600" dirty="0"/>
              <a:t>Consider: CWE-1426: Improper Validation of Generative AI Output</a:t>
            </a:r>
          </a:p>
          <a:p>
            <a:r>
              <a:rPr lang="en-US" sz="1600" dirty="0"/>
              <a:t>Low-level and very “vulnerability topology” specific – not clear it deserves its own CWE</a:t>
            </a:r>
          </a:p>
          <a:p>
            <a:r>
              <a:rPr lang="en-US" sz="1600" dirty="0"/>
              <a:t>… but MCP is all the rage, so there should be some recognizable CWE coverage</a:t>
            </a:r>
          </a:p>
          <a:p>
            <a:r>
              <a:rPr lang="en-US" sz="1600" dirty="0">
                <a:hlinkClick r:id="rId2"/>
              </a:rPr>
              <a:t>https://github.com/CWE-CAPEC/CWE-Content-Development-Repository/issues/158</a:t>
            </a:r>
            <a:endParaRPr lang="en-US" sz="1600" dirty="0"/>
          </a:p>
          <a:p>
            <a:r>
              <a:rPr lang="en-US" sz="1600" dirty="0"/>
              <a:t>https://github.com/CWE-CAPEC/CWE-Content-Development-Repository/blob/main/submissions/ES2506-e3c78a2a-new-improper-neutralization-configurations-used-mcp-client.txt</a:t>
            </a:r>
          </a:p>
        </p:txBody>
      </p:sp>
      <p:sp>
        <p:nvSpPr>
          <p:cNvPr id="4" name="Slide Number Placeholder 3">
            <a:extLst>
              <a:ext uri="{FF2B5EF4-FFF2-40B4-BE49-F238E27FC236}">
                <a16:creationId xmlns:a16="http://schemas.microsoft.com/office/drawing/2014/main" id="{BDDB89B3-A43B-E35D-5853-3F42E429AF9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65866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dirty="0"/>
              <a:t>Delayed: “Bias in AI Models” (Kurt Seifried) - ES2402-38e20ce6</a:t>
            </a:r>
            <a:br>
              <a:rPr lang="en-US" sz="3200" dirty="0"/>
            </a:br>
            <a:endParaRPr lang="en-US" dirty="0"/>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dirty="0"/>
              <a:t>Name: Bias in AI Models</a:t>
            </a:r>
          </a:p>
          <a:p>
            <a:r>
              <a:rPr lang="en-US" sz="2000" dirty="0"/>
              <a:t>Description:</a:t>
            </a:r>
          </a:p>
          <a:p>
            <a:pPr lvl="1"/>
            <a:r>
              <a:rPr lang="en-US" sz="2000" dirty="0"/>
              <a:t>This weakness occurs when an AI model processes inputs so that it systematically and unfairly discriminates against certain groups or individuals based on inherent biases in the training data, model design, or operational context. These biases can manifest in various forms, including but not limited to gender, ethnicity, age, or socioeconomic status, leading to outcomes that perpetuate stereotypes, unfair treatment, or unequal access to benefits and services. The weakness is rooted in failing to adequately identify, mitigate, and monitor biases throughout the AI system's lifecycle, from data collection and model training to deployment and operation.</a:t>
            </a:r>
          </a:p>
          <a:p>
            <a:r>
              <a:rPr lang="en-US" sz="2000" dirty="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dirty="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259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dirty="0"/>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dirty="0"/>
              <a:t>Name: Insufficient Input Validation in Generative AI Applications</a:t>
            </a:r>
          </a:p>
          <a:p>
            <a:r>
              <a:rPr lang="en-US" sz="2000" dirty="0"/>
              <a:t>Description:</a:t>
            </a:r>
          </a:p>
          <a:p>
            <a:pPr lvl="1"/>
            <a:r>
              <a:rPr lang="en-US" sz="2000" dirty="0"/>
              <a:t>The product accepts user inputs for a generative artificial intelligence application, which can modify or bypass the original instructions resulting in an unintended response.</a:t>
            </a:r>
          </a:p>
          <a:p>
            <a:pPr lvl="1"/>
            <a:r>
              <a:rPr lang="en-US" sz="2000" dirty="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dirty="0">
                <a:highlight>
                  <a:srgbClr val="FFFF00"/>
                </a:highlight>
              </a:rPr>
              <a:t>Significant overlap problems </a:t>
            </a:r>
            <a:r>
              <a:rPr lang="en-US" sz="2000" dirty="0"/>
              <a:t>(see “ACTIVE ISSUES” in submission file)</a:t>
            </a:r>
          </a:p>
          <a:p>
            <a:r>
              <a:rPr lang="en-US" sz="2000" dirty="0"/>
              <a:t>Proposal: decline this submission (the submitter won’t mind)</a:t>
            </a:r>
          </a:p>
          <a:p>
            <a:r>
              <a:rPr lang="en-US" sz="2000" dirty="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3026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D1101-7C9F-7495-D56C-1D51522ED7A5}"/>
              </a:ext>
            </a:extLst>
          </p:cNvPr>
          <p:cNvSpPr>
            <a:spLocks noGrp="1"/>
          </p:cNvSpPr>
          <p:nvPr>
            <p:ph type="title"/>
          </p:nvPr>
        </p:nvSpPr>
        <p:spPr/>
        <p:txBody>
          <a:bodyPr/>
          <a:lstStyle/>
          <a:p>
            <a:r>
              <a:rPr lang="en-US" dirty="0"/>
              <a:t>New: Inclusion of ANSI escape codes in LLM tokenizer (Erick Galinkin)</a:t>
            </a:r>
          </a:p>
        </p:txBody>
      </p:sp>
      <p:sp>
        <p:nvSpPr>
          <p:cNvPr id="3" name="Content Placeholder 2">
            <a:extLst>
              <a:ext uri="{FF2B5EF4-FFF2-40B4-BE49-F238E27FC236}">
                <a16:creationId xmlns:a16="http://schemas.microsoft.com/office/drawing/2014/main" id="{DB6A4387-1FE7-CE01-5DE8-DF9417BCDCEC}"/>
              </a:ext>
            </a:extLst>
          </p:cNvPr>
          <p:cNvSpPr>
            <a:spLocks noGrp="1"/>
          </p:cNvSpPr>
          <p:nvPr>
            <p:ph idx="1"/>
          </p:nvPr>
        </p:nvSpPr>
        <p:spPr/>
        <p:txBody>
          <a:bodyPr/>
          <a:lstStyle/>
          <a:p>
            <a:r>
              <a:rPr lang="en-US" sz="2000" dirty="0"/>
              <a:t>ES2508-95a780e3 /  CDR #163</a:t>
            </a:r>
          </a:p>
          <a:p>
            <a:r>
              <a:rPr lang="en-US" sz="2000" dirty="0"/>
              <a:t>Name: Inclusion of ANSI escape codes in LLM tokenizer</a:t>
            </a:r>
          </a:p>
          <a:p>
            <a:r>
              <a:rPr lang="en-US" sz="2000" dirty="0"/>
              <a:t>Description</a:t>
            </a:r>
          </a:p>
          <a:p>
            <a:pPr lvl="1"/>
            <a:r>
              <a:rPr lang="en-US" sz="2000" dirty="0"/>
              <a:t>ANSI escape codes are included in a tokenizer. This can result in the execution of commands if LLM generated text is displayed in a terminal emulator.</a:t>
            </a:r>
          </a:p>
          <a:p>
            <a:r>
              <a:rPr lang="en-US" sz="2000" dirty="0"/>
              <a:t>Extended Description</a:t>
            </a:r>
          </a:p>
          <a:p>
            <a:pPr lvl="1"/>
            <a:r>
              <a:rPr lang="en-US" sz="2000" dirty="0"/>
              <a:t>ANSI escape sequences are a standard for controlling options in text terminals and terminal emulators that embed an escape character into text, which are interpreted as commands instead of text to be displayed. This can result in unexpected command injection (CWE-77).</a:t>
            </a:r>
          </a:p>
          <a:p>
            <a:pPr lvl="1"/>
            <a:r>
              <a:rPr lang="en-US" sz="2000" dirty="0"/>
              <a:t>This impacts tokenizers used with large language models. Since large language models are generally expected to output human-readable text, tokenizers should not contain these escape sequences.</a:t>
            </a:r>
          </a:p>
          <a:p>
            <a:endParaRPr lang="en-US" sz="2000" dirty="0"/>
          </a:p>
          <a:p>
            <a:endParaRPr lang="en-US" sz="2000" dirty="0"/>
          </a:p>
        </p:txBody>
      </p:sp>
      <p:sp>
        <p:nvSpPr>
          <p:cNvPr id="4" name="Slide Number Placeholder 3">
            <a:extLst>
              <a:ext uri="{FF2B5EF4-FFF2-40B4-BE49-F238E27FC236}">
                <a16:creationId xmlns:a16="http://schemas.microsoft.com/office/drawing/2014/main" id="{115BFB50-A020-F1D7-99F6-DB4D0A28442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80666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7491B-8DEB-150A-4BFF-495BCA6DD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D3F36-B417-99B5-0904-35E78CF612D3}"/>
              </a:ext>
            </a:extLst>
          </p:cNvPr>
          <p:cNvSpPr>
            <a:spLocks noGrp="1"/>
          </p:cNvSpPr>
          <p:nvPr>
            <p:ph type="title"/>
          </p:nvPr>
        </p:nvSpPr>
        <p:spPr/>
        <p:txBody>
          <a:bodyPr/>
          <a:lstStyle/>
          <a:p>
            <a:r>
              <a:rPr lang="en-US" dirty="0"/>
              <a:t>Issues: Inclusion of ANSI escape codes in LLM tokenizer (Erick Galinkin)</a:t>
            </a:r>
          </a:p>
        </p:txBody>
      </p:sp>
      <p:sp>
        <p:nvSpPr>
          <p:cNvPr id="3" name="Content Placeholder 2">
            <a:extLst>
              <a:ext uri="{FF2B5EF4-FFF2-40B4-BE49-F238E27FC236}">
                <a16:creationId xmlns:a16="http://schemas.microsoft.com/office/drawing/2014/main" id="{EF251B09-2795-CDF8-DEFA-98E8D21B04C0}"/>
              </a:ext>
            </a:extLst>
          </p:cNvPr>
          <p:cNvSpPr>
            <a:spLocks noGrp="1"/>
          </p:cNvSpPr>
          <p:nvPr>
            <p:ph idx="1"/>
          </p:nvPr>
        </p:nvSpPr>
        <p:spPr/>
        <p:txBody>
          <a:bodyPr/>
          <a:lstStyle/>
          <a:p>
            <a:r>
              <a:rPr lang="en-US" sz="2000" dirty="0"/>
              <a:t>Probably too low-level for its own CWE (SUB.ABS.LOWLEVEL)</a:t>
            </a:r>
          </a:p>
          <a:p>
            <a:pPr lvl="1"/>
            <a:r>
              <a:rPr lang="en-US" sz="2000" dirty="0"/>
              <a:t>Specific types of “escape” codes</a:t>
            </a:r>
          </a:p>
          <a:p>
            <a:pPr lvl="1"/>
            <a:r>
              <a:rPr lang="en-US" sz="2000" dirty="0"/>
              <a:t>LLM tokenizer</a:t>
            </a:r>
          </a:p>
          <a:p>
            <a:r>
              <a:rPr lang="en-US" sz="2000" dirty="0"/>
              <a:t>Overlaps an older submission related to ANSI codes</a:t>
            </a:r>
          </a:p>
          <a:p>
            <a:pPr lvl="1"/>
            <a:r>
              <a:rPr lang="en-US" sz="2000" dirty="0"/>
              <a:t>Improper Neutralization of ANSI Codes ('ANSI Injection’) - Tristan Figueroa-Reid - ES2406-ca98e75f / CDR #112</a:t>
            </a:r>
          </a:p>
          <a:p>
            <a:r>
              <a:rPr lang="en-US" sz="2000" dirty="0"/>
              <a:t>CWE-150 already exists</a:t>
            </a:r>
          </a:p>
          <a:p>
            <a:r>
              <a:rPr lang="en-US" sz="2000" dirty="0"/>
              <a:t>From the older submission review:</a:t>
            </a:r>
          </a:p>
          <a:p>
            <a:pPr lvl="1"/>
            <a:r>
              <a:rPr lang="en-US" sz="2000" dirty="0"/>
              <a:t>“CWE-150, already covers Improper Neutralization of Escape, Meta, or Control Sequences. ASNI codes would be classified as "Control Sequences" which is why it is covered by CWE-150. Given that CWE-150 is already a variant abstraction, the proposed submission is likely to be too low level for a new entry. It may be better suited as a modification of CWE-150.</a:t>
            </a:r>
          </a:p>
          <a:p>
            <a:r>
              <a:rPr lang="en-US" sz="2000" dirty="0"/>
              <a:t>This should be a modification task for CWE-150</a:t>
            </a:r>
          </a:p>
        </p:txBody>
      </p:sp>
      <p:sp>
        <p:nvSpPr>
          <p:cNvPr id="4" name="Slide Number Placeholder 3">
            <a:extLst>
              <a:ext uri="{FF2B5EF4-FFF2-40B4-BE49-F238E27FC236}">
                <a16:creationId xmlns:a16="http://schemas.microsoft.com/office/drawing/2014/main" id="{411664F4-BEF7-0802-2FC5-191404D964A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48564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CF172-E2A3-6D2F-4294-C5E37951695E}"/>
              </a:ext>
            </a:extLst>
          </p:cNvPr>
          <p:cNvSpPr>
            <a:spLocks noGrp="1"/>
          </p:cNvSpPr>
          <p:nvPr>
            <p:ph type="title"/>
          </p:nvPr>
        </p:nvSpPr>
        <p:spPr/>
        <p:txBody>
          <a:bodyPr/>
          <a:lstStyle/>
          <a:p>
            <a:r>
              <a:rPr lang="en-US" dirty="0"/>
              <a:t>New: “Improper Neutralization of Retrieved Content Used in AI Prompt Construction in AI/ML Systems” (Mehmet Yilmaz)</a:t>
            </a:r>
            <a:br>
              <a:rPr lang="en-US" dirty="0"/>
            </a:br>
            <a:endParaRPr lang="en-US" dirty="0"/>
          </a:p>
        </p:txBody>
      </p:sp>
      <p:sp>
        <p:nvSpPr>
          <p:cNvPr id="3" name="Content Placeholder 2">
            <a:extLst>
              <a:ext uri="{FF2B5EF4-FFF2-40B4-BE49-F238E27FC236}">
                <a16:creationId xmlns:a16="http://schemas.microsoft.com/office/drawing/2014/main" id="{BD2D8855-69B0-63EC-B138-745740AF05E0}"/>
              </a:ext>
            </a:extLst>
          </p:cNvPr>
          <p:cNvSpPr>
            <a:spLocks noGrp="1"/>
          </p:cNvSpPr>
          <p:nvPr>
            <p:ph idx="1"/>
          </p:nvPr>
        </p:nvSpPr>
        <p:spPr/>
        <p:txBody>
          <a:bodyPr/>
          <a:lstStyle/>
          <a:p>
            <a:r>
              <a:rPr lang="en-US" sz="2000" dirty="0"/>
              <a:t>ES2508-e15b0715 / CDR #161</a:t>
            </a:r>
          </a:p>
          <a:p>
            <a:r>
              <a:rPr lang="en-US" sz="2000" dirty="0"/>
              <a:t>Description</a:t>
            </a:r>
          </a:p>
          <a:p>
            <a:pPr lvl="1"/>
            <a:r>
              <a:rPr lang="en-US" sz="2000" dirty="0"/>
              <a:t>The system incorporates unvalidated or improperly sanitized input from external sources (e.g., user queries, documents, URLs, or API responses) into prompts sent to large language models via Retrieval-Augmented Generation (RAG) workflows. This can lead to prompt injection, data leakage, or model manipulation, potentially resulting in unauthorized behavior, exposure of sensitive data, or model misuse.</a:t>
            </a:r>
          </a:p>
          <a:p>
            <a:r>
              <a:rPr lang="en-US" sz="2000" dirty="0"/>
              <a:t>Extended Description</a:t>
            </a:r>
          </a:p>
          <a:p>
            <a:pPr lvl="1"/>
            <a:r>
              <a:rPr lang="en-US" sz="2000" dirty="0"/>
              <a:t>RAG systems retrieve context from a vector database or document corpus to supplement LLM prompts. If untrusted or </a:t>
            </a:r>
            <a:r>
              <a:rPr lang="en-US" sz="2000" dirty="0" err="1"/>
              <a:t>adversarially</a:t>
            </a:r>
            <a:r>
              <a:rPr lang="en-US" sz="2000" dirty="0"/>
              <a:t> crafted data is ingested or used without validation, it can embed malicious instructions, hallucinate false information, or coerce the model into unsafe actions. This creates a surface for prompt injection, impersonation, jailbreaks, and denial of service.</a:t>
            </a:r>
          </a:p>
          <a:p>
            <a:pPr lvl="1"/>
            <a:endParaRPr lang="en-US" sz="2000" dirty="0"/>
          </a:p>
        </p:txBody>
      </p:sp>
      <p:sp>
        <p:nvSpPr>
          <p:cNvPr id="4" name="Slide Number Placeholder 3">
            <a:extLst>
              <a:ext uri="{FF2B5EF4-FFF2-40B4-BE49-F238E27FC236}">
                <a16:creationId xmlns:a16="http://schemas.microsoft.com/office/drawing/2014/main" id="{694A8AA6-6100-7C9B-CAFC-6DAD6819E8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02320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59BF-CA3E-CDE3-C060-CB3B092BB8E3}"/>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DF983D4B-9C49-BB2A-4F5A-F0DB2139812B}"/>
              </a:ext>
            </a:extLst>
          </p:cNvPr>
          <p:cNvSpPr>
            <a:spLocks noGrp="1"/>
          </p:cNvSpPr>
          <p:nvPr>
            <p:ph idx="1"/>
          </p:nvPr>
        </p:nvSpPr>
        <p:spPr/>
        <p:txBody>
          <a:bodyPr/>
          <a:lstStyle/>
          <a:p>
            <a:r>
              <a:rPr lang="en-US" dirty="0"/>
              <a:t>CWE doesn’t make separate entries for “where the bad input came from”</a:t>
            </a:r>
          </a:p>
          <a:p>
            <a:pPr lvl="1"/>
            <a:r>
              <a:rPr lang="en-US" dirty="0"/>
              <a:t>Buffer overflows have the same CWE whether it’s client-to-server or server-to-client</a:t>
            </a:r>
          </a:p>
          <a:p>
            <a:pPr lvl="1"/>
            <a:r>
              <a:rPr lang="en-US" dirty="0"/>
              <a:t>Same with XSS and others</a:t>
            </a:r>
          </a:p>
          <a:p>
            <a:r>
              <a:rPr lang="en-US" dirty="0"/>
              <a:t>If the product shouldn’t be using that input AT ALL, then maybe that’s a design issue</a:t>
            </a:r>
          </a:p>
          <a:p>
            <a:endParaRPr lang="en-US" dirty="0"/>
          </a:p>
        </p:txBody>
      </p:sp>
      <p:sp>
        <p:nvSpPr>
          <p:cNvPr id="4" name="Slide Number Placeholder 3">
            <a:extLst>
              <a:ext uri="{FF2B5EF4-FFF2-40B4-BE49-F238E27FC236}">
                <a16:creationId xmlns:a16="http://schemas.microsoft.com/office/drawing/2014/main" id="{20D2A643-72F4-E19D-15A5-2D35A404BD2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91983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9B4FA-A9BB-C560-287B-74DA157A1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E2E97-8808-E69A-32B7-0931DFAA5918}"/>
              </a:ext>
            </a:extLst>
          </p:cNvPr>
          <p:cNvSpPr>
            <a:spLocks noGrp="1"/>
          </p:cNvSpPr>
          <p:nvPr>
            <p:ph type="ctrTitle" sz="quarter"/>
          </p:nvPr>
        </p:nvSpPr>
        <p:spPr/>
        <p:txBody>
          <a:bodyPr/>
          <a:lstStyle/>
          <a:p>
            <a:r>
              <a:rPr lang="en-US" dirty="0"/>
              <a:t>Next Steps</a:t>
            </a:r>
          </a:p>
        </p:txBody>
      </p:sp>
      <p:sp>
        <p:nvSpPr>
          <p:cNvPr id="3" name="Slide Number Placeholder 2">
            <a:extLst>
              <a:ext uri="{FF2B5EF4-FFF2-40B4-BE49-F238E27FC236}">
                <a16:creationId xmlns:a16="http://schemas.microsoft.com/office/drawing/2014/main" id="{5112242D-9694-CFF7-8AC1-9BE7B7D7D32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67930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633AA-2C2D-8939-4026-D51EC14631B3}"/>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8754BE33-23EB-99D2-B3D5-31779558DDA6}"/>
              </a:ext>
            </a:extLst>
          </p:cNvPr>
          <p:cNvSpPr>
            <a:spLocks noGrp="1"/>
          </p:cNvSpPr>
          <p:nvPr>
            <p:ph idx="1"/>
          </p:nvPr>
        </p:nvSpPr>
        <p:spPr/>
        <p:txBody>
          <a:bodyPr/>
          <a:lstStyle/>
          <a:p>
            <a:r>
              <a:rPr lang="en-US" dirty="0"/>
              <a:t>Next Meetings</a:t>
            </a:r>
          </a:p>
          <a:p>
            <a:pPr lvl="1"/>
            <a:r>
              <a:rPr lang="en-US" dirty="0"/>
              <a:t>September 26 (Modifications)</a:t>
            </a:r>
          </a:p>
          <a:p>
            <a:pPr lvl="1"/>
            <a:r>
              <a:rPr lang="en-US" dirty="0"/>
              <a:t>October 10 (New Entries)</a:t>
            </a:r>
          </a:p>
          <a:p>
            <a:r>
              <a:rPr lang="en-US" dirty="0"/>
              <a:t>Decide on triage mechanisms</a:t>
            </a:r>
          </a:p>
          <a:p>
            <a:r>
              <a:rPr lang="en-US" dirty="0"/>
              <a:t>Consider discussion of some submissions in CDR</a:t>
            </a:r>
          </a:p>
          <a:p>
            <a:endParaRPr lang="en-US" dirty="0"/>
          </a:p>
        </p:txBody>
      </p:sp>
      <p:sp>
        <p:nvSpPr>
          <p:cNvPr id="4" name="Slide Number Placeholder 3">
            <a:extLst>
              <a:ext uri="{FF2B5EF4-FFF2-40B4-BE49-F238E27FC236}">
                <a16:creationId xmlns:a16="http://schemas.microsoft.com/office/drawing/2014/main" id="{61289C8C-1EDE-4F9B-30D2-7DB07A4AB0E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29228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96B57-A56D-31FB-AC80-914A9ABE0E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6E8D5-1660-CA57-6D3B-70493948D6D6}"/>
              </a:ext>
            </a:extLst>
          </p:cNvPr>
          <p:cNvSpPr>
            <a:spLocks noGrp="1"/>
          </p:cNvSpPr>
          <p:nvPr>
            <p:ph type="ctrTitle" sz="quarter"/>
          </p:nvPr>
        </p:nvSpPr>
        <p:spPr/>
        <p:txBody>
          <a:bodyPr/>
          <a:lstStyle/>
          <a:p>
            <a:r>
              <a:rPr lang="en-US" dirty="0"/>
              <a:t>Backup / Older Slides</a:t>
            </a:r>
          </a:p>
        </p:txBody>
      </p:sp>
      <p:sp>
        <p:nvSpPr>
          <p:cNvPr id="3" name="Slide Number Placeholder 2">
            <a:extLst>
              <a:ext uri="{FF2B5EF4-FFF2-40B4-BE49-F238E27FC236}">
                <a16:creationId xmlns:a16="http://schemas.microsoft.com/office/drawing/2014/main" id="{5C231835-8951-8FFF-8E69-8C80BCD473E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01077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12E9-CEAB-80AE-6228-9C68DCAADA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A58702-2FFC-D299-81C3-12838852F42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672A58D-16A5-AA89-8D58-D4A0EF989A1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56882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6B19-0A20-F587-0605-DB837E09C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2CE89-1F0E-C02D-B140-B03903620F3C}"/>
              </a:ext>
            </a:extLst>
          </p:cNvPr>
          <p:cNvSpPr>
            <a:spLocks noGrp="1"/>
          </p:cNvSpPr>
          <p:nvPr>
            <p:ph type="ctrTitle" sz="quarter"/>
          </p:nvPr>
        </p:nvSpPr>
        <p:spPr/>
        <p:txBody>
          <a:bodyPr/>
          <a:lstStyle/>
          <a:p>
            <a:r>
              <a:rPr lang="en-US" dirty="0"/>
              <a:t>New Entry Development:</a:t>
            </a:r>
            <a:br>
              <a:rPr lang="en-US" dirty="0"/>
            </a:br>
            <a:r>
              <a:rPr lang="en-US" dirty="0"/>
              <a:t>ES2406-9e5fcf10: Insecure Setting of Generative AI/ML Model Inference Parameters </a:t>
            </a:r>
          </a:p>
        </p:txBody>
      </p:sp>
      <p:sp>
        <p:nvSpPr>
          <p:cNvPr id="3" name="Slide Number Placeholder 2">
            <a:extLst>
              <a:ext uri="{FF2B5EF4-FFF2-40B4-BE49-F238E27FC236}">
                <a16:creationId xmlns:a16="http://schemas.microsoft.com/office/drawing/2014/main" id="{04815683-4C0E-202A-8CAE-18224A6BE3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221903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5A9D-CA78-EE9B-F409-CD4F59410820}"/>
              </a:ext>
            </a:extLst>
          </p:cNvPr>
          <p:cNvSpPr>
            <a:spLocks noGrp="1"/>
          </p:cNvSpPr>
          <p:nvPr>
            <p:ph type="title"/>
          </p:nvPr>
        </p:nvSpPr>
        <p:spPr/>
        <p:txBody>
          <a:bodyPr/>
          <a:lstStyle/>
          <a:p>
            <a:r>
              <a:rPr lang="en-US" dirty="0"/>
              <a:t>ES2406-9e5fcf10 Status</a:t>
            </a:r>
          </a:p>
        </p:txBody>
      </p:sp>
      <p:sp>
        <p:nvSpPr>
          <p:cNvPr id="3" name="Content Placeholder 2">
            <a:extLst>
              <a:ext uri="{FF2B5EF4-FFF2-40B4-BE49-F238E27FC236}">
                <a16:creationId xmlns:a16="http://schemas.microsoft.com/office/drawing/2014/main" id="{5F34ED3C-1922-1677-B432-4CE04C52EF75}"/>
              </a:ext>
            </a:extLst>
          </p:cNvPr>
          <p:cNvSpPr>
            <a:spLocks noGrp="1"/>
          </p:cNvSpPr>
          <p:nvPr>
            <p:ph idx="1"/>
          </p:nvPr>
        </p:nvSpPr>
        <p:spPr/>
        <p:txBody>
          <a:bodyPr/>
          <a:lstStyle/>
          <a:p>
            <a:r>
              <a:rPr lang="en-US" dirty="0"/>
              <a:t>(ASAP – MITRE) Need to enter all data from previous meetings into raw submission file</a:t>
            </a:r>
          </a:p>
          <a:p>
            <a:r>
              <a:rPr lang="en-US" dirty="0"/>
              <a:t>Finished developing a demonstrative example</a:t>
            </a:r>
          </a:p>
          <a:p>
            <a:r>
              <a:rPr lang="en-US" dirty="0"/>
              <a:t>CWE assignment to happen in the next 2 weeks</a:t>
            </a:r>
          </a:p>
          <a:p>
            <a:r>
              <a:rPr lang="en-US" dirty="0"/>
              <a:t>(Online) Final review by WG members</a:t>
            </a:r>
          </a:p>
          <a:p>
            <a:endParaRPr lang="en-US" dirty="0"/>
          </a:p>
        </p:txBody>
      </p:sp>
      <p:sp>
        <p:nvSpPr>
          <p:cNvPr id="4" name="Slide Number Placeholder 3">
            <a:extLst>
              <a:ext uri="{FF2B5EF4-FFF2-40B4-BE49-F238E27FC236}">
                <a16:creationId xmlns:a16="http://schemas.microsoft.com/office/drawing/2014/main" id="{04DA8576-9683-471E-C39E-EF20E62D72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48006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B18C4-83FC-1303-CF27-D644652D5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50F8F-793D-594E-8071-F60457F47E97}"/>
              </a:ext>
            </a:extLst>
          </p:cNvPr>
          <p:cNvSpPr>
            <a:spLocks noGrp="1"/>
          </p:cNvSpPr>
          <p:nvPr>
            <p:ph type="title"/>
          </p:nvPr>
        </p:nvSpPr>
        <p:spPr/>
        <p:txBody>
          <a:bodyPr/>
          <a:lstStyle/>
          <a:p>
            <a:r>
              <a:rPr lang="en-US" dirty="0"/>
              <a:t>ES2406-9e5fcf10 – Basic Details</a:t>
            </a:r>
          </a:p>
        </p:txBody>
      </p:sp>
      <p:sp>
        <p:nvSpPr>
          <p:cNvPr id="3" name="Content Placeholder 2">
            <a:extLst>
              <a:ext uri="{FF2B5EF4-FFF2-40B4-BE49-F238E27FC236}">
                <a16:creationId xmlns:a16="http://schemas.microsoft.com/office/drawing/2014/main" id="{F8D36B04-5ABA-7835-4F4F-ECB15F273B98}"/>
              </a:ext>
            </a:extLst>
          </p:cNvPr>
          <p:cNvSpPr>
            <a:spLocks noGrp="1"/>
          </p:cNvSpPr>
          <p:nvPr>
            <p:ph idx="1"/>
          </p:nvPr>
        </p:nvSpPr>
        <p:spPr/>
        <p:txBody>
          <a:bodyPr/>
          <a:lstStyle/>
          <a:p>
            <a:r>
              <a:rPr lang="en-US" sz="2000" dirty="0"/>
              <a:t>NAME: Insecure Setting of Generative AI/ML Model Inference Parameters</a:t>
            </a:r>
          </a:p>
          <a:p>
            <a:r>
              <a:rPr lang="en-US" sz="2000" dirty="0"/>
              <a:t>SUMMARY:</a:t>
            </a:r>
          </a:p>
          <a:p>
            <a:pPr lvl="1"/>
            <a:r>
              <a:rPr lang="en-US" sz="2000" dirty="0"/>
              <a:t>The product has a component that relies on a generative AI/ML model, but the model is configured with incorrect inference parameters that produce excessive erroneous or unexpected outputs that violate the intended security policy.</a:t>
            </a:r>
          </a:p>
          <a:p>
            <a:r>
              <a:rPr lang="en-US" sz="2000" dirty="0"/>
              <a:t>To do: </a:t>
            </a:r>
            <a:r>
              <a:rPr lang="en-US" sz="2000" dirty="0">
                <a:solidFill>
                  <a:srgbClr val="FF0000"/>
                </a:solidFill>
              </a:rPr>
              <a:t>** Add the notion that this cannot be avoided – there’s always a chance; the weakness is then the chance is higher than the intended “risk tolerance” **</a:t>
            </a:r>
          </a:p>
          <a:p>
            <a:pPr lvl="1"/>
            <a:r>
              <a:rPr lang="en-US" sz="2000" dirty="0"/>
              <a:t>Could address with effectiveness notes in mitigations</a:t>
            </a:r>
          </a:p>
          <a:p>
            <a:pPr lvl="1"/>
            <a:r>
              <a:rPr lang="en-US" sz="2000" dirty="0"/>
              <a:t>Since it’s such a key point that behavior is not as directly controllable as with written code, it might be reasonable to have a sentence or two in the extended description</a:t>
            </a:r>
          </a:p>
          <a:p>
            <a:endParaRPr lang="en-US" sz="2000" dirty="0"/>
          </a:p>
        </p:txBody>
      </p:sp>
      <p:sp>
        <p:nvSpPr>
          <p:cNvPr id="4" name="Slide Number Placeholder 3">
            <a:extLst>
              <a:ext uri="{FF2B5EF4-FFF2-40B4-BE49-F238E27FC236}">
                <a16:creationId xmlns:a16="http://schemas.microsoft.com/office/drawing/2014/main" id="{F18B8835-5A27-6FAF-A575-2E68CD483D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140354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DAF7D-739D-0444-5C75-8CA104308DE2}"/>
              </a:ext>
            </a:extLst>
          </p:cNvPr>
          <p:cNvSpPr>
            <a:spLocks noGrp="1"/>
          </p:cNvSpPr>
          <p:nvPr>
            <p:ph type="title"/>
          </p:nvPr>
        </p:nvSpPr>
        <p:spPr/>
        <p:txBody>
          <a:bodyPr/>
          <a:lstStyle/>
          <a:p>
            <a:r>
              <a:rPr lang="en-US" dirty="0"/>
              <a:t>Desc Alt Proposals</a:t>
            </a:r>
          </a:p>
        </p:txBody>
      </p:sp>
      <p:sp>
        <p:nvSpPr>
          <p:cNvPr id="3" name="Content Placeholder 2">
            <a:extLst>
              <a:ext uri="{FF2B5EF4-FFF2-40B4-BE49-F238E27FC236}">
                <a16:creationId xmlns:a16="http://schemas.microsoft.com/office/drawing/2014/main" id="{FE80EE7D-31E5-1796-3CB1-C76D1E665662}"/>
              </a:ext>
            </a:extLst>
          </p:cNvPr>
          <p:cNvSpPr>
            <a:spLocks noGrp="1"/>
          </p:cNvSpPr>
          <p:nvPr>
            <p:ph idx="1"/>
          </p:nvPr>
        </p:nvSpPr>
        <p:spPr/>
        <p:txBody>
          <a:bodyPr/>
          <a:lstStyle/>
          <a:p>
            <a:r>
              <a:rPr lang="en-US" sz="2000" dirty="0"/>
              <a:t>V1 “The product has a component that relies on a generative AI/ML model, but the model is configured with inference parameters that produce erroneous or unexpected outputs that violate the intended security policy at a higher rate than expected from that component.”</a:t>
            </a:r>
          </a:p>
          <a:p>
            <a:r>
              <a:rPr lang="en-US" sz="2000" dirty="0"/>
              <a:t>Concerns: “security policy” phrasing</a:t>
            </a:r>
          </a:p>
          <a:p>
            <a:r>
              <a:rPr lang="en-US" sz="2000" dirty="0"/>
              <a:t>V2 “The product has a component that relies on a generative AI/ML model, but the model is configured with inference parameters that produce erroneous or unexpected outputs that exceeds the rate of security policy violation expected from that component.”</a:t>
            </a:r>
          </a:p>
          <a:p>
            <a:r>
              <a:rPr lang="en-US" sz="2000" dirty="0"/>
              <a:t>V3: The product has a component that relies on a generative AI/ML model configured with inference parameters that produce an unexpectedly high rate of erroneous or unexpected outputs.</a:t>
            </a:r>
          </a:p>
          <a:p>
            <a:endParaRPr lang="en-US" sz="2000" dirty="0"/>
          </a:p>
        </p:txBody>
      </p:sp>
      <p:sp>
        <p:nvSpPr>
          <p:cNvPr id="4" name="Slide Number Placeholder 3">
            <a:extLst>
              <a:ext uri="{FF2B5EF4-FFF2-40B4-BE49-F238E27FC236}">
                <a16:creationId xmlns:a16="http://schemas.microsoft.com/office/drawing/2014/main" id="{C4E64AD8-80B6-4695-D08B-72DCE7680F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140563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dirty="0"/>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dirty="0"/>
              <a:t>Goal: theoretical educational examples</a:t>
            </a:r>
          </a:p>
          <a:p>
            <a:r>
              <a:rPr lang="en-US" dirty="0"/>
              <a:t>Most discussion can happen on CDR</a:t>
            </a:r>
          </a:p>
          <a:p>
            <a:r>
              <a:rPr lang="en-US" dirty="0"/>
              <a:t>Any suggestions for kinds of scenarios to develop?</a:t>
            </a:r>
          </a:p>
          <a:p>
            <a:endParaRPr lang="en-US" dirty="0"/>
          </a:p>
          <a:p>
            <a:r>
              <a:rPr lang="en-US" dirty="0"/>
              <a:t>3 scenarios so far:</a:t>
            </a:r>
          </a:p>
          <a:p>
            <a:pPr lvl="1"/>
            <a:r>
              <a:rPr lang="en-US" dirty="0"/>
              <a:t>robotic/drone control using an LLM</a:t>
            </a:r>
          </a:p>
          <a:p>
            <a:pPr lvl="1"/>
            <a:r>
              <a:rPr lang="en-US" dirty="0" err="1"/>
              <a:t>json</a:t>
            </a:r>
            <a:r>
              <a:rPr lang="en-US" dirty="0"/>
              <a:t> formatting not being correct</a:t>
            </a:r>
          </a:p>
          <a:p>
            <a:pPr lvl="1"/>
            <a:r>
              <a:rPr lang="en-US" dirty="0"/>
              <a:t>package hallucination example</a:t>
            </a:r>
          </a:p>
          <a:p>
            <a:r>
              <a:rPr lang="en-US" dirty="0"/>
              <a:t>How can we show clear security implications?</a:t>
            </a:r>
          </a:p>
          <a:p>
            <a:endParaRPr lang="en-US"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7461933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935A4-98B3-51F9-4014-C67BBAD6D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97EAA-66E6-0893-6F5F-C6B593E2C768}"/>
              </a:ext>
            </a:extLst>
          </p:cNvPr>
          <p:cNvSpPr>
            <a:spLocks noGrp="1"/>
          </p:cNvSpPr>
          <p:nvPr>
            <p:ph type="title"/>
          </p:nvPr>
        </p:nvSpPr>
        <p:spPr/>
        <p:txBody>
          <a:bodyPr/>
          <a:lstStyle/>
          <a:p>
            <a:r>
              <a:rPr lang="en-US" dirty="0"/>
              <a:t>Reminder: Demonstrative example structure</a:t>
            </a:r>
          </a:p>
        </p:txBody>
      </p:sp>
      <p:sp>
        <p:nvSpPr>
          <p:cNvPr id="3" name="Content Placeholder 2">
            <a:extLst>
              <a:ext uri="{FF2B5EF4-FFF2-40B4-BE49-F238E27FC236}">
                <a16:creationId xmlns:a16="http://schemas.microsoft.com/office/drawing/2014/main" id="{50B90FC3-D31F-12FA-11F4-4BFCB61C5AB4}"/>
              </a:ext>
            </a:extLst>
          </p:cNvPr>
          <p:cNvSpPr>
            <a:spLocks noGrp="1"/>
          </p:cNvSpPr>
          <p:nvPr>
            <p:ph idx="1"/>
          </p:nvPr>
        </p:nvSpPr>
        <p:spPr/>
        <p:txBody>
          <a:bodyPr>
            <a:normAutofit fontScale="92500" lnSpcReduction="10000"/>
          </a:bodyPr>
          <a:lstStyle/>
          <a:p>
            <a:r>
              <a:rPr lang="en-US" dirty="0"/>
              <a:t>Introductory text – basic free-form text describing what the developer is trying to do</a:t>
            </a:r>
            <a:endParaRPr lang="en-US" dirty="0">
              <a:solidFill>
                <a:srgbClr val="FF0000"/>
              </a:solidFill>
            </a:endParaRPr>
          </a:p>
          <a:p>
            <a:endParaRPr lang="en-US" dirty="0">
              <a:solidFill>
                <a:srgbClr val="FF0000"/>
              </a:solidFill>
            </a:endParaRPr>
          </a:p>
          <a:p>
            <a:r>
              <a:rPr lang="en-US" dirty="0"/>
              <a:t>“Bad” code – design or code that contains the target weakness</a:t>
            </a:r>
          </a:p>
          <a:p>
            <a:endParaRPr lang="en-US" dirty="0">
              <a:solidFill>
                <a:srgbClr val="FF0000"/>
              </a:solidFill>
            </a:endParaRPr>
          </a:p>
          <a:p>
            <a:r>
              <a:rPr lang="en-US" dirty="0"/>
              <a:t>Explanation of the weakness – free-form text to explain to the reader where the weakness is located and why it’s important</a:t>
            </a:r>
            <a:endParaRPr lang="en-US" dirty="0">
              <a:solidFill>
                <a:srgbClr val="FF0000"/>
              </a:solidFill>
            </a:endParaRPr>
          </a:p>
          <a:p>
            <a:endParaRPr lang="en-US" dirty="0">
              <a:solidFill>
                <a:srgbClr val="FF0000"/>
              </a:solidFill>
            </a:endParaRPr>
          </a:p>
          <a:p>
            <a:r>
              <a:rPr lang="en-US" dirty="0"/>
              <a:t>(optional) how the weakness is attacked/exploited – provides one or more specific attack examples, e.g. the attack string, and how the weakness is exploited</a:t>
            </a:r>
            <a:endParaRPr lang="en-US" dirty="0">
              <a:solidFill>
                <a:srgbClr val="FF0000"/>
              </a:solidFill>
            </a:endParaRPr>
          </a:p>
          <a:p>
            <a:endParaRPr lang="en-US" dirty="0">
              <a:solidFill>
                <a:srgbClr val="FF0000"/>
              </a:solidFill>
            </a:endParaRPr>
          </a:p>
          <a:p>
            <a:r>
              <a:rPr lang="en-US" dirty="0"/>
              <a:t>“Good” code – changes to the “Bad” code/design that fix the weakness</a:t>
            </a:r>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0372B3FC-7A0E-EFC8-AA01-DA9DAE3DBA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57588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C3651-8FEE-32AD-0CDF-E7FAFF635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18D72-E9BB-62A2-AEA7-4DB8092CE81E}"/>
              </a:ext>
            </a:extLst>
          </p:cNvPr>
          <p:cNvSpPr>
            <a:spLocks noGrp="1"/>
          </p:cNvSpPr>
          <p:nvPr>
            <p:ph type="title"/>
          </p:nvPr>
        </p:nvSpPr>
        <p:spPr/>
        <p:txBody>
          <a:bodyPr/>
          <a:lstStyle/>
          <a:p>
            <a:r>
              <a:rPr lang="en-US" dirty="0"/>
              <a:t>Demonstrative Example 3 – Introductory Text</a:t>
            </a:r>
          </a:p>
        </p:txBody>
      </p:sp>
      <p:sp>
        <p:nvSpPr>
          <p:cNvPr id="3" name="Content Placeholder 2">
            <a:extLst>
              <a:ext uri="{FF2B5EF4-FFF2-40B4-BE49-F238E27FC236}">
                <a16:creationId xmlns:a16="http://schemas.microsoft.com/office/drawing/2014/main" id="{ED01B37D-F7F7-0CB9-CC8B-17C1ED88F0E5}"/>
              </a:ext>
            </a:extLst>
          </p:cNvPr>
          <p:cNvSpPr>
            <a:spLocks noGrp="1"/>
          </p:cNvSpPr>
          <p:nvPr>
            <p:ph idx="1"/>
          </p:nvPr>
        </p:nvSpPr>
        <p:spPr/>
        <p:txBody>
          <a:bodyPr/>
          <a:lstStyle/>
          <a:p>
            <a:r>
              <a:rPr lang="en-US" sz="1600" dirty="0"/>
              <a:t>Introductory text: </a:t>
            </a:r>
            <a:r>
              <a:rPr lang="en-US" sz="1600" dirty="0">
                <a:solidFill>
                  <a:srgbClr val="FF0000"/>
                </a:solidFill>
              </a:rPr>
              <a:t>The product provides an AI assistant to help users to write code. The product has Windsurf/Cursor with an IDE integrated. Assume the model has been trained correctly.</a:t>
            </a:r>
          </a:p>
          <a:p>
            <a:pPr lvl="1"/>
            <a:r>
              <a:rPr lang="en-US" sz="1600" dirty="0"/>
              <a:t>Should we use a generic term for Windsurf/Cursor?</a:t>
            </a:r>
          </a:p>
          <a:p>
            <a:pPr lvl="2"/>
            <a:r>
              <a:rPr lang="en-US" sz="1600" dirty="0"/>
              <a:t>“uses an AI-assisted Integrated Development Environment (IDE)”</a:t>
            </a:r>
          </a:p>
          <a:p>
            <a:pPr lvl="2"/>
            <a:r>
              <a:rPr lang="en-US" sz="1600" dirty="0"/>
              <a:t>“AI coding assistant”</a:t>
            </a:r>
          </a:p>
          <a:p>
            <a:pPr lvl="1"/>
            <a:r>
              <a:rPr lang="en-US" sz="1600" dirty="0"/>
              <a:t>What would “trained correctly” mean? (“behaves normally under its default temperature” – also see chat for many other recommendations)</a:t>
            </a:r>
          </a:p>
          <a:p>
            <a:r>
              <a:rPr lang="en-US" sz="1600" dirty="0"/>
              <a:t>What’s the activity to support?</a:t>
            </a:r>
          </a:p>
          <a:p>
            <a:pPr lvl="1"/>
            <a:r>
              <a:rPr lang="en-US" sz="1600" dirty="0"/>
              <a:t>Having it write code that interacts with a product (should be caught during basic debugging/test)</a:t>
            </a:r>
          </a:p>
          <a:p>
            <a:pPr lvl="1"/>
            <a:r>
              <a:rPr lang="en-US" sz="1600" b="1" dirty="0"/>
              <a:t>Or as you’re writing code, it makes suggestions for libraries to import</a:t>
            </a:r>
            <a:r>
              <a:rPr lang="en-US" sz="1600" dirty="0"/>
              <a:t>. E.g., if importing pandas, auto-suggestions of </a:t>
            </a:r>
            <a:r>
              <a:rPr lang="en-US" sz="1600" dirty="0" err="1"/>
              <a:t>numPy</a:t>
            </a:r>
            <a:endParaRPr lang="en-US" sz="1600" dirty="0"/>
          </a:p>
          <a:p>
            <a:r>
              <a:rPr lang="en-US" sz="1600" dirty="0"/>
              <a:t>For simplicity, maybe assume a particular programming language?</a:t>
            </a:r>
          </a:p>
          <a:p>
            <a:pPr lvl="1"/>
            <a:r>
              <a:rPr lang="en-US" sz="1600" dirty="0"/>
              <a:t>Language should be understandable to many users (i.e. popular)</a:t>
            </a:r>
          </a:p>
          <a:p>
            <a:pPr lvl="1"/>
            <a:r>
              <a:rPr lang="en-US" sz="1600" dirty="0"/>
              <a:t>Should have well-known package-management frameworks / ecosystems</a:t>
            </a:r>
          </a:p>
          <a:p>
            <a:pPr lvl="2"/>
            <a:r>
              <a:rPr lang="en-US" sz="1600" dirty="0"/>
              <a:t>Python example – centralized repositories where people can introduce their own packages</a:t>
            </a:r>
          </a:p>
          <a:p>
            <a:endParaRPr lang="en-US" sz="1600" dirty="0"/>
          </a:p>
        </p:txBody>
      </p:sp>
      <p:sp>
        <p:nvSpPr>
          <p:cNvPr id="4" name="Slide Number Placeholder 3">
            <a:extLst>
              <a:ext uri="{FF2B5EF4-FFF2-40B4-BE49-F238E27FC236}">
                <a16:creationId xmlns:a16="http://schemas.microsoft.com/office/drawing/2014/main" id="{3FDC2628-EFE9-1335-1AFF-52F5D2D038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998743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21EDA-B547-7A11-2BAD-8737B7481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6BDFCD-99C7-1277-36DA-8944BA76BA2C}"/>
              </a:ext>
            </a:extLst>
          </p:cNvPr>
          <p:cNvSpPr>
            <a:spLocks noGrp="1"/>
          </p:cNvSpPr>
          <p:nvPr>
            <p:ph type="title"/>
          </p:nvPr>
        </p:nvSpPr>
        <p:spPr/>
        <p:txBody>
          <a:bodyPr/>
          <a:lstStyle/>
          <a:p>
            <a:r>
              <a:rPr lang="en-US" dirty="0"/>
              <a:t>Demonstrative Example 3 – “Bad” Code</a:t>
            </a:r>
          </a:p>
        </p:txBody>
      </p:sp>
      <p:sp>
        <p:nvSpPr>
          <p:cNvPr id="3" name="Content Placeholder 2">
            <a:extLst>
              <a:ext uri="{FF2B5EF4-FFF2-40B4-BE49-F238E27FC236}">
                <a16:creationId xmlns:a16="http://schemas.microsoft.com/office/drawing/2014/main" id="{CA36D1BF-7D3D-6447-3619-3E65D5097E81}"/>
              </a:ext>
            </a:extLst>
          </p:cNvPr>
          <p:cNvSpPr>
            <a:spLocks noGrp="1"/>
          </p:cNvSpPr>
          <p:nvPr>
            <p:ph idx="1"/>
          </p:nvPr>
        </p:nvSpPr>
        <p:spPr/>
        <p:txBody>
          <a:bodyPr/>
          <a:lstStyle/>
          <a:p>
            <a:r>
              <a:rPr lang="en-US" sz="1800" dirty="0"/>
              <a:t>(background: package hallucination)</a:t>
            </a:r>
          </a:p>
          <a:p>
            <a:pPr lvl="1"/>
            <a:r>
              <a:rPr lang="en-US" sz="1800" dirty="0"/>
              <a:t>Making example more realistic: might hallucinate most when dealing with uncommon data sources / APIs that aren’t part of the training data.</a:t>
            </a:r>
          </a:p>
          <a:p>
            <a:r>
              <a:rPr lang="en-US" sz="1800" dirty="0"/>
              <a:t>&lt;sample config file&gt;</a:t>
            </a:r>
          </a:p>
          <a:p>
            <a:pPr lvl="1"/>
            <a:r>
              <a:rPr lang="en-US" sz="1800" dirty="0"/>
              <a:t>Can we generically specify a particular model?</a:t>
            </a:r>
          </a:p>
          <a:p>
            <a:pPr lvl="2"/>
            <a:r>
              <a:rPr lang="en-US" sz="1800" dirty="0"/>
              <a:t>(use </a:t>
            </a:r>
            <a:r>
              <a:rPr lang="en-US" sz="1800" dirty="0" err="1"/>
              <a:t>openai</a:t>
            </a:r>
            <a:r>
              <a:rPr lang="en-US" sz="1800" dirty="0"/>
              <a:t> spec that can work with a variety of model types)</a:t>
            </a:r>
          </a:p>
          <a:p>
            <a:pPr lvl="2"/>
            <a:r>
              <a:rPr lang="en-US" sz="1800" dirty="0"/>
              <a:t>Genericize model name e.g. “your-model-here”</a:t>
            </a:r>
          </a:p>
          <a:p>
            <a:pPr lvl="1"/>
            <a:r>
              <a:rPr lang="en-US" sz="1800" u="sng" dirty="0"/>
              <a:t>Temperature is set too high</a:t>
            </a:r>
          </a:p>
          <a:p>
            <a:pPr lvl="2"/>
            <a:r>
              <a:rPr lang="en-US" sz="1800" dirty="0"/>
              <a:t>(if we rely on </a:t>
            </a:r>
            <a:r>
              <a:rPr lang="en-US" sz="1800" dirty="0" err="1"/>
              <a:t>openai</a:t>
            </a:r>
            <a:r>
              <a:rPr lang="en-US" sz="1800" dirty="0"/>
              <a:t> spec, the max temperature is 2, and default for most is 1 – setting to 1.8 might be useful)</a:t>
            </a:r>
          </a:p>
          <a:p>
            <a:pPr lvl="1"/>
            <a:r>
              <a:rPr lang="en-US" sz="1800" dirty="0"/>
              <a:t>Is temperature always required to be specified?</a:t>
            </a:r>
          </a:p>
          <a:p>
            <a:pPr lvl="2"/>
            <a:r>
              <a:rPr lang="en-US" sz="1800" dirty="0"/>
              <a:t>If not: might be helpful to have a higher-than-hoped default temperature</a:t>
            </a:r>
          </a:p>
          <a:p>
            <a:r>
              <a:rPr lang="en-US" sz="1800" dirty="0"/>
              <a:t>Show short code snippets performing the suggestion</a:t>
            </a:r>
            <a:endParaRPr lang="en-US" sz="1800" dirty="0">
              <a:solidFill>
                <a:srgbClr val="FF0000"/>
              </a:solidFill>
            </a:endParaRPr>
          </a:p>
          <a:p>
            <a:r>
              <a:rPr lang="en-US" sz="1800" dirty="0"/>
              <a:t>Garak example: - </a:t>
            </a:r>
            <a:r>
              <a:rPr lang="en-US" sz="1800" b="0" dirty="0">
                <a:solidFill>
                  <a:srgbClr val="FF0000"/>
                </a:solidFill>
              </a:rPr>
              <a:t>Erick can pull some inputs and outputs from previous Garak run, e.g. import of an SDO package that doesn’t exist </a:t>
            </a:r>
            <a:r>
              <a:rPr lang="en-US" sz="1800" dirty="0"/>
              <a:t>https://github.com/NVIDIA/garak/blob/main/garak/probes/packagehallucination.py </a:t>
            </a:r>
          </a:p>
          <a:p>
            <a:endParaRPr lang="en-US" sz="1800" dirty="0"/>
          </a:p>
        </p:txBody>
      </p:sp>
      <p:sp>
        <p:nvSpPr>
          <p:cNvPr id="4" name="Slide Number Placeholder 3">
            <a:extLst>
              <a:ext uri="{FF2B5EF4-FFF2-40B4-BE49-F238E27FC236}">
                <a16:creationId xmlns:a16="http://schemas.microsoft.com/office/drawing/2014/main" id="{53DFC348-B4AC-89C1-A2E5-BA2ABF54CD7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051094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155B6-7C65-8AD8-D757-D77058F45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C22BD-61AB-0585-A6A0-C03ACEDA66EF}"/>
              </a:ext>
            </a:extLst>
          </p:cNvPr>
          <p:cNvSpPr>
            <a:spLocks noGrp="1"/>
          </p:cNvSpPr>
          <p:nvPr>
            <p:ph type="title"/>
          </p:nvPr>
        </p:nvSpPr>
        <p:spPr/>
        <p:txBody>
          <a:bodyPr/>
          <a:lstStyle/>
          <a:p>
            <a:r>
              <a:rPr lang="en-US" dirty="0"/>
              <a:t>Demonstrative example – 3 – Weakness Explanation</a:t>
            </a:r>
          </a:p>
        </p:txBody>
      </p:sp>
      <p:sp>
        <p:nvSpPr>
          <p:cNvPr id="3" name="Content Placeholder 2">
            <a:extLst>
              <a:ext uri="{FF2B5EF4-FFF2-40B4-BE49-F238E27FC236}">
                <a16:creationId xmlns:a16="http://schemas.microsoft.com/office/drawing/2014/main" id="{A331AA16-2369-4B43-DF38-B7BAB8CD25AB}"/>
              </a:ext>
            </a:extLst>
          </p:cNvPr>
          <p:cNvSpPr>
            <a:spLocks noGrp="1"/>
          </p:cNvSpPr>
          <p:nvPr>
            <p:ph idx="1"/>
          </p:nvPr>
        </p:nvSpPr>
        <p:spPr/>
        <p:txBody>
          <a:bodyPr/>
          <a:lstStyle/>
          <a:p>
            <a:r>
              <a:rPr lang="en-US" sz="2000" dirty="0"/>
              <a:t>Explanation of the weakness</a:t>
            </a:r>
          </a:p>
          <a:p>
            <a:pPr lvl="1"/>
            <a:r>
              <a:rPr lang="en-US" sz="2000" dirty="0"/>
              <a:t>“The problem is that the configuration contains a high temperature hyperparameter. This significantly increases the likelihood that the LLM will suggest a package that did not exist at training time, a behavior sometimes referred to as “package hallucination.”</a:t>
            </a:r>
          </a:p>
          <a:p>
            <a:pPr lvl="1"/>
            <a:r>
              <a:rPr lang="en-US" sz="2000" dirty="0"/>
              <a:t>“An adversary could anticipate which package names could be generated and create a malicious package. For example, it has been observed that the same LLM might hallucinate the same package regularly. Any code that is generated by the LLM, when run by the user, would download and execute the malicious package. This is similar to </a:t>
            </a:r>
            <a:r>
              <a:rPr lang="en-US" sz="2000" dirty="0" err="1"/>
              <a:t>typosquatting</a:t>
            </a:r>
            <a:r>
              <a:rPr lang="en-US" sz="2000" dirty="0"/>
              <a:t>.”</a:t>
            </a:r>
          </a:p>
          <a:p>
            <a:pPr lvl="1"/>
            <a:r>
              <a:rPr lang="en-US" sz="2000" dirty="0">
                <a:solidFill>
                  <a:srgbClr val="FF0000"/>
                </a:solidFill>
              </a:rPr>
              <a:t>Update desc to ensure that other possible behaviors could arise from higher temperature, not just package hallucination</a:t>
            </a:r>
          </a:p>
          <a:p>
            <a:pPr lvl="1"/>
            <a:r>
              <a:rPr lang="en-US" sz="2000" dirty="0">
                <a:solidFill>
                  <a:srgbClr val="FF0000"/>
                </a:solidFill>
              </a:rPr>
              <a:t>E.g., there might be fewer examples in training for some past insecure-behavior data, which may have lower probabilities and more likely to be sampled with high inference parameters</a:t>
            </a:r>
          </a:p>
          <a:p>
            <a:endParaRPr lang="en-US" sz="2000" dirty="0"/>
          </a:p>
        </p:txBody>
      </p:sp>
      <p:sp>
        <p:nvSpPr>
          <p:cNvPr id="4" name="Slide Number Placeholder 3">
            <a:extLst>
              <a:ext uri="{FF2B5EF4-FFF2-40B4-BE49-F238E27FC236}">
                <a16:creationId xmlns:a16="http://schemas.microsoft.com/office/drawing/2014/main" id="{FB8EA50D-F9AA-FAB1-33D3-C6A45ACB113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293121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8977D-1622-E361-CC7C-D36816B6D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C5DF9-6863-31CC-E3D8-05E2E3E59376}"/>
              </a:ext>
            </a:extLst>
          </p:cNvPr>
          <p:cNvSpPr>
            <a:spLocks noGrp="1"/>
          </p:cNvSpPr>
          <p:nvPr>
            <p:ph type="title"/>
          </p:nvPr>
        </p:nvSpPr>
        <p:spPr/>
        <p:txBody>
          <a:bodyPr/>
          <a:lstStyle/>
          <a:p>
            <a:r>
              <a:rPr lang="en-US" dirty="0"/>
              <a:t>Demonstrative example – 3 – “Good” Code</a:t>
            </a:r>
          </a:p>
        </p:txBody>
      </p:sp>
      <p:sp>
        <p:nvSpPr>
          <p:cNvPr id="3" name="Content Placeholder 2">
            <a:extLst>
              <a:ext uri="{FF2B5EF4-FFF2-40B4-BE49-F238E27FC236}">
                <a16:creationId xmlns:a16="http://schemas.microsoft.com/office/drawing/2014/main" id="{4863668D-5D39-52DE-0C00-6BEDEA7DF7A0}"/>
              </a:ext>
            </a:extLst>
          </p:cNvPr>
          <p:cNvSpPr>
            <a:spLocks noGrp="1"/>
          </p:cNvSpPr>
          <p:nvPr>
            <p:ph idx="1"/>
          </p:nvPr>
        </p:nvSpPr>
        <p:spPr/>
        <p:txBody>
          <a:bodyPr/>
          <a:lstStyle/>
          <a:p>
            <a:r>
              <a:rPr lang="en-US" sz="2000" dirty="0"/>
              <a:t>“Good” code – code changes that fix the weakness</a:t>
            </a:r>
          </a:p>
          <a:p>
            <a:r>
              <a:rPr lang="en-US" sz="2000" dirty="0"/>
              <a:t>Show an updated config that changes the inference parameter</a:t>
            </a:r>
          </a:p>
          <a:p>
            <a:pPr lvl="1"/>
            <a:r>
              <a:rPr lang="en-US" sz="2000" dirty="0"/>
              <a:t>What value should we use for the “good” temperature? If you set it too low, you lose some of the power of the model. Too high and you have the risk. You can’t know a priori what the “best” temperature is without empirical testing – there’s no “golden config.”</a:t>
            </a:r>
          </a:p>
          <a:p>
            <a:pPr lvl="1"/>
            <a:r>
              <a:rPr lang="en-US" sz="2000" dirty="0"/>
              <a:t>Could use 0.8 as an example</a:t>
            </a:r>
          </a:p>
          <a:p>
            <a:pPr lvl="1"/>
            <a:r>
              <a:rPr lang="en-US" sz="2000" dirty="0"/>
              <a:t>Annotate the config to state that 1.0 is the default for this model</a:t>
            </a:r>
          </a:p>
          <a:p>
            <a:r>
              <a:rPr lang="en-US" sz="2000" dirty="0">
                <a:solidFill>
                  <a:srgbClr val="FF0000"/>
                </a:solidFill>
              </a:rPr>
              <a:t>Also, describe guardrails that test for the presence and age of the package, and if it can be trusted</a:t>
            </a:r>
          </a:p>
          <a:p>
            <a:pPr lvl="1"/>
            <a:r>
              <a:rPr lang="en-US" sz="2000" dirty="0"/>
              <a:t>(some models have a knowledge date cutoff)</a:t>
            </a:r>
          </a:p>
          <a:p>
            <a:r>
              <a:rPr lang="en-US" sz="2000" dirty="0">
                <a:solidFill>
                  <a:srgbClr val="FF0000"/>
                </a:solidFill>
              </a:rPr>
              <a:t>Include disclaimer that this doesn’t eliminate risk of package hallucination</a:t>
            </a:r>
          </a:p>
          <a:p>
            <a:pPr lvl="1"/>
            <a:r>
              <a:rPr lang="en-US" sz="2000" dirty="0">
                <a:solidFill>
                  <a:srgbClr val="FF0000"/>
                </a:solidFill>
              </a:rPr>
              <a:t>Also consider extended desc update</a:t>
            </a:r>
          </a:p>
        </p:txBody>
      </p:sp>
      <p:sp>
        <p:nvSpPr>
          <p:cNvPr id="4" name="Slide Number Placeholder 3">
            <a:extLst>
              <a:ext uri="{FF2B5EF4-FFF2-40B4-BE49-F238E27FC236}">
                <a16:creationId xmlns:a16="http://schemas.microsoft.com/office/drawing/2014/main" id="{12DEF036-411F-65AA-CC20-8C4F5F665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546651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F1E8E-C18A-B44D-7F5D-33AE716B3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37560-AFC4-8912-6624-754909019889}"/>
              </a:ext>
            </a:extLst>
          </p:cNvPr>
          <p:cNvSpPr>
            <a:spLocks noGrp="1"/>
          </p:cNvSpPr>
          <p:nvPr>
            <p:ph type="title"/>
          </p:nvPr>
        </p:nvSpPr>
        <p:spPr/>
        <p:txBody>
          <a:bodyPr/>
          <a:lstStyle/>
          <a:p>
            <a:r>
              <a:rPr lang="en-US" dirty="0"/>
              <a:t>Demonstrative example – 3 - Notes</a:t>
            </a:r>
          </a:p>
        </p:txBody>
      </p:sp>
      <p:sp>
        <p:nvSpPr>
          <p:cNvPr id="3" name="Content Placeholder 2">
            <a:extLst>
              <a:ext uri="{FF2B5EF4-FFF2-40B4-BE49-F238E27FC236}">
                <a16:creationId xmlns:a16="http://schemas.microsoft.com/office/drawing/2014/main" id="{3559ACA0-5CE0-32AD-2881-59D00B85BE1C}"/>
              </a:ext>
            </a:extLst>
          </p:cNvPr>
          <p:cNvSpPr>
            <a:spLocks noGrp="1"/>
          </p:cNvSpPr>
          <p:nvPr>
            <p:ph idx="1"/>
          </p:nvPr>
        </p:nvSpPr>
        <p:spPr>
          <a:xfrm>
            <a:off x="616449" y="1333501"/>
            <a:ext cx="11236720" cy="4794737"/>
          </a:xfrm>
        </p:spPr>
        <p:txBody>
          <a:bodyPr/>
          <a:lstStyle/>
          <a:p>
            <a:r>
              <a:rPr lang="en-US" sz="2000" dirty="0"/>
              <a:t>Consider avoiding cases of referencing real packages found in training data but highly unlikely</a:t>
            </a:r>
          </a:p>
          <a:p>
            <a:r>
              <a:rPr lang="en-US" sz="2000" dirty="0"/>
              <a:t>Hallucination here may be “suggesting a package that it did not see at training time because it didn’t exist”</a:t>
            </a:r>
          </a:p>
          <a:p>
            <a:r>
              <a:rPr lang="en-US" sz="2000" dirty="0"/>
              <a:t>Note: the training directly influences the inference</a:t>
            </a:r>
          </a:p>
          <a:p>
            <a:r>
              <a:rPr lang="en-US" sz="2000" dirty="0"/>
              <a:t>In some languages, there can be assumptions of “crossover” across languages – e.g. writing Ruby code that resembles packages from </a:t>
            </a:r>
            <a:r>
              <a:rPr lang="en-US" sz="2000" dirty="0" err="1"/>
              <a:t>PyPy</a:t>
            </a:r>
            <a:r>
              <a:rPr lang="en-US" sz="2000" dirty="0"/>
              <a:t> that don’t exist in </a:t>
            </a:r>
            <a:r>
              <a:rPr lang="en-US" sz="2000" dirty="0" err="1"/>
              <a:t>RubyGems</a:t>
            </a:r>
            <a:r>
              <a:rPr lang="en-US" sz="2000" dirty="0"/>
              <a:t>.</a:t>
            </a:r>
          </a:p>
          <a:p>
            <a:r>
              <a:rPr lang="en-US" sz="2000" dirty="0"/>
              <a:t>Considering abandoned libraries – not a hallucination</a:t>
            </a:r>
          </a:p>
          <a:p>
            <a:endParaRPr lang="en-US" sz="2000" dirty="0"/>
          </a:p>
          <a:p>
            <a:r>
              <a:rPr lang="en-US" sz="2000" dirty="0"/>
              <a:t>"use of disallowed/vulnerable packages" could be an example of CWE-1426 (chain)</a:t>
            </a:r>
          </a:p>
          <a:p>
            <a:endParaRPr lang="en-US" sz="2000" dirty="0"/>
          </a:p>
        </p:txBody>
      </p:sp>
      <p:sp>
        <p:nvSpPr>
          <p:cNvPr id="4" name="Slide Number Placeholder 3">
            <a:extLst>
              <a:ext uri="{FF2B5EF4-FFF2-40B4-BE49-F238E27FC236}">
                <a16:creationId xmlns:a16="http://schemas.microsoft.com/office/drawing/2014/main" id="{4555D68C-24CF-0728-FC7E-A944E815267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170003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dirty="0"/>
              <a:t>When/how does the developer (or other parties) introduce the weakness?</a:t>
            </a:r>
          </a:p>
          <a:p>
            <a:pPr lvl="1"/>
            <a:r>
              <a:rPr lang="en-US" dirty="0"/>
              <a:t>Notes – what the developer does and/or the assumptions they make</a:t>
            </a:r>
          </a:p>
          <a:p>
            <a:pPr>
              <a:lnSpc>
                <a:spcPct val="120000"/>
              </a:lnSpc>
            </a:pPr>
            <a:r>
              <a:rPr lang="en-US" dirty="0"/>
              <a:t>Values for Phase: </a:t>
            </a:r>
            <a:r>
              <a:rPr lang="en-US" sz="18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dirty="0"/>
              <a:t>(CWE 5.0 future: ability to use other lifecycle models?)</a:t>
            </a:r>
          </a:p>
          <a:p>
            <a:r>
              <a:rPr lang="en-US" dirty="0"/>
              <a:t>Mode 1:</a:t>
            </a:r>
          </a:p>
          <a:p>
            <a:pPr lvl="1"/>
            <a:r>
              <a:rPr lang="en-US" dirty="0"/>
              <a:t>SDLC phase: </a:t>
            </a:r>
            <a:r>
              <a:rPr lang="en-US" dirty="0">
                <a:solidFill>
                  <a:srgbClr val="FF0000"/>
                </a:solidFill>
              </a:rPr>
              <a:t>&lt;fill in here – Implementation? Build and compilation?&gt;</a:t>
            </a:r>
          </a:p>
          <a:p>
            <a:pPr lvl="1"/>
            <a:r>
              <a:rPr lang="en-US" dirty="0"/>
              <a:t>Notes: </a:t>
            </a:r>
            <a:r>
              <a:rPr lang="en-US" dirty="0">
                <a:solidFill>
                  <a:srgbClr val="FF0000"/>
                </a:solidFill>
              </a:rPr>
              <a:t>&lt;During model training, when hyperparameters are set without adequate validation or understanding of their impact. “</a:t>
            </a:r>
            <a:r>
              <a:rPr lang="en-US">
                <a:solidFill>
                  <a:srgbClr val="FF0000"/>
                </a:solidFill>
              </a:rPr>
              <a:t>this includes tuning”&gt;</a:t>
            </a:r>
            <a:endParaRPr lang="en-US" dirty="0">
              <a:solidFill>
                <a:srgbClr val="FF0000"/>
              </a:solidFill>
            </a:endParaRPr>
          </a:p>
          <a:p>
            <a:r>
              <a:rPr lang="en-US" dirty="0"/>
              <a:t>Mode 2:</a:t>
            </a:r>
          </a:p>
          <a:p>
            <a:pPr lvl="1"/>
            <a:r>
              <a:rPr lang="en-US" dirty="0"/>
              <a:t>SDLC phase: </a:t>
            </a:r>
            <a:r>
              <a:rPr lang="en-US" dirty="0">
                <a:solidFill>
                  <a:srgbClr val="FF0000"/>
                </a:solidFill>
              </a:rPr>
              <a:t>&lt;fill in here – System Configuration&gt;</a:t>
            </a:r>
          </a:p>
          <a:p>
            <a:pPr lvl="1"/>
            <a:r>
              <a:rPr lang="en-US" dirty="0"/>
              <a:t>Notes: </a:t>
            </a:r>
            <a:r>
              <a:rPr lang="en-US" dirty="0">
                <a:solidFill>
                  <a:srgbClr val="FF0000"/>
                </a:solidFill>
              </a:rPr>
              <a:t>&lt;During deployment, when model parameters are adjusted to optimize performance without comprehensive testing&gt;</a:t>
            </a:r>
          </a:p>
          <a:p>
            <a:r>
              <a:rPr lang="en-US" dirty="0"/>
              <a:t>Mode 3:</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&lt;Through updates or modifications to the model that alter its behavior without thorough re-evaluation&gt;</a:t>
            </a:r>
          </a:p>
          <a:p>
            <a:endParaRPr lang="en-US" dirty="0"/>
          </a:p>
          <a:p>
            <a:endParaRPr lang="en-US" dirty="0">
              <a:solidFill>
                <a:srgbClr val="FF0000"/>
              </a:solidFill>
            </a:endParaRPr>
          </a:p>
          <a:p>
            <a:pPr lvl="1"/>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929857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dirty="0"/>
              <a:t>Values for Phase</a:t>
            </a:r>
            <a:r>
              <a:rPr lang="en-US" sz="1400" dirty="0"/>
              <a:t>: </a:t>
            </a:r>
            <a:r>
              <a:rPr lang="en-US" sz="14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dirty="0"/>
              <a:t>Values for Effectiveness</a:t>
            </a:r>
            <a:r>
              <a:rPr lang="en-US" sz="1400" dirty="0"/>
              <a:t>: </a:t>
            </a:r>
            <a:r>
              <a:rPr lang="en-US" sz="1400" b="0" dirty="0"/>
              <a:t>High, Moderate, Limited, Incidental, Discouraged Common Practice, Defense in Depth, None</a:t>
            </a:r>
          </a:p>
          <a:p>
            <a:endParaRPr lang="en-US" sz="1700" dirty="0"/>
          </a:p>
          <a:p>
            <a:r>
              <a:rPr lang="en-US" sz="1700" dirty="0"/>
              <a:t>Mitigation 1</a:t>
            </a:r>
          </a:p>
          <a:p>
            <a:pPr lvl="1"/>
            <a:r>
              <a:rPr lang="en-US" sz="1700" dirty="0"/>
              <a:t>SDLC phase: </a:t>
            </a:r>
            <a:r>
              <a:rPr lang="en-US" sz="1700" dirty="0">
                <a:solidFill>
                  <a:srgbClr val="FF0000"/>
                </a:solidFill>
              </a:rPr>
              <a:t>&lt;fill in here&gt;</a:t>
            </a:r>
            <a:endParaRPr lang="en-US" sz="1700" dirty="0"/>
          </a:p>
          <a:p>
            <a:pPr lvl="1"/>
            <a:r>
              <a:rPr lang="en-US" sz="1700" dirty="0"/>
              <a:t>Name/brief desc: </a:t>
            </a:r>
            <a:r>
              <a:rPr lang="en-US" sz="1700" dirty="0">
                <a:solidFill>
                  <a:srgbClr val="FF0000"/>
                </a:solidFill>
              </a:rPr>
              <a:t>&lt;Develop and adhere to robust parameter tuning processes that include extensive testing and validation&gt; </a:t>
            </a:r>
          </a:p>
          <a:p>
            <a:pPr lvl="1"/>
            <a:r>
              <a:rPr lang="en-US" sz="1700" dirty="0"/>
              <a:t>Effectiveness: </a:t>
            </a:r>
            <a:r>
              <a:rPr lang="en-US" sz="1700" dirty="0">
                <a:solidFill>
                  <a:srgbClr val="FF0000"/>
                </a:solidFill>
              </a:rPr>
              <a:t>&lt;fill in here&gt;</a:t>
            </a:r>
            <a:endParaRPr lang="en-US" sz="1700" dirty="0"/>
          </a:p>
          <a:p>
            <a:r>
              <a:rPr lang="en-US" sz="1700" dirty="0"/>
              <a:t>Mitigation 2</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&lt;Implement feedback mechanisms to continuously assess and adjust model performance&gt;</a:t>
            </a:r>
          </a:p>
          <a:p>
            <a:pPr lvl="1"/>
            <a:r>
              <a:rPr lang="en-US" sz="1700" dirty="0"/>
              <a:t>Effectiveness:</a:t>
            </a:r>
            <a:r>
              <a:rPr lang="en-US" sz="1700" dirty="0">
                <a:solidFill>
                  <a:srgbClr val="FF0000"/>
                </a:solidFill>
              </a:rPr>
              <a:t>&lt;fill in here&gt;</a:t>
            </a:r>
            <a:endParaRPr lang="en-US" sz="1700" dirty="0"/>
          </a:p>
          <a:p>
            <a:r>
              <a:rPr lang="en-US" sz="1700" dirty="0"/>
              <a:t>Mitigation 3</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&lt;Provide comprehensive documentation and guidelines for parameter settings to ensure consistent and accurate model behavior&gt;</a:t>
            </a:r>
          </a:p>
          <a:p>
            <a:pPr lvl="1"/>
            <a:r>
              <a:rPr lang="en-US" sz="1700" dirty="0"/>
              <a:t>Effectiveness:</a:t>
            </a:r>
            <a:r>
              <a:rPr lang="en-US" sz="1700" dirty="0">
                <a:solidFill>
                  <a:srgbClr val="FF0000"/>
                </a:solidFill>
              </a:rPr>
              <a:t>&lt;fill in here&gt;</a:t>
            </a:r>
            <a:endParaRPr lang="en-US" sz="17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141524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dirty="0"/>
              <a:t>Curated list of references</a:t>
            </a:r>
          </a:p>
          <a:p>
            <a:pPr lvl="1"/>
            <a:r>
              <a:rPr lang="en-US" sz="1600" dirty="0"/>
              <a:t>SHOULD explain or clarify the weakness</a:t>
            </a:r>
          </a:p>
          <a:p>
            <a:pPr lvl="1"/>
            <a:r>
              <a:rPr lang="en-US" sz="1600" dirty="0"/>
              <a:t>Understandable to the reader (assume 1-2 years’ developer experience)</a:t>
            </a:r>
          </a:p>
          <a:p>
            <a:pPr lvl="1"/>
            <a:r>
              <a:rPr lang="en-US" sz="1600" dirty="0"/>
              <a:t>Can’t be a large bibliography</a:t>
            </a:r>
          </a:p>
          <a:p>
            <a:r>
              <a:rPr lang="en-US" sz="1600" dirty="0"/>
              <a:t>Reference 1</a:t>
            </a:r>
          </a:p>
          <a:p>
            <a:pPr lvl="1"/>
            <a:r>
              <a:rPr lang="en-US" sz="1600" dirty="0"/>
              <a:t>Title: </a:t>
            </a:r>
            <a:r>
              <a:rPr lang="en-US" sz="1600" dirty="0">
                <a:solidFill>
                  <a:srgbClr val="FF0000"/>
                </a:solidFill>
              </a:rPr>
              <a:t>&lt;package hallucination&gt;</a:t>
            </a:r>
            <a:endParaRPr lang="en-US" sz="1600" dirty="0"/>
          </a:p>
          <a:p>
            <a:pPr lvl="1"/>
            <a:r>
              <a:rPr lang="en-US" sz="1600" dirty="0"/>
              <a:t>URL: </a:t>
            </a:r>
            <a:r>
              <a:rPr lang="en-US" sz="1600" dirty="0">
                <a:solidFill>
                  <a:srgbClr val="FF0000"/>
                </a:solidFill>
              </a:rPr>
              <a:t>&lt;https://arxiv.org/abs/2406.10279&gt;</a:t>
            </a:r>
            <a:endParaRPr lang="en-US" sz="1600" dirty="0"/>
          </a:p>
          <a:p>
            <a:r>
              <a:rPr lang="en-US" sz="1600" dirty="0"/>
              <a:t>Reference 2</a:t>
            </a:r>
          </a:p>
          <a:p>
            <a:pPr lvl="1"/>
            <a:r>
              <a:rPr lang="en-US" sz="1600" dirty="0"/>
              <a:t>Title: </a:t>
            </a:r>
            <a:r>
              <a:rPr lang="en-US" sz="1600" dirty="0">
                <a:solidFill>
                  <a:srgbClr val="FF0000"/>
                </a:solidFill>
              </a:rPr>
              <a:t>&lt;Garak issue&gt; </a:t>
            </a:r>
          </a:p>
          <a:p>
            <a:pPr lvl="1"/>
            <a:r>
              <a:rPr lang="en-US" sz="1600" dirty="0"/>
              <a:t>URL: </a:t>
            </a:r>
            <a:r>
              <a:rPr lang="en-US" sz="1600" dirty="0">
                <a:solidFill>
                  <a:srgbClr val="FF0000"/>
                </a:solidFill>
              </a:rPr>
              <a:t>&lt;https://github.com/NVIDIA/garak/issues/1233&gt; </a:t>
            </a:r>
          </a:p>
          <a:p>
            <a:r>
              <a:rPr lang="en-US" sz="1600" dirty="0"/>
              <a:t>Reference 3</a:t>
            </a:r>
          </a:p>
          <a:p>
            <a:pPr lvl="1"/>
            <a:r>
              <a:rPr lang="en-US" sz="1600" dirty="0"/>
              <a:t>Title: </a:t>
            </a:r>
            <a:r>
              <a:rPr lang="en-US" sz="1600" dirty="0">
                <a:solidFill>
                  <a:srgbClr val="FF0000"/>
                </a:solidFill>
              </a:rPr>
              <a:t>&lt;Fill Here&gt;</a:t>
            </a:r>
            <a:endParaRPr lang="fr-FR" sz="1600" dirty="0"/>
          </a:p>
          <a:p>
            <a:pPr lvl="1"/>
            <a:r>
              <a:rPr lang="en-US" sz="1600" dirty="0"/>
              <a:t>URL: </a:t>
            </a:r>
            <a:r>
              <a:rPr lang="en-US" sz="1600" dirty="0">
                <a:solidFill>
                  <a:srgbClr val="FF0000"/>
                </a:solidFill>
              </a:rPr>
              <a:t>&lt;Fill Here&gt;</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630450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020B3-6997-CB5A-1E5E-10A92AA9C76F}"/>
              </a:ext>
            </a:extLst>
          </p:cNvPr>
          <p:cNvSpPr>
            <a:spLocks noGrp="1"/>
          </p:cNvSpPr>
          <p:nvPr>
            <p:ph type="ctrTitle" sz="quarter"/>
          </p:nvPr>
        </p:nvSpPr>
        <p:spPr/>
        <p:txBody>
          <a:bodyPr/>
          <a:lstStyle/>
          <a:p>
            <a:r>
              <a:rPr lang="en-US" dirty="0"/>
              <a:t>Already-Filled Elements</a:t>
            </a:r>
          </a:p>
        </p:txBody>
      </p:sp>
      <p:sp>
        <p:nvSpPr>
          <p:cNvPr id="3" name="Slide Number Placeholder 2">
            <a:extLst>
              <a:ext uri="{FF2B5EF4-FFF2-40B4-BE49-F238E27FC236}">
                <a16:creationId xmlns:a16="http://schemas.microsoft.com/office/drawing/2014/main" id="{EF98852D-EE8B-E12A-F204-F1AED622087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671050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dirty="0"/>
              <a:t>Give how the weakness can be detected by the developer, designer, or tester (… or the adversary ;-))</a:t>
            </a:r>
          </a:p>
          <a:p>
            <a:r>
              <a:rPr lang="en-US" sz="2000" u="sng" dirty="0"/>
              <a:t>Values for Method</a:t>
            </a:r>
            <a:r>
              <a:rPr lang="en-US" sz="2000" dirty="0"/>
              <a:t>: </a:t>
            </a:r>
            <a:r>
              <a:rPr lang="en-US" sz="1400" b="0" dirty="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dirty="0"/>
              <a:t>Values for Effectiveness</a:t>
            </a:r>
            <a:r>
              <a:rPr lang="en-US" sz="1800" dirty="0"/>
              <a:t>: High, Moderate, Opportunistic, Limited, None</a:t>
            </a:r>
          </a:p>
          <a:p>
            <a:r>
              <a:rPr lang="en-US" sz="1800" dirty="0"/>
              <a:t>Detection Method 1</a:t>
            </a:r>
          </a:p>
          <a:p>
            <a:pPr lvl="1"/>
            <a:r>
              <a:rPr lang="en-US" sz="1800" dirty="0"/>
              <a:t>Method: </a:t>
            </a:r>
            <a:r>
              <a:rPr lang="en-US" sz="1800" dirty="0">
                <a:solidFill>
                  <a:srgbClr val="FF0000"/>
                </a:solidFill>
              </a:rPr>
              <a:t>&lt;automated and manual dynamic analysis&gt;</a:t>
            </a:r>
          </a:p>
          <a:p>
            <a:pPr lvl="1"/>
            <a:r>
              <a:rPr lang="en-US" sz="1800" dirty="0"/>
              <a:t>Desc:</a:t>
            </a:r>
            <a:r>
              <a:rPr lang="en-US" sz="1800" dirty="0">
                <a:solidFill>
                  <a:srgbClr val="FF0000"/>
                </a:solidFill>
              </a:rPr>
              <a:t> &lt;Manipulation of inference parameters and comparative evaluation to assess the impact of values. Build a suite of systems, then manually test (“run Garak”) – gets into things like prompt injections and other problems.&gt; (Question: given the huge variety of outcomes, how can one design testing to be comprehensive enough?) Need to warn/tell the reader that tests might not be complete, and there will still be unpredictable behavior (example from Sven on toxicity omitting Indian considerations). Consider “thought level” (“full” thoughts) versus token-level – e.g. temperature, setting to 0 should be deterministic. Could statistically measure token distribution.</a:t>
            </a:r>
          </a:p>
          <a:p>
            <a:r>
              <a:rPr lang="en-US" sz="1800" dirty="0"/>
              <a:t>Detection Method 2</a:t>
            </a:r>
          </a:p>
          <a:p>
            <a:pPr lvl="1"/>
            <a:r>
              <a:rPr lang="en-US" sz="1800" dirty="0"/>
              <a:t>Method: </a:t>
            </a:r>
            <a:r>
              <a:rPr lang="en-US" sz="1800" dirty="0">
                <a:solidFill>
                  <a:srgbClr val="FF0000"/>
                </a:solidFill>
              </a:rPr>
              <a:t>&lt;&gt;</a:t>
            </a:r>
          </a:p>
          <a:p>
            <a:pPr lvl="1"/>
            <a:r>
              <a:rPr lang="en-US" sz="1800" dirty="0"/>
              <a:t>Desc: </a:t>
            </a:r>
            <a:r>
              <a:rPr lang="en-US" sz="1800" dirty="0">
                <a:solidFill>
                  <a:srgbClr val="FF0000"/>
                </a:solidFill>
              </a:rPr>
              <a:t>&lt;fill in here&gt;</a:t>
            </a:r>
          </a:p>
          <a:p>
            <a:pPr lvl="1"/>
            <a:endParaRPr lang="en-US" sz="2000" dirty="0"/>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846513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dirty="0"/>
              <a:t>Goal: a curated list of real-world examples (e.g., CVEs)</a:t>
            </a:r>
          </a:p>
          <a:p>
            <a:pPr lvl="1"/>
            <a:r>
              <a:rPr lang="en-US" sz="2000" dirty="0"/>
              <a:t>Need good, &lt;weakness&gt; oriented technical details</a:t>
            </a:r>
          </a:p>
          <a:p>
            <a:pPr lvl="1"/>
            <a:r>
              <a:rPr lang="en-US" sz="2000" dirty="0"/>
              <a:t>Should be easily understandable by the reader</a:t>
            </a:r>
          </a:p>
          <a:p>
            <a:r>
              <a:rPr lang="en-US" sz="1600" dirty="0" err="1"/>
              <a:t>Obex</a:t>
            </a:r>
            <a:r>
              <a:rPr lang="en-US" sz="1600" dirty="0"/>
              <a:t> 1</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p>
          <a:p>
            <a:r>
              <a:rPr lang="en-US" sz="1600" dirty="0" err="1"/>
              <a:t>Obex</a:t>
            </a:r>
            <a:r>
              <a:rPr lang="en-US" sz="1600" dirty="0"/>
              <a:t> 2</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r>
              <a:rPr lang="en-US" sz="1600" dirty="0">
                <a:solidFill>
                  <a:srgbClr val="FF0000"/>
                </a:solidFill>
                <a:highlight>
                  <a:srgbClr val="FFFF00"/>
                </a:highlight>
              </a:rPr>
              <a:t>Why no obvious </a:t>
            </a:r>
            <a:r>
              <a:rPr lang="en-US" sz="1600" dirty="0" err="1">
                <a:solidFill>
                  <a:srgbClr val="FF0000"/>
                </a:solidFill>
                <a:highlight>
                  <a:srgbClr val="FFFF00"/>
                </a:highlight>
              </a:rPr>
              <a:t>obex</a:t>
            </a:r>
            <a:r>
              <a:rPr lang="en-US" sz="1600" dirty="0">
                <a:solidFill>
                  <a:srgbClr val="FF0000"/>
                </a:solidFill>
                <a:highlight>
                  <a:srgbClr val="FFFF00"/>
                </a:highlight>
              </a:rPr>
              <a:t> right now? Relative recency, lack of exposure. Not exactly “hypothetical” but the security impact is not well established. People are seeing this in their work, but maybe not documenting it well yet. Might be detected with chatbots since they can be inspected, but might “sneak through undetected” at back ends / lower levels. Example domain – robotics control software using LLMs, or triggering outputs that don’t comply with the software’s expected formats.</a:t>
            </a:r>
          </a:p>
          <a:p>
            <a:r>
              <a:rPr lang="en-US" sz="1600" dirty="0">
                <a:highlight>
                  <a:srgbClr val="FFFF00"/>
                </a:highlight>
              </a:rPr>
              <a:t>Maybe this is often associated with other weaknesses (can help exploitation of other weaknesses)</a:t>
            </a:r>
          </a:p>
          <a:p>
            <a:endParaRPr lang="en-US" sz="20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919213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dirty="0"/>
              <a:t>Optional – often not necessary</a:t>
            </a:r>
          </a:p>
          <a:p>
            <a:r>
              <a:rPr lang="en-US" sz="2000" dirty="0"/>
              <a:t>Used when entries are known to be incomplete or require additional focused research</a:t>
            </a:r>
          </a:p>
          <a:p>
            <a:r>
              <a:rPr lang="en-US" sz="2000" dirty="0"/>
              <a:t>Essential for transparency</a:t>
            </a:r>
          </a:p>
          <a:p>
            <a:r>
              <a:rPr lang="en-US" sz="2000" dirty="0"/>
              <a:t>Types: Research Gap, Maintenance, Applicable Platform, Relationship, Terminology, Theoretical</a:t>
            </a:r>
          </a:p>
          <a:p>
            <a:r>
              <a:rPr lang="en-US" sz="2000" dirty="0"/>
              <a:t>Note 1</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endParaRPr lang="en-US" sz="2000" dirty="0"/>
          </a:p>
          <a:p>
            <a:r>
              <a:rPr lang="en-US" sz="2000" dirty="0"/>
              <a:t>Note 2</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377017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FB07-6975-7775-0223-27B2BC962339}"/>
              </a:ext>
            </a:extLst>
          </p:cNvPr>
          <p:cNvSpPr>
            <a:spLocks noGrp="1"/>
          </p:cNvSpPr>
          <p:nvPr>
            <p:ph type="title"/>
          </p:nvPr>
        </p:nvSpPr>
        <p:spPr/>
        <p:txBody>
          <a:bodyPr/>
          <a:lstStyle/>
          <a:p>
            <a:r>
              <a:rPr lang="en-US" dirty="0"/>
              <a:t>Discussion: Name</a:t>
            </a:r>
          </a:p>
        </p:txBody>
      </p:sp>
      <p:sp>
        <p:nvSpPr>
          <p:cNvPr id="3" name="Content Placeholder 2">
            <a:extLst>
              <a:ext uri="{FF2B5EF4-FFF2-40B4-BE49-F238E27FC236}">
                <a16:creationId xmlns:a16="http://schemas.microsoft.com/office/drawing/2014/main" id="{9993D777-9270-7874-17BF-28B4880AC03F}"/>
              </a:ext>
            </a:extLst>
          </p:cNvPr>
          <p:cNvSpPr>
            <a:spLocks noGrp="1"/>
          </p:cNvSpPr>
          <p:nvPr>
            <p:ph idx="1"/>
          </p:nvPr>
        </p:nvSpPr>
        <p:spPr/>
        <p:txBody>
          <a:bodyPr/>
          <a:lstStyle/>
          <a:p>
            <a:r>
              <a:rPr lang="en-US" sz="1800" dirty="0"/>
              <a:t>Must be focused only on the weakness (mistake), without describing the attack, technical impact, etc.</a:t>
            </a:r>
          </a:p>
          <a:p>
            <a:r>
              <a:rPr lang="en-US" sz="1800" dirty="0"/>
              <a:t>Dimensions: behavior (required), property [incorrect/insecure/out-of-bounds/etc., technology, language, and resource (file, memory, etc.)</a:t>
            </a:r>
          </a:p>
          <a:p>
            <a:r>
              <a:rPr lang="en-US" sz="1800" dirty="0"/>
              <a:t>Must include some aspect of “the mistake”</a:t>
            </a:r>
          </a:p>
          <a:p>
            <a:endParaRPr lang="en-US" sz="1800" dirty="0"/>
          </a:p>
          <a:p>
            <a:endParaRPr lang="en-US" sz="1800" dirty="0"/>
          </a:p>
          <a:p>
            <a:r>
              <a:rPr lang="en-US" sz="1800" dirty="0"/>
              <a:t>“configuration” can imply manual/human steps. If the parameters are programmatically set, this could be a misstatement (or unnecessarily restrictive). Can we say “setting”?</a:t>
            </a:r>
          </a:p>
          <a:p>
            <a:r>
              <a:rPr lang="en-US" sz="1800" dirty="0"/>
              <a:t>Does “parameters” include mode than hyperparameters?</a:t>
            </a:r>
          </a:p>
          <a:p>
            <a:r>
              <a:rPr lang="en-US" sz="1800" dirty="0"/>
              <a:t>Name 1: </a:t>
            </a:r>
            <a:r>
              <a:rPr lang="en-US" sz="1800" dirty="0">
                <a:solidFill>
                  <a:srgbClr val="FF0000"/>
                </a:solidFill>
              </a:rPr>
              <a:t>&lt;Insecure Setting of Generative Machine Learning Model Parameters&gt;</a:t>
            </a:r>
          </a:p>
          <a:p>
            <a:r>
              <a:rPr lang="en-US" sz="1800" dirty="0"/>
              <a:t>Name 2: </a:t>
            </a:r>
            <a:r>
              <a:rPr lang="en-US" sz="1800" dirty="0">
                <a:solidFill>
                  <a:srgbClr val="FF0000"/>
                </a:solidFill>
              </a:rPr>
              <a:t>&lt;fill in here&gt;</a:t>
            </a:r>
          </a:p>
          <a:p>
            <a:r>
              <a:rPr lang="en-US" sz="1800" dirty="0"/>
              <a:t>Internal Notes: </a:t>
            </a:r>
            <a:r>
              <a:rPr lang="en-US" sz="1800" dirty="0">
                <a:solidFill>
                  <a:srgbClr val="FF0000"/>
                </a:solidFill>
              </a:rPr>
              <a:t>&lt;Say “inference parameters” (aka “generation parameters”) – not to confuse with weights in the model itself, or “hyperparameters” that are used in training&gt;</a:t>
            </a:r>
          </a:p>
          <a:p>
            <a:r>
              <a:rPr lang="en-US" sz="1800" dirty="0">
                <a:solidFill>
                  <a:srgbClr val="FF0000"/>
                </a:solidFill>
              </a:rPr>
              <a:t>Does this apply to guardrails?</a:t>
            </a:r>
          </a:p>
          <a:p>
            <a:r>
              <a:rPr lang="en-US" sz="1800" dirty="0">
                <a:solidFill>
                  <a:srgbClr val="FF0000"/>
                </a:solidFill>
              </a:rPr>
              <a:t>Distinct from making a bad system prompt</a:t>
            </a:r>
          </a:p>
          <a:p>
            <a:endParaRPr lang="en-US" sz="1800" dirty="0"/>
          </a:p>
          <a:p>
            <a:endParaRPr lang="en-US" sz="1800" dirty="0"/>
          </a:p>
        </p:txBody>
      </p:sp>
      <p:sp>
        <p:nvSpPr>
          <p:cNvPr id="4" name="Slide Number Placeholder 3">
            <a:extLst>
              <a:ext uri="{FF2B5EF4-FFF2-40B4-BE49-F238E27FC236}">
                <a16:creationId xmlns:a16="http://schemas.microsoft.com/office/drawing/2014/main" id="{DCD09090-3362-940B-63F4-4AD37DB1E85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A961E414-391D-7C3C-2A36-D585F3DC3D04}"/>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b="1" i="0" dirty="0">
                <a:solidFill>
                  <a:srgbClr val="1F2328"/>
                </a:solidFill>
                <a:effectLst/>
                <a:latin typeface="-apple-system"/>
              </a:rPr>
              <a:t>Improper Configuration of Generative Machine Learning Model Parameters</a:t>
            </a:r>
          </a:p>
        </p:txBody>
      </p:sp>
    </p:spTree>
    <p:extLst>
      <p:ext uri="{BB962C8B-B14F-4D97-AF65-F5344CB8AC3E}">
        <p14:creationId xmlns:p14="http://schemas.microsoft.com/office/powerpoint/2010/main" val="16418072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dirty="0"/>
              <a:t>Discussion: Description</a:t>
            </a:r>
          </a:p>
        </p:txBody>
      </p:sp>
      <p:sp>
        <p:nvSpPr>
          <p:cNvPr id="3" name="Content Placeholder 2">
            <a:extLst>
              <a:ext uri="{FF2B5EF4-FFF2-40B4-BE49-F238E27FC236}">
                <a16:creationId xmlns:a16="http://schemas.microsoft.com/office/drawing/2014/main" id="{4369DD20-7DC5-577B-4E0D-723FC8A8FB49}"/>
              </a:ext>
            </a:extLst>
          </p:cNvPr>
          <p:cNvSpPr>
            <a:spLocks noGrp="1"/>
          </p:cNvSpPr>
          <p:nvPr>
            <p:ph idx="1"/>
          </p:nvPr>
        </p:nvSpPr>
        <p:spPr>
          <a:xfrm>
            <a:off x="477640" y="2629084"/>
            <a:ext cx="11236720" cy="3245740"/>
          </a:xfrm>
        </p:spPr>
        <p:txBody>
          <a:bodyPr/>
          <a:lstStyle/>
          <a:p>
            <a:r>
              <a:rPr lang="en-US" sz="2000" dirty="0"/>
              <a:t>Integrates comments from Lily, Erick, Steve, and Martin</a:t>
            </a:r>
          </a:p>
          <a:p>
            <a:r>
              <a:rPr lang="en-US" sz="2000" dirty="0"/>
              <a:t>Should be one sentence, focused on behavior [required], property, technology, language, and resource; no mentions of attack, technical impact, mitigation, etc.</a:t>
            </a:r>
          </a:p>
          <a:p>
            <a:r>
              <a:rPr lang="en-US" sz="2000" dirty="0"/>
              <a:t>Alt Desc 1: </a:t>
            </a:r>
            <a:r>
              <a:rPr lang="en-US" sz="2000" dirty="0">
                <a:solidFill>
                  <a:srgbClr val="FF0000"/>
                </a:solidFill>
              </a:rPr>
              <a:t>&lt;fill in here&gt;</a:t>
            </a:r>
          </a:p>
          <a:p>
            <a:r>
              <a:rPr lang="en-US" sz="2000" dirty="0"/>
              <a:t>Alt Desc 2: </a:t>
            </a:r>
            <a:r>
              <a:rPr lang="en-US" sz="2000" dirty="0">
                <a:solidFill>
                  <a:srgbClr val="FF0000"/>
                </a:solidFill>
              </a:rPr>
              <a:t>&lt;fill in here&gt;</a:t>
            </a:r>
          </a:p>
          <a:p>
            <a:r>
              <a:rPr lang="en-US" sz="2000" dirty="0"/>
              <a:t>Questions/comments:</a:t>
            </a:r>
          </a:p>
          <a:p>
            <a:pPr lvl="1"/>
            <a:r>
              <a:rPr lang="en-US" sz="2000" dirty="0"/>
              <a:t>Just say “ML” here?</a:t>
            </a:r>
          </a:p>
          <a:p>
            <a:pPr lvl="1"/>
            <a:r>
              <a:rPr lang="en-US" sz="2000" dirty="0"/>
              <a:t>“intended security policy” is important</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551553" y="1492909"/>
            <a:ext cx="11088894" cy="646331"/>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dirty="0">
                <a:solidFill>
                  <a:srgbClr val="1F2328"/>
                </a:solidFill>
                <a:effectLst/>
                <a:latin typeface="-apple-system"/>
              </a:rPr>
              <a:t>The product uses a generative </a:t>
            </a:r>
            <a:r>
              <a:rPr lang="en-US" b="0" i="1" dirty="0">
                <a:solidFill>
                  <a:srgbClr val="1F2328"/>
                </a:solidFill>
                <a:effectLst/>
                <a:latin typeface="-apple-system"/>
              </a:rPr>
              <a:t>AI/ML</a:t>
            </a:r>
            <a:r>
              <a:rPr lang="en-US" b="0" i="0" dirty="0">
                <a:solidFill>
                  <a:srgbClr val="1F2328"/>
                </a:solidFill>
                <a:effectLst/>
                <a:latin typeface="-apple-system"/>
              </a:rPr>
              <a:t> model that </a:t>
            </a:r>
            <a:r>
              <a:rPr lang="en-US" b="0" i="1" dirty="0">
                <a:solidFill>
                  <a:srgbClr val="1F2328"/>
                </a:solidFill>
                <a:effectLst/>
                <a:latin typeface="-apple-system"/>
              </a:rPr>
              <a:t>is configured with </a:t>
            </a:r>
            <a:r>
              <a:rPr lang="en-US" b="0" i="0" dirty="0">
                <a:solidFill>
                  <a:srgbClr val="1F2328"/>
                </a:solidFill>
                <a:effectLst/>
                <a:latin typeface="-apple-system"/>
              </a:rPr>
              <a:t>incorrect [</a:t>
            </a:r>
            <a:r>
              <a:rPr lang="en-US" b="0" i="0" dirty="0">
                <a:solidFill>
                  <a:srgbClr val="1F2328"/>
                </a:solidFill>
                <a:effectLst/>
                <a:highlight>
                  <a:srgbClr val="FFFF00"/>
                </a:highlight>
                <a:latin typeface="-apple-system"/>
              </a:rPr>
              <a:t>inference parameters</a:t>
            </a:r>
            <a:r>
              <a:rPr lang="en-US" b="0" i="0" dirty="0">
                <a:solidFill>
                  <a:srgbClr val="1F2328"/>
                </a:solidFill>
                <a:effectLst/>
                <a:latin typeface="-apple-system"/>
              </a:rPr>
              <a:t>] that produce a high frequency of erroneous or unexpected outputs that </a:t>
            </a:r>
            <a:r>
              <a:rPr lang="en-US" b="1" i="0" dirty="0">
                <a:solidFill>
                  <a:srgbClr val="1F2328"/>
                </a:solidFill>
                <a:effectLst/>
                <a:latin typeface="-apple-system"/>
              </a:rPr>
              <a:t>violate the intended security policy</a:t>
            </a:r>
            <a:r>
              <a:rPr lang="en-US" b="0" i="0" dirty="0">
                <a:solidFill>
                  <a:srgbClr val="1F2328"/>
                </a:solidFill>
                <a:effectLst/>
                <a:latin typeface="-apple-system"/>
              </a:rPr>
              <a:t>.</a:t>
            </a:r>
            <a:endParaRPr lang="en-US" b="1" dirty="0">
              <a:solidFill>
                <a:srgbClr val="FF0000"/>
              </a:solidFill>
            </a:endParaRPr>
          </a:p>
        </p:txBody>
      </p:sp>
    </p:spTree>
    <p:extLst>
      <p:ext uri="{BB962C8B-B14F-4D97-AF65-F5344CB8AC3E}">
        <p14:creationId xmlns:p14="http://schemas.microsoft.com/office/powerpoint/2010/main" val="6459361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E9B35-5476-A635-67A8-2A5E19BE8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01F16-79DF-6D51-2B59-6222E610F489}"/>
              </a:ext>
            </a:extLst>
          </p:cNvPr>
          <p:cNvSpPr>
            <a:spLocks noGrp="1"/>
          </p:cNvSpPr>
          <p:nvPr>
            <p:ph type="title"/>
          </p:nvPr>
        </p:nvSpPr>
        <p:spPr/>
        <p:txBody>
          <a:bodyPr/>
          <a:lstStyle/>
          <a:p>
            <a:r>
              <a:rPr lang="en-US" dirty="0"/>
              <a:t>Discussion: Extended Description</a:t>
            </a:r>
          </a:p>
        </p:txBody>
      </p:sp>
      <p:sp>
        <p:nvSpPr>
          <p:cNvPr id="3" name="Content Placeholder 2">
            <a:extLst>
              <a:ext uri="{FF2B5EF4-FFF2-40B4-BE49-F238E27FC236}">
                <a16:creationId xmlns:a16="http://schemas.microsoft.com/office/drawing/2014/main" id="{580039FD-76FA-278E-736D-157A430CB499}"/>
              </a:ext>
            </a:extLst>
          </p:cNvPr>
          <p:cNvSpPr>
            <a:spLocks noGrp="1"/>
          </p:cNvSpPr>
          <p:nvPr>
            <p:ph idx="1"/>
          </p:nvPr>
        </p:nvSpPr>
        <p:spPr>
          <a:xfrm>
            <a:off x="477640" y="2670027"/>
            <a:ext cx="11236720" cy="3245740"/>
          </a:xfrm>
        </p:spPr>
        <p:txBody>
          <a:bodyPr/>
          <a:lstStyle/>
          <a:p>
            <a:r>
              <a:rPr lang="en-US" sz="2000" dirty="0"/>
              <a:t>Focused on technical nuance</a:t>
            </a:r>
          </a:p>
          <a:p>
            <a:r>
              <a:rPr lang="en-US" sz="2000" dirty="0"/>
              <a:t>Can be multiple sentences or paragraphs</a:t>
            </a:r>
          </a:p>
          <a:p>
            <a:r>
              <a:rPr lang="en-US" sz="2000" dirty="0"/>
              <a:t>Avoid any emphasis on attacks, technical impacts, mitigations, etc.</a:t>
            </a:r>
          </a:p>
          <a:p>
            <a:r>
              <a:rPr lang="en-US" sz="2000" dirty="0"/>
              <a:t>Ext Desc 1: </a:t>
            </a:r>
            <a:r>
              <a:rPr lang="en-US" sz="2000" dirty="0">
                <a:solidFill>
                  <a:srgbClr val="FF0000"/>
                </a:solidFill>
              </a:rPr>
              <a:t>&lt;fill in here&gt;</a:t>
            </a:r>
          </a:p>
          <a:p>
            <a:r>
              <a:rPr lang="en-US" sz="2000" dirty="0"/>
              <a:t>Ext Desc 2: </a:t>
            </a:r>
            <a:r>
              <a:rPr lang="en-US" sz="2000" dirty="0">
                <a:solidFill>
                  <a:srgbClr val="FF0000"/>
                </a:solidFill>
              </a:rPr>
              <a:t>&lt;fill in here&gt;</a:t>
            </a:r>
          </a:p>
          <a:p>
            <a:r>
              <a:rPr lang="en-US" sz="2000" dirty="0"/>
              <a:t>Questions/comments:</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D443C2FD-AD2C-DC2B-876F-212E462C20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269F0F13-BA59-1835-EC89-EBECB3528A14}"/>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solidFill>
                  <a:srgbClr val="FF0000"/>
                </a:solidFill>
              </a:rPr>
              <a:t>[Many proposals in CDR; skipping discussion for February 28 meeting]</a:t>
            </a:r>
          </a:p>
        </p:txBody>
      </p:sp>
    </p:spTree>
    <p:extLst>
      <p:ext uri="{BB962C8B-B14F-4D97-AF65-F5344CB8AC3E}">
        <p14:creationId xmlns:p14="http://schemas.microsoft.com/office/powerpoint/2010/main" val="34989700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dirty="0"/>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dirty="0"/>
              <a:t>(</a:t>
            </a:r>
            <a:r>
              <a:rPr lang="en-US" sz="1800" dirty="0" err="1">
                <a:solidFill>
                  <a:srgbClr val="FF0000"/>
                </a:solidFill>
              </a:rPr>
              <a:t>ChildOf|Other</a:t>
            </a:r>
            <a:r>
              <a:rPr lang="en-US" sz="1800" dirty="0"/>
              <a:t>) </a:t>
            </a:r>
            <a:r>
              <a:rPr lang="en-US" sz="1800" dirty="0">
                <a:solidFill>
                  <a:srgbClr val="FF0000"/>
                </a:solidFill>
              </a:rPr>
              <a:t>CWE-440: Expected Behavior Violation</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ChildOf|Other</a:t>
            </a:r>
            <a:r>
              <a:rPr lang="en-US" sz="1800" dirty="0"/>
              <a:t>) </a:t>
            </a:r>
            <a:r>
              <a:rPr lang="en-US" sz="1800" dirty="0">
                <a:solidFill>
                  <a:srgbClr val="FF0000"/>
                </a:solidFill>
              </a:rPr>
              <a:t>CWE-684: Incorrect Provision of Specified Functionality</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ChildOf|ParentOf|Other</a:t>
            </a:r>
            <a:r>
              <a:rPr lang="en-US" sz="1800" dirty="0"/>
              <a:t>) </a:t>
            </a:r>
            <a:r>
              <a:rPr lang="en-US" sz="1800" dirty="0">
                <a:solidFill>
                  <a:srgbClr val="FF0000"/>
                </a:solidFill>
              </a:rPr>
              <a:t>CWE-691: Insufficient Control Flow Management</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endParaRPr lang="en-US" sz="1800" dirty="0"/>
          </a:p>
          <a:p>
            <a:r>
              <a:rPr lang="en-US" sz="1800" dirty="0"/>
              <a:t>(</a:t>
            </a:r>
            <a:r>
              <a:rPr lang="en-US" sz="1800" dirty="0" err="1">
                <a:solidFill>
                  <a:srgbClr val="FF0000"/>
                </a:solidFill>
              </a:rPr>
              <a:t>ChildOf|ParentOf|Other</a:t>
            </a:r>
            <a:r>
              <a:rPr lang="en-US" sz="1800" dirty="0"/>
              <a:t>) proposed – CWE-665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pPr lvl="1"/>
            <a:endParaRPr lang="en-US" sz="1800" dirty="0"/>
          </a:p>
          <a:p>
            <a:pPr marL="0" indent="0">
              <a:buNone/>
            </a:pPr>
            <a:endParaRPr lang="en-US" sz="1800" dirty="0"/>
          </a:p>
          <a:p>
            <a:pPr marL="0" indent="0">
              <a:buNone/>
            </a:pPr>
            <a:endParaRPr lang="en-US" sz="1800" dirty="0"/>
          </a:p>
          <a:p>
            <a:pPr lvl="1"/>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971823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a:bodyPr>
          <a:lstStyle/>
          <a:p>
            <a:r>
              <a:rPr lang="en-US" sz="2000" dirty="0"/>
              <a:t>Typical consequences when this weakness appears in real-world vulnerabilities</a:t>
            </a:r>
          </a:p>
          <a:p>
            <a:r>
              <a:rPr lang="en-US" sz="2000" u="sng" dirty="0"/>
              <a:t>Values for Scope</a:t>
            </a:r>
            <a:r>
              <a:rPr lang="en-US" sz="2000" dirty="0"/>
              <a:t>: </a:t>
            </a:r>
            <a:r>
              <a:rPr lang="en-US" sz="1500" dirty="0"/>
              <a:t>Confidentiality, Integrity, Availability, Access Control, Accountability, Authentication, Authorization, Non-Repudiation, Other</a:t>
            </a:r>
          </a:p>
          <a:p>
            <a:r>
              <a:rPr lang="en-US" sz="2000" u="sng" dirty="0"/>
              <a:t>Values for Impact</a:t>
            </a:r>
            <a:r>
              <a:rPr lang="en-US" sz="2000" dirty="0"/>
              <a:t>: </a:t>
            </a:r>
            <a:r>
              <a:rPr lang="en-US" sz="1500" dirty="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dirty="0" err="1"/>
              <a:t>Conseq</a:t>
            </a:r>
            <a:r>
              <a:rPr lang="en-US" sz="2000" dirty="0"/>
              <a:t> 1</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&lt;Generation of inaccurate, misleading, or nonsensical information.&gt;</a:t>
            </a:r>
          </a:p>
          <a:p>
            <a:r>
              <a:rPr lang="en-US" sz="2000" dirty="0" err="1"/>
              <a:t>Conseq</a:t>
            </a:r>
            <a:r>
              <a:rPr lang="en-US" sz="2000" dirty="0"/>
              <a:t> 2</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&lt;Reduced reliability and trust in the application or system utilizing the model&gt;</a:t>
            </a:r>
          </a:p>
          <a:p>
            <a:pPr lvl="1"/>
            <a:endParaRPr lang="en-US" sz="2000" dirty="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028834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A9749-FEA8-E048-217D-761EA80E3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31E59-9073-5D52-8444-888E15499D07}"/>
              </a:ext>
            </a:extLst>
          </p:cNvPr>
          <p:cNvSpPr>
            <a:spLocks noGrp="1"/>
          </p:cNvSpPr>
          <p:nvPr>
            <p:ph type="title"/>
          </p:nvPr>
        </p:nvSpPr>
        <p:spPr/>
        <p:txBody>
          <a:bodyPr/>
          <a:lstStyle/>
          <a:p>
            <a:r>
              <a:rPr lang="en-US" dirty="0"/>
              <a:t>Common Consequences - 2</a:t>
            </a:r>
          </a:p>
        </p:txBody>
      </p:sp>
      <p:sp>
        <p:nvSpPr>
          <p:cNvPr id="3" name="Content Placeholder 2">
            <a:extLst>
              <a:ext uri="{FF2B5EF4-FFF2-40B4-BE49-F238E27FC236}">
                <a16:creationId xmlns:a16="http://schemas.microsoft.com/office/drawing/2014/main" id="{7A47DD42-8C59-6CA9-62BF-7096FE227C8F}"/>
              </a:ext>
            </a:extLst>
          </p:cNvPr>
          <p:cNvSpPr>
            <a:spLocks noGrp="1"/>
          </p:cNvSpPr>
          <p:nvPr>
            <p:ph idx="1"/>
          </p:nvPr>
        </p:nvSpPr>
        <p:spPr/>
        <p:txBody>
          <a:bodyPr>
            <a:normAutofit/>
          </a:bodyPr>
          <a:lstStyle/>
          <a:p>
            <a:r>
              <a:rPr lang="en-US" sz="1400" dirty="0"/>
              <a:t>Typical consequences when this weakness appears in real-world vulnerabilities</a:t>
            </a:r>
          </a:p>
          <a:p>
            <a:r>
              <a:rPr lang="en-US" sz="1400" u="sng" dirty="0"/>
              <a:t>Values for Scope</a:t>
            </a:r>
            <a:r>
              <a:rPr lang="en-US" sz="1400" dirty="0"/>
              <a:t>: </a:t>
            </a:r>
            <a:r>
              <a:rPr lang="en-US" sz="1100" dirty="0"/>
              <a:t>Confidentiality, Integrity, Availability, Access Control, Accountability, Authentication, Authorization, Non-Repudiation, Other</a:t>
            </a:r>
          </a:p>
          <a:p>
            <a:r>
              <a:rPr lang="en-US" sz="1400" u="sng" dirty="0"/>
              <a:t>Values for Impact</a:t>
            </a:r>
            <a:r>
              <a:rPr lang="en-US" sz="1400" dirty="0"/>
              <a:t>: </a:t>
            </a:r>
            <a:r>
              <a:rPr lang="en-US" sz="1100" dirty="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dirty="0" err="1"/>
              <a:t>Conseq</a:t>
            </a:r>
            <a:r>
              <a:rPr lang="en-US" sz="2000" dirty="0"/>
              <a:t> 3</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&lt;Propagation of errors if outputs are used in critical decision-making processes.&gt;</a:t>
            </a:r>
          </a:p>
          <a:p>
            <a:r>
              <a:rPr lang="en-US" sz="2000" dirty="0" err="1"/>
              <a:t>Conseq</a:t>
            </a:r>
            <a:r>
              <a:rPr lang="en-US" sz="2000" dirty="0"/>
              <a:t> 4</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&lt;fill in here&gt;</a:t>
            </a:r>
          </a:p>
          <a:p>
            <a:pPr lvl="1"/>
            <a:endParaRPr lang="en-US" sz="2000" dirty="0"/>
          </a:p>
        </p:txBody>
      </p:sp>
      <p:sp>
        <p:nvSpPr>
          <p:cNvPr id="4" name="Slide Number Placeholder 3">
            <a:extLst>
              <a:ext uri="{FF2B5EF4-FFF2-40B4-BE49-F238E27FC236}">
                <a16:creationId xmlns:a16="http://schemas.microsoft.com/office/drawing/2014/main" id="{EE0CC505-9566-DDAC-69BC-AD6CB47915C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72186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dirty="0"/>
              <a:t>Introductory text – </a:t>
            </a:r>
            <a:r>
              <a:rPr lang="en-US" dirty="0">
                <a:solidFill>
                  <a:srgbClr val="FF0000"/>
                </a:solidFill>
              </a:rPr>
              <a:t>&lt;robotic / drone control using an LLM&gt;</a:t>
            </a:r>
          </a:p>
          <a:p>
            <a:endParaRPr lang="en-US" dirty="0">
              <a:solidFill>
                <a:srgbClr val="FF0000"/>
              </a:solidFill>
            </a:endParaRPr>
          </a:p>
          <a:p>
            <a:r>
              <a:rPr lang="en-US" dirty="0"/>
              <a:t>“Bad” code – </a:t>
            </a:r>
            <a:r>
              <a:rPr lang="en-US" dirty="0">
                <a:solidFill>
                  <a:srgbClr val="FF0000"/>
                </a:solidFill>
              </a:rPr>
              <a:t>&lt;design or code that contains the weakness&gt;</a:t>
            </a: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597833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dirty="0"/>
              <a:t>Introductory text – </a:t>
            </a:r>
            <a:r>
              <a:rPr lang="en-US" dirty="0">
                <a:solidFill>
                  <a:srgbClr val="FF0000"/>
                </a:solidFill>
              </a:rPr>
              <a:t>&lt;</a:t>
            </a:r>
            <a:r>
              <a:rPr lang="en-US" dirty="0" err="1">
                <a:solidFill>
                  <a:srgbClr val="FF0000"/>
                </a:solidFill>
              </a:rPr>
              <a:t>json</a:t>
            </a:r>
            <a:r>
              <a:rPr lang="en-US" dirty="0">
                <a:solidFill>
                  <a:srgbClr val="FF0000"/>
                </a:solidFill>
              </a:rPr>
              <a:t> formatting not being correct&gt;</a:t>
            </a:r>
          </a:p>
          <a:p>
            <a:endParaRPr lang="en-US" dirty="0">
              <a:solidFill>
                <a:srgbClr val="FF0000"/>
              </a:solidFill>
            </a:endParaRPr>
          </a:p>
          <a:p>
            <a:r>
              <a:rPr lang="en-US" dirty="0"/>
              <a:t>“Bad” code – </a:t>
            </a:r>
            <a:r>
              <a:rPr lang="en-US" dirty="0">
                <a:solidFill>
                  <a:srgbClr val="FF0000"/>
                </a:solidFill>
              </a:rPr>
              <a:t>&lt;design or code that contains the weakness&gt;</a:t>
            </a: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84019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dirty="0"/>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042931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dirty="0"/>
              <a:t>CWE-1039 Background</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dirty="0"/>
              <a:t>First published in March 2018</a:t>
            </a:r>
          </a:p>
          <a:p>
            <a:r>
              <a:rPr lang="en-US" dirty="0"/>
              <a:t>Initial focus on image recognition</a:t>
            </a:r>
          </a:p>
          <a:p>
            <a:r>
              <a:rPr lang="en-US" dirty="0"/>
              <a:t>No real changes since its creation</a:t>
            </a:r>
          </a:p>
          <a:p>
            <a:r>
              <a:rPr lang="en-US" dirty="0"/>
              <a:t>Incomplete entry</a:t>
            </a:r>
          </a:p>
          <a:p>
            <a:pPr lvl="1"/>
            <a:r>
              <a:rPr lang="en-US" dirty="0"/>
              <a:t>No examples (observed or demonstrative)</a:t>
            </a:r>
          </a:p>
          <a:p>
            <a:pPr lvl="1"/>
            <a:r>
              <a:rPr lang="en-US" dirty="0"/>
              <a:t>No mitigations</a:t>
            </a:r>
          </a:p>
          <a:p>
            <a:r>
              <a:rPr lang="en-US" dirty="0"/>
              <a:t>Focused improvements by Marissa Dotter</a:t>
            </a:r>
          </a:p>
          <a:p>
            <a:r>
              <a:rPr lang="en-US" dirty="0"/>
              <a:t>Changes to be made in CWE 4.17 (April 3)</a:t>
            </a:r>
          </a:p>
          <a:p>
            <a:endParaRPr lang="en-US" dirty="0"/>
          </a:p>
          <a:p>
            <a:r>
              <a:rPr lang="en-US" dirty="0">
                <a:hlinkClick r:id="rId2"/>
              </a:rPr>
              <a:t>https://cwe.mitre.org/data/definitions/1039.html</a:t>
            </a:r>
            <a:endParaRPr lang="en-US" dirty="0"/>
          </a:p>
          <a:p>
            <a:endParaRPr lang="en-US" dirty="0"/>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115378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dirty="0"/>
              <a:t>Detailed Review of CWE-1039</a:t>
            </a:r>
          </a:p>
        </p:txBody>
      </p:sp>
      <p:sp>
        <p:nvSpPr>
          <p:cNvPr id="3" name="Content Placeholder 2">
            <a:extLst>
              <a:ext uri="{FF2B5EF4-FFF2-40B4-BE49-F238E27FC236}">
                <a16:creationId xmlns:a16="http://schemas.microsoft.com/office/drawing/2014/main" id="{3201AC2E-83EC-D238-DA2E-906246DEC965}"/>
              </a:ext>
            </a:extLst>
          </p:cNvPr>
          <p:cNvSpPr>
            <a:spLocks noGrp="1"/>
          </p:cNvSpPr>
          <p:nvPr>
            <p:ph idx="1"/>
          </p:nvPr>
        </p:nvSpPr>
        <p:spPr/>
        <p:txBody>
          <a:bodyPr/>
          <a:lstStyle/>
          <a:p>
            <a:endParaRPr lang="en-US" dirty="0"/>
          </a:p>
          <a:p>
            <a:endParaRPr lang="en-US" dirty="0"/>
          </a:p>
          <a:p>
            <a:r>
              <a:rPr lang="en-US" dirty="0"/>
              <a:t>Marissa Dotter, MITRE</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488245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3AFD-6E2F-BA4A-BC7B-918A89DFD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812DD-543C-3E3D-E0DE-46FA46FDBA5C}"/>
              </a:ext>
            </a:extLst>
          </p:cNvPr>
          <p:cNvSpPr>
            <a:spLocks noGrp="1"/>
          </p:cNvSpPr>
          <p:nvPr>
            <p:ph type="ctrTitle" sz="quarter"/>
          </p:nvPr>
        </p:nvSpPr>
        <p:spPr/>
        <p:txBody>
          <a:bodyPr/>
          <a:lstStyle/>
          <a:p>
            <a:r>
              <a:rPr lang="en-US" dirty="0"/>
              <a:t>Work Planning</a:t>
            </a:r>
          </a:p>
        </p:txBody>
      </p:sp>
      <p:sp>
        <p:nvSpPr>
          <p:cNvPr id="3" name="Slide Number Placeholder 2">
            <a:extLst>
              <a:ext uri="{FF2B5EF4-FFF2-40B4-BE49-F238E27FC236}">
                <a16:creationId xmlns:a16="http://schemas.microsoft.com/office/drawing/2014/main" id="{F0CA8495-F9C7-3E91-8971-8D5B16E46A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949358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0AA5-5021-9B2B-5A28-629380182E16}"/>
              </a:ext>
            </a:extLst>
          </p:cNvPr>
          <p:cNvSpPr>
            <a:spLocks noGrp="1"/>
          </p:cNvSpPr>
          <p:nvPr>
            <p:ph type="title"/>
          </p:nvPr>
        </p:nvSpPr>
        <p:spPr/>
        <p:txBody>
          <a:bodyPr/>
          <a:lstStyle/>
          <a:p>
            <a:r>
              <a:rPr lang="en-US" dirty="0"/>
              <a:t>Priorities for Upcoming Modifications</a:t>
            </a:r>
          </a:p>
        </p:txBody>
      </p:sp>
      <p:sp>
        <p:nvSpPr>
          <p:cNvPr id="3" name="Content Placeholder 2">
            <a:extLst>
              <a:ext uri="{FF2B5EF4-FFF2-40B4-BE49-F238E27FC236}">
                <a16:creationId xmlns:a16="http://schemas.microsoft.com/office/drawing/2014/main" id="{7241ED6B-5B9D-AF98-01C0-835D030F15E7}"/>
              </a:ext>
            </a:extLst>
          </p:cNvPr>
          <p:cNvSpPr>
            <a:spLocks noGrp="1"/>
          </p:cNvSpPr>
          <p:nvPr>
            <p:ph idx="1"/>
          </p:nvPr>
        </p:nvSpPr>
        <p:spPr/>
        <p:txBody>
          <a:bodyPr/>
          <a:lstStyle/>
          <a:p>
            <a:r>
              <a:rPr lang="en-US" sz="2000" dirty="0"/>
              <a:t> Should we focus on specific elements in a variety of CWEs?</a:t>
            </a:r>
          </a:p>
          <a:p>
            <a:pPr lvl="1"/>
            <a:r>
              <a:rPr lang="en-US" sz="2000" dirty="0"/>
              <a:t>Observed (real-world) and demonstrative examples</a:t>
            </a:r>
          </a:p>
          <a:p>
            <a:pPr lvl="2"/>
            <a:r>
              <a:rPr lang="en-US" sz="2000" dirty="0" err="1"/>
              <a:t>Obex</a:t>
            </a:r>
            <a:r>
              <a:rPr lang="en-US" sz="2000" dirty="0"/>
              <a:t> can be hard to find; </a:t>
            </a:r>
            <a:r>
              <a:rPr lang="en-US" sz="2000" dirty="0" err="1"/>
              <a:t>demox</a:t>
            </a:r>
            <a:r>
              <a:rPr lang="en-US" sz="2000" dirty="0"/>
              <a:t> are labor-intensive</a:t>
            </a:r>
          </a:p>
          <a:p>
            <a:pPr lvl="1"/>
            <a:r>
              <a:rPr lang="en-US" sz="2000" dirty="0"/>
              <a:t>References</a:t>
            </a:r>
          </a:p>
          <a:p>
            <a:pPr lvl="1"/>
            <a:r>
              <a:rPr lang="en-US" sz="2000" dirty="0"/>
              <a:t>AI-specific mitigations</a:t>
            </a:r>
          </a:p>
          <a:p>
            <a:pPr lvl="1"/>
            <a:r>
              <a:rPr lang="en-US" sz="2000" dirty="0"/>
              <a:t>(examples and references were suggested last year; Steve will dig them up)</a:t>
            </a:r>
          </a:p>
          <a:p>
            <a:r>
              <a:rPr lang="en-US" sz="2000" dirty="0"/>
              <a:t>Should we look for other CWEs that should be tagged as affecting AI/ML?</a:t>
            </a:r>
          </a:p>
          <a:p>
            <a:pPr lvl="1"/>
            <a:r>
              <a:rPr lang="en-US" sz="2000" dirty="0"/>
              <a:t>CWE-912: Hidden Functionality</a:t>
            </a:r>
          </a:p>
          <a:p>
            <a:r>
              <a:rPr lang="en-US" sz="2000" dirty="0"/>
              <a:t>Systematic review of AI-vuln related documents?</a:t>
            </a:r>
          </a:p>
          <a:p>
            <a:pPr lvl="1"/>
            <a:r>
              <a:rPr lang="en-US" sz="2000" dirty="0"/>
              <a:t>OWASP, NIST, ATLAS, etc.</a:t>
            </a:r>
          </a:p>
          <a:p>
            <a:pPr lvl="1"/>
            <a:r>
              <a:rPr lang="en-US" sz="2000" dirty="0"/>
              <a:t>Result: taxonomy mappings and references; but also time-consuming</a:t>
            </a:r>
          </a:p>
          <a:p>
            <a:r>
              <a:rPr lang="en-US" sz="2000" dirty="0"/>
              <a:t>Or... just any kind of modification that people think of along the way?</a:t>
            </a:r>
          </a:p>
          <a:p>
            <a:r>
              <a:rPr lang="en-US" sz="2000" dirty="0"/>
              <a:t>CWE 5.0 (future) – schema changes to support AI-specific data (e.g., lifecycle)</a:t>
            </a:r>
          </a:p>
          <a:p>
            <a:endParaRPr lang="en-US" sz="2000" dirty="0"/>
          </a:p>
        </p:txBody>
      </p:sp>
      <p:sp>
        <p:nvSpPr>
          <p:cNvPr id="4" name="Slide Number Placeholder 3">
            <a:extLst>
              <a:ext uri="{FF2B5EF4-FFF2-40B4-BE49-F238E27FC236}">
                <a16:creationId xmlns:a16="http://schemas.microsoft.com/office/drawing/2014/main" id="{088472EA-B725-8D57-C583-1A3F09C370B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903769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C4C91-7F89-36DC-4110-71CD5DA1A251}"/>
              </a:ext>
            </a:extLst>
          </p:cNvPr>
          <p:cNvSpPr>
            <a:spLocks noGrp="1"/>
          </p:cNvSpPr>
          <p:nvPr>
            <p:ph type="title"/>
          </p:nvPr>
        </p:nvSpPr>
        <p:spPr/>
        <p:txBody>
          <a:bodyPr/>
          <a:lstStyle/>
          <a:p>
            <a:r>
              <a:rPr lang="en-US" dirty="0"/>
              <a:t>How to Collaborate on Modifications?</a:t>
            </a:r>
          </a:p>
        </p:txBody>
      </p:sp>
      <p:sp>
        <p:nvSpPr>
          <p:cNvPr id="3" name="Content Placeholder 2">
            <a:extLst>
              <a:ext uri="{FF2B5EF4-FFF2-40B4-BE49-F238E27FC236}">
                <a16:creationId xmlns:a16="http://schemas.microsoft.com/office/drawing/2014/main" id="{14CCD47B-51B1-465D-AC6D-E3C7BDA0FD75}"/>
              </a:ext>
            </a:extLst>
          </p:cNvPr>
          <p:cNvSpPr>
            <a:spLocks noGrp="1"/>
          </p:cNvSpPr>
          <p:nvPr>
            <p:ph idx="1"/>
          </p:nvPr>
        </p:nvSpPr>
        <p:spPr/>
        <p:txBody>
          <a:bodyPr/>
          <a:lstStyle/>
          <a:p>
            <a:r>
              <a:rPr lang="en-US" dirty="0"/>
              <a:t>AIWG mailing list</a:t>
            </a:r>
          </a:p>
          <a:p>
            <a:r>
              <a:rPr lang="en-US" dirty="0"/>
              <a:t>Focused discussion in CDR</a:t>
            </a:r>
          </a:p>
          <a:p>
            <a:r>
              <a:rPr lang="en-US" dirty="0"/>
              <a:t>Could be tied to CDR submissions</a:t>
            </a:r>
          </a:p>
          <a:p>
            <a:pPr lvl="1"/>
            <a:r>
              <a:rPr lang="en-US" dirty="0"/>
              <a:t>Similar to how we track new entries</a:t>
            </a:r>
          </a:p>
          <a:p>
            <a:pPr lvl="1"/>
            <a:r>
              <a:rPr lang="en-US" dirty="0"/>
              <a:t>This isn’t essential</a:t>
            </a:r>
          </a:p>
          <a:p>
            <a:endParaRPr lang="en-US" dirty="0"/>
          </a:p>
          <a:p>
            <a:r>
              <a:rPr lang="en-US" dirty="0"/>
              <a:t>Shared document editing?</a:t>
            </a:r>
          </a:p>
          <a:p>
            <a:pPr lvl="1"/>
            <a:r>
              <a:rPr lang="en-US" dirty="0"/>
              <a:t>Many pros and cons</a:t>
            </a:r>
          </a:p>
          <a:p>
            <a:pPr lvl="1"/>
            <a:r>
              <a:rPr lang="en-US" dirty="0"/>
              <a:t>Maybe “review and comment”</a:t>
            </a:r>
          </a:p>
          <a:p>
            <a:pPr lvl="1"/>
            <a:r>
              <a:rPr lang="en-US" dirty="0"/>
              <a:t>Google docs? Or a shared CDR submission file (text-based)</a:t>
            </a:r>
          </a:p>
          <a:p>
            <a:pPr lvl="1"/>
            <a:endParaRPr lang="en-US" dirty="0"/>
          </a:p>
        </p:txBody>
      </p:sp>
      <p:sp>
        <p:nvSpPr>
          <p:cNvPr id="4" name="Slide Number Placeholder 3">
            <a:extLst>
              <a:ext uri="{FF2B5EF4-FFF2-40B4-BE49-F238E27FC236}">
                <a16:creationId xmlns:a16="http://schemas.microsoft.com/office/drawing/2014/main" id="{7698F056-51B1-7769-6040-BD720FAE4C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482340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dirty="0"/>
              <a:t>Upcoming meetings:</a:t>
            </a:r>
          </a:p>
          <a:p>
            <a:pPr lvl="1"/>
            <a:r>
              <a:rPr lang="en-US" dirty="0"/>
              <a:t>Modifications: April 11 (after 4.17 release)</a:t>
            </a:r>
          </a:p>
          <a:p>
            <a:pPr lvl="1"/>
            <a:r>
              <a:rPr lang="en-US" dirty="0"/>
              <a:t>New entries: March 28</a:t>
            </a:r>
          </a:p>
          <a:p>
            <a:endParaRPr lang="en-US" dirty="0"/>
          </a:p>
          <a:p>
            <a:r>
              <a:rPr lang="en-US" dirty="0"/>
              <a:t>Formalize subgroup leadership</a:t>
            </a:r>
          </a:p>
          <a:p>
            <a:endParaRPr lang="en-US" dirty="0"/>
          </a:p>
          <a:p>
            <a:r>
              <a:rPr lang="en-US" dirty="0"/>
              <a:t>Focused modifications for CWE 4.17</a:t>
            </a:r>
          </a:p>
          <a:p>
            <a:endParaRPr lang="en-US" dirty="0"/>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316226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dirty="0"/>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dirty="0"/>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dirty="0"/>
              <a:t>Must be focused only on the weakness (mistake), without describing the attack, technical impact, etc.</a:t>
            </a:r>
          </a:p>
          <a:p>
            <a:r>
              <a:rPr lang="en-US" sz="1800" dirty="0"/>
              <a:t>Dimensions: behavior (required), property [incorrect/insecure/out-of-bounds/etc., technology, language, and resource (file, memory, etc.)</a:t>
            </a:r>
          </a:p>
          <a:p>
            <a:r>
              <a:rPr lang="en-US" sz="1800" dirty="0"/>
              <a:t>Must include some aspect of “the mistake”</a:t>
            </a:r>
          </a:p>
          <a:p>
            <a:endParaRPr lang="en-US" sz="1800" dirty="0"/>
          </a:p>
          <a:p>
            <a:endParaRPr lang="en-US" sz="1800" dirty="0"/>
          </a:p>
          <a:p>
            <a:r>
              <a:rPr lang="en-US" sz="1800" dirty="0"/>
              <a:t>Name 1: </a:t>
            </a:r>
            <a:r>
              <a:rPr lang="en-US" sz="1800" dirty="0">
                <a:solidFill>
                  <a:srgbClr val="FF0000"/>
                </a:solidFill>
              </a:rPr>
              <a:t>&lt;fill in here&gt;</a:t>
            </a:r>
          </a:p>
          <a:p>
            <a:r>
              <a:rPr lang="en-US" sz="1800" dirty="0"/>
              <a:t>Name 2: </a:t>
            </a:r>
            <a:r>
              <a:rPr lang="en-US" sz="1800" dirty="0">
                <a:solidFill>
                  <a:srgbClr val="FF0000"/>
                </a:solidFill>
              </a:rPr>
              <a:t>&lt;fill in here&gt;</a:t>
            </a:r>
          </a:p>
          <a:p>
            <a:r>
              <a:rPr lang="en-US" sz="1800" dirty="0"/>
              <a:t>Internal Notes: </a:t>
            </a:r>
            <a:r>
              <a:rPr lang="en-US" sz="1800" dirty="0">
                <a:solidFill>
                  <a:srgbClr val="FF0000"/>
                </a:solidFill>
              </a:rPr>
              <a:t>&lt;fill in here&gt;</a:t>
            </a:r>
          </a:p>
          <a:p>
            <a:endParaRPr lang="en-US" sz="1800" dirty="0"/>
          </a:p>
          <a:p>
            <a:endParaRPr lang="en-US" sz="1800" dirty="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55</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dirty="0"/>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dirty="0"/>
              <a:t>Should be one sentence, focused on behavior [required], property, technology, language, and resource; no mentions of attack, technical impact, mitigation, etc.</a:t>
            </a:r>
          </a:p>
          <a:p>
            <a:r>
              <a:rPr lang="en-US" sz="2000" dirty="0"/>
              <a:t>Alt Desc 1: </a:t>
            </a:r>
            <a:r>
              <a:rPr lang="en-US" sz="2000" dirty="0">
                <a:solidFill>
                  <a:srgbClr val="FF0000"/>
                </a:solidFill>
              </a:rPr>
              <a:t>&lt;fill in here&gt;</a:t>
            </a:r>
          </a:p>
          <a:p>
            <a:r>
              <a:rPr lang="en-US" sz="2000" dirty="0"/>
              <a:t>Alt Desc 2: </a:t>
            </a:r>
            <a:r>
              <a:rPr lang="en-US" sz="2000" dirty="0">
                <a:solidFill>
                  <a:srgbClr val="FF0000"/>
                </a:solidFill>
              </a:rPr>
              <a:t>&lt;fill in here&gt;</a:t>
            </a:r>
          </a:p>
          <a:p>
            <a:r>
              <a:rPr lang="en-US" sz="2000" dirty="0"/>
              <a:t>Questions/comments:</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56</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dirty="0"/>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dirty="0"/>
              <a:t>(</a:t>
            </a:r>
            <a:r>
              <a:rPr lang="en-US" sz="1800" dirty="0" err="1">
                <a:solidFill>
                  <a:srgbClr val="FF0000"/>
                </a:solidFill>
              </a:rPr>
              <a:t>ChildOf|ParentOf|Other</a:t>
            </a:r>
            <a:r>
              <a:rPr lang="en-US" sz="1800" dirty="0"/>
              <a:t>)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ChildOf|ParentOf|Other</a:t>
            </a:r>
            <a:r>
              <a:rPr lang="en-US" sz="1800" dirty="0"/>
              <a:t>)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ChildOf|ParentOf|Other</a:t>
            </a:r>
            <a:r>
              <a:rPr lang="en-US" sz="1800" dirty="0"/>
              <a:t>)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pPr lvl="1"/>
            <a:endParaRPr lang="en-US" sz="1800" dirty="0"/>
          </a:p>
          <a:p>
            <a:pPr marL="0" indent="0">
              <a:buNone/>
            </a:pPr>
            <a:endParaRPr lang="en-US" sz="1800" dirty="0"/>
          </a:p>
          <a:p>
            <a:pPr lvl="1"/>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dirty="0"/>
              <a:t>Typical consequences when this weakness appears in real-world vulnerabilities</a:t>
            </a:r>
          </a:p>
          <a:p>
            <a:r>
              <a:rPr lang="en-US" sz="2000" u="sng" dirty="0"/>
              <a:t>Values for Scope</a:t>
            </a:r>
            <a:r>
              <a:rPr lang="en-US" sz="2000" dirty="0"/>
              <a:t>: </a:t>
            </a:r>
            <a:r>
              <a:rPr lang="en-US" sz="1500" dirty="0"/>
              <a:t>Confidentiality, Integrity, Availability, Access Control, Accountability, Authentication, Authorization, Non-Repudiation, Other</a:t>
            </a:r>
          </a:p>
          <a:p>
            <a:r>
              <a:rPr lang="en-US" sz="2000" u="sng" dirty="0"/>
              <a:t>Values for Impact</a:t>
            </a:r>
            <a:r>
              <a:rPr lang="en-US" sz="2000" dirty="0"/>
              <a:t>: </a:t>
            </a:r>
            <a:r>
              <a:rPr lang="en-US" sz="1500" dirty="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dirty="0" err="1"/>
              <a:t>Conseq</a:t>
            </a:r>
            <a:r>
              <a:rPr lang="en-US" sz="2000" dirty="0"/>
              <a:t> 1</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&lt;fill in here&gt;</a:t>
            </a:r>
          </a:p>
          <a:p>
            <a:r>
              <a:rPr lang="en-US" sz="2000" dirty="0" err="1"/>
              <a:t>Conseq</a:t>
            </a:r>
            <a:r>
              <a:rPr lang="en-US" sz="2000" dirty="0"/>
              <a:t> 2</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&lt;fill in here&gt;</a:t>
            </a:r>
          </a:p>
          <a:p>
            <a:pPr lvl="1"/>
            <a:endParaRPr lang="en-US" sz="2000" dirty="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dirty="0"/>
              <a:t>Values for Phase</a:t>
            </a:r>
            <a:r>
              <a:rPr lang="en-US" sz="1400" dirty="0"/>
              <a:t>: </a:t>
            </a:r>
            <a:r>
              <a:rPr lang="en-US" sz="14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dirty="0"/>
              <a:t>Values for Effectiveness</a:t>
            </a:r>
            <a:r>
              <a:rPr lang="en-US" sz="1400" dirty="0"/>
              <a:t>: </a:t>
            </a:r>
            <a:r>
              <a:rPr lang="en-US" sz="1400" b="0" dirty="0"/>
              <a:t>High, Moderate, Limited, Incidental, Discouraged Common Practice, Defense in Depth, None</a:t>
            </a:r>
          </a:p>
          <a:p>
            <a:endParaRPr lang="en-US" sz="1700" dirty="0"/>
          </a:p>
          <a:p>
            <a:r>
              <a:rPr lang="en-US" sz="1700" dirty="0"/>
              <a:t>Mitigation 1</a:t>
            </a:r>
          </a:p>
          <a:p>
            <a:pPr lvl="1"/>
            <a:r>
              <a:rPr lang="en-US" sz="1700" dirty="0"/>
              <a:t>SDLC phase: </a:t>
            </a:r>
            <a:r>
              <a:rPr lang="en-US" sz="1700" dirty="0">
                <a:solidFill>
                  <a:srgbClr val="FF0000"/>
                </a:solidFill>
              </a:rPr>
              <a:t>&lt;fill in here&gt;</a:t>
            </a:r>
            <a:endParaRPr lang="en-US" sz="1700" dirty="0"/>
          </a:p>
          <a:p>
            <a:pPr lvl="1"/>
            <a:r>
              <a:rPr lang="en-US" sz="1700" dirty="0"/>
              <a:t>Name/brief desc: </a:t>
            </a:r>
            <a:r>
              <a:rPr lang="en-US" sz="1700" dirty="0">
                <a:solidFill>
                  <a:srgbClr val="FF0000"/>
                </a:solidFill>
              </a:rPr>
              <a:t>&lt;fill in here&gt; </a:t>
            </a:r>
          </a:p>
          <a:p>
            <a:pPr lvl="1"/>
            <a:r>
              <a:rPr lang="en-US" sz="1700" dirty="0"/>
              <a:t>Effectiveness: </a:t>
            </a:r>
            <a:r>
              <a:rPr lang="en-US" sz="1700" dirty="0">
                <a:solidFill>
                  <a:srgbClr val="FF0000"/>
                </a:solidFill>
              </a:rPr>
              <a:t>&lt;fill in here&gt;</a:t>
            </a:r>
            <a:endParaRPr lang="en-US" sz="1700" dirty="0"/>
          </a:p>
          <a:p>
            <a:r>
              <a:rPr lang="en-US" sz="1700" dirty="0"/>
              <a:t>Mitigation 2</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&lt;fill in here&gt;</a:t>
            </a:r>
          </a:p>
          <a:p>
            <a:pPr lvl="1"/>
            <a:r>
              <a:rPr lang="en-US" sz="1700" dirty="0"/>
              <a:t>Effectiveness:</a:t>
            </a:r>
            <a:r>
              <a:rPr lang="en-US" sz="1700" dirty="0">
                <a:solidFill>
                  <a:srgbClr val="FF0000"/>
                </a:solidFill>
              </a:rPr>
              <a:t>&lt;fill in here&gt;</a:t>
            </a:r>
            <a:endParaRPr lang="en-US" sz="1700" dirty="0"/>
          </a:p>
          <a:p>
            <a:r>
              <a:rPr lang="en-US" sz="1700" dirty="0"/>
              <a:t>Mitigation 3</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&lt;fill in here&gt;</a:t>
            </a:r>
          </a:p>
          <a:p>
            <a:pPr lvl="1"/>
            <a:r>
              <a:rPr lang="en-US" sz="1700" dirty="0"/>
              <a:t>Effectiveness:</a:t>
            </a:r>
            <a:r>
              <a:rPr lang="en-US" sz="1700" dirty="0">
                <a:solidFill>
                  <a:srgbClr val="FF0000"/>
                </a:solidFill>
              </a:rPr>
              <a:t>&lt;fill in here&gt;</a:t>
            </a:r>
            <a:endParaRPr lang="en-US" sz="1700" dirty="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dirty="0"/>
              <a:t>Give how the weakness can be detected by the developer, designer, or tester (… or the adversary ;-))</a:t>
            </a:r>
          </a:p>
          <a:p>
            <a:r>
              <a:rPr lang="en-US" sz="2000" u="sng" dirty="0"/>
              <a:t>Values for Method</a:t>
            </a:r>
            <a:r>
              <a:rPr lang="en-US" sz="2000" dirty="0"/>
              <a:t>: </a:t>
            </a:r>
            <a:r>
              <a:rPr lang="en-US" sz="1400" b="0" dirty="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dirty="0"/>
              <a:t>Values for Effectiveness</a:t>
            </a:r>
            <a:r>
              <a:rPr lang="en-US" sz="1800" dirty="0"/>
              <a:t>: High, Moderate, Opportunistic, Limited, None</a:t>
            </a:r>
          </a:p>
          <a:p>
            <a:r>
              <a:rPr lang="en-US" sz="1800" dirty="0"/>
              <a:t>Detection Method 1</a:t>
            </a:r>
          </a:p>
          <a:p>
            <a:pPr lvl="1"/>
            <a:r>
              <a:rPr lang="en-US" sz="1800" dirty="0"/>
              <a:t>Method: </a:t>
            </a:r>
            <a:r>
              <a:rPr lang="en-US" sz="1800" dirty="0">
                <a:solidFill>
                  <a:srgbClr val="FF0000"/>
                </a:solidFill>
              </a:rPr>
              <a:t>&lt;fill in here&gt;</a:t>
            </a:r>
          </a:p>
          <a:p>
            <a:pPr lvl="1"/>
            <a:r>
              <a:rPr lang="en-US" sz="1800" dirty="0"/>
              <a:t>Desc:</a:t>
            </a:r>
            <a:r>
              <a:rPr lang="en-US" sz="1800" dirty="0">
                <a:solidFill>
                  <a:srgbClr val="FF0000"/>
                </a:solidFill>
              </a:rPr>
              <a:t> &lt;fill in here&gt;</a:t>
            </a:r>
          </a:p>
          <a:p>
            <a:r>
              <a:rPr lang="en-US" sz="1800" dirty="0"/>
              <a:t>Detection Method 2</a:t>
            </a:r>
          </a:p>
          <a:p>
            <a:pPr lvl="1"/>
            <a:r>
              <a:rPr lang="en-US" sz="1800" dirty="0"/>
              <a:t>Method: </a:t>
            </a:r>
            <a:r>
              <a:rPr lang="en-US" sz="1800" dirty="0">
                <a:solidFill>
                  <a:srgbClr val="FF0000"/>
                </a:solidFill>
              </a:rPr>
              <a:t>&lt;fill in here&gt;</a:t>
            </a:r>
          </a:p>
          <a:p>
            <a:pPr lvl="1"/>
            <a:r>
              <a:rPr lang="en-US" sz="1800" dirty="0"/>
              <a:t>Desc: </a:t>
            </a:r>
            <a:r>
              <a:rPr lang="en-US" sz="1800" dirty="0">
                <a:solidFill>
                  <a:srgbClr val="FF0000"/>
                </a:solidFill>
              </a:rPr>
              <a:t>&lt;fill in here&gt;</a:t>
            </a:r>
          </a:p>
          <a:p>
            <a:pPr lvl="1"/>
            <a:endParaRPr lang="en-US" sz="2000" dirty="0"/>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dirty="0"/>
              <a:t>Use created “AI/ML” Applicable Platform element</a:t>
            </a:r>
          </a:p>
          <a:p>
            <a:pPr marL="685800" lvl="1" indent="-303530"/>
            <a:r>
              <a:rPr lang="en-US" sz="2000" dirty="0"/>
              <a:t>Examples: web server, database server, memory hardware, etc.</a:t>
            </a:r>
          </a:p>
          <a:p>
            <a:pPr marL="685800" lvl="1" indent="-303530"/>
            <a:r>
              <a:rPr lang="en-US" sz="2000" dirty="0"/>
              <a:t>Tech class: cloud computing, system on chip, web based, …</a:t>
            </a:r>
          </a:p>
          <a:p>
            <a:r>
              <a:rPr lang="en-US" sz="2000" dirty="0"/>
              <a:t>Platform 1:</a:t>
            </a:r>
          </a:p>
          <a:p>
            <a:pPr lvl="1"/>
            <a:r>
              <a:rPr lang="en-US" sz="2000" dirty="0"/>
              <a:t>Technology Type: </a:t>
            </a:r>
            <a:r>
              <a:rPr lang="en-US" sz="2000" dirty="0">
                <a:solidFill>
                  <a:srgbClr val="FF0000"/>
                </a:solidFill>
              </a:rPr>
              <a:t>&lt;fill in here&gt;</a:t>
            </a:r>
            <a:endParaRPr lang="en-US" sz="2000" dirty="0"/>
          </a:p>
          <a:p>
            <a:pPr lvl="1"/>
            <a:r>
              <a:rPr lang="en-US" sz="2000" dirty="0"/>
              <a:t>Languages: </a:t>
            </a:r>
            <a:r>
              <a:rPr lang="en-US" sz="2000" dirty="0">
                <a:solidFill>
                  <a:srgbClr val="FF0000"/>
                </a:solidFill>
              </a:rPr>
              <a:t>&lt;fill in here – or say ‘language-independent’&gt;</a:t>
            </a:r>
          </a:p>
          <a:p>
            <a:pPr lvl="1"/>
            <a:r>
              <a:rPr lang="en-US" sz="2000" dirty="0"/>
              <a:t>Notes: </a:t>
            </a:r>
            <a:r>
              <a:rPr lang="en-US" sz="2000" dirty="0">
                <a:solidFill>
                  <a:srgbClr val="FF0000"/>
                </a:solidFill>
              </a:rPr>
              <a:t>&lt;fill in here; could be added as “Application Platform” notes&gt;</a:t>
            </a:r>
          </a:p>
          <a:p>
            <a:r>
              <a:rPr lang="en-US" sz="2000" dirty="0"/>
              <a:t>Platform 2:</a:t>
            </a:r>
          </a:p>
          <a:p>
            <a:pPr lvl="1"/>
            <a:r>
              <a:rPr lang="en-US" sz="2000" dirty="0"/>
              <a:t>Technology Type: </a:t>
            </a:r>
            <a:r>
              <a:rPr lang="en-US" sz="2000" dirty="0">
                <a:solidFill>
                  <a:srgbClr val="FF0000"/>
                </a:solidFill>
              </a:rPr>
              <a:t>&lt;fill in here&gt;</a:t>
            </a:r>
          </a:p>
          <a:p>
            <a:pPr lvl="1"/>
            <a:r>
              <a:rPr lang="en-US" sz="2000" dirty="0"/>
              <a:t>Languages: </a:t>
            </a:r>
            <a:r>
              <a:rPr lang="en-US" sz="2000" dirty="0">
                <a:solidFill>
                  <a:srgbClr val="FF0000"/>
                </a:solidFill>
              </a:rPr>
              <a:t>&lt;fill in here – or say ‘language-independent’&gt;</a:t>
            </a:r>
          </a:p>
          <a:p>
            <a:pPr lvl="1"/>
            <a:r>
              <a:rPr lang="en-US" sz="2000" dirty="0"/>
              <a:t>Notes: </a:t>
            </a:r>
            <a:r>
              <a:rPr lang="en-US" sz="2000" dirty="0">
                <a:solidFill>
                  <a:srgbClr val="FF0000"/>
                </a:solidFill>
              </a:rPr>
              <a:t>&lt;fill in here; could be added as “Application Platform” notes&gt;</a:t>
            </a:r>
          </a:p>
          <a:p>
            <a:endParaRPr lang="en-US" sz="2000" dirty="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dirty="0"/>
              <a:t>When/how does the developer (or other parties) introduce the weakness?</a:t>
            </a:r>
          </a:p>
          <a:p>
            <a:pPr lvl="1"/>
            <a:r>
              <a:rPr lang="en-US" dirty="0"/>
              <a:t>Notes – what the developer does and/or the assumptions they make</a:t>
            </a:r>
          </a:p>
          <a:p>
            <a:pPr>
              <a:lnSpc>
                <a:spcPct val="120000"/>
              </a:lnSpc>
            </a:pPr>
            <a:r>
              <a:rPr lang="en-US" dirty="0"/>
              <a:t>Values for Phase: </a:t>
            </a:r>
            <a:r>
              <a:rPr lang="en-US" sz="18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dirty="0"/>
              <a:t>(CWE 5.0 future: ability to use other lifecycle models?)</a:t>
            </a:r>
          </a:p>
          <a:p>
            <a:r>
              <a:rPr lang="en-US" dirty="0"/>
              <a:t>Mode 1:</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&lt;fill in here&gt;</a:t>
            </a:r>
          </a:p>
          <a:p>
            <a:r>
              <a:rPr lang="en-US" dirty="0"/>
              <a:t>Mode 2:</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&lt;fill in here&gt;</a:t>
            </a:r>
          </a:p>
          <a:p>
            <a:r>
              <a:rPr lang="en-US" dirty="0"/>
              <a:t>Mode 3:</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&lt;fill in here&gt;</a:t>
            </a:r>
          </a:p>
          <a:p>
            <a:endParaRPr lang="en-US" dirty="0"/>
          </a:p>
          <a:p>
            <a:endParaRPr lang="en-US" dirty="0">
              <a:solidFill>
                <a:srgbClr val="FF0000"/>
              </a:solidFill>
            </a:endParaRPr>
          </a:p>
          <a:p>
            <a:pPr lvl="1"/>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dirty="0"/>
              <a:t>Curated list of references</a:t>
            </a:r>
          </a:p>
          <a:p>
            <a:pPr lvl="1"/>
            <a:r>
              <a:rPr lang="en-US" sz="1600" dirty="0"/>
              <a:t>SHOULD explain or clarify the weakness</a:t>
            </a:r>
          </a:p>
          <a:p>
            <a:pPr lvl="1"/>
            <a:r>
              <a:rPr lang="en-US" sz="1600" dirty="0"/>
              <a:t>Understandable to the reader (assume 1-2 years’ developer experience)</a:t>
            </a:r>
          </a:p>
          <a:p>
            <a:pPr lvl="1"/>
            <a:r>
              <a:rPr lang="en-US" sz="1600" dirty="0"/>
              <a:t>Can’t be a large bibliography</a:t>
            </a:r>
          </a:p>
          <a:p>
            <a:r>
              <a:rPr lang="en-US" sz="1600" dirty="0"/>
              <a:t>Reference 1</a:t>
            </a:r>
          </a:p>
          <a:p>
            <a:pPr lvl="1"/>
            <a:r>
              <a:rPr lang="en-US" sz="1600" dirty="0"/>
              <a:t>Title: </a:t>
            </a:r>
            <a:r>
              <a:rPr lang="en-US" sz="1600" dirty="0">
                <a:solidFill>
                  <a:srgbClr val="FF0000"/>
                </a:solidFill>
              </a:rPr>
              <a:t>&lt;Fill Here&gt;</a:t>
            </a:r>
            <a:endParaRPr lang="en-US" sz="1600" dirty="0"/>
          </a:p>
          <a:p>
            <a:pPr lvl="1"/>
            <a:r>
              <a:rPr lang="en-US" sz="1600" dirty="0"/>
              <a:t>URL: </a:t>
            </a:r>
            <a:r>
              <a:rPr lang="en-US" sz="1600" dirty="0">
                <a:solidFill>
                  <a:srgbClr val="FF0000"/>
                </a:solidFill>
              </a:rPr>
              <a:t>&lt;Fill Here&gt;</a:t>
            </a:r>
            <a:endParaRPr lang="en-US" sz="1600" dirty="0"/>
          </a:p>
          <a:p>
            <a:r>
              <a:rPr lang="en-US" sz="1600" dirty="0"/>
              <a:t>Reference 2</a:t>
            </a:r>
          </a:p>
          <a:p>
            <a:pPr lvl="1"/>
            <a:r>
              <a:rPr lang="en-US" sz="1600" dirty="0"/>
              <a:t>Title: </a:t>
            </a:r>
            <a:r>
              <a:rPr lang="en-US" sz="1600" dirty="0">
                <a:solidFill>
                  <a:srgbClr val="FF0000"/>
                </a:solidFill>
              </a:rPr>
              <a:t>&lt;Fill Here&gt; </a:t>
            </a:r>
          </a:p>
          <a:p>
            <a:pPr lvl="1"/>
            <a:r>
              <a:rPr lang="en-US" sz="1600" dirty="0"/>
              <a:t>URL: </a:t>
            </a:r>
            <a:r>
              <a:rPr lang="en-US" sz="1600" dirty="0">
                <a:solidFill>
                  <a:srgbClr val="FF0000"/>
                </a:solidFill>
              </a:rPr>
              <a:t>&lt;Fill Here&gt; </a:t>
            </a:r>
          </a:p>
          <a:p>
            <a:r>
              <a:rPr lang="en-US" sz="1600" dirty="0"/>
              <a:t>Reference 3</a:t>
            </a:r>
          </a:p>
          <a:p>
            <a:pPr lvl="1"/>
            <a:r>
              <a:rPr lang="en-US" sz="1600" dirty="0"/>
              <a:t>Title: </a:t>
            </a:r>
            <a:r>
              <a:rPr lang="en-US" sz="1600" dirty="0">
                <a:solidFill>
                  <a:srgbClr val="FF0000"/>
                </a:solidFill>
              </a:rPr>
              <a:t>&lt;Fill Here&gt;</a:t>
            </a:r>
            <a:endParaRPr lang="fr-FR" sz="1600" dirty="0"/>
          </a:p>
          <a:p>
            <a:pPr lvl="1"/>
            <a:r>
              <a:rPr lang="en-US" sz="1600" dirty="0"/>
              <a:t>URL: </a:t>
            </a:r>
            <a:r>
              <a:rPr lang="en-US" sz="1600" dirty="0">
                <a:solidFill>
                  <a:srgbClr val="FF0000"/>
                </a:solidFill>
              </a:rPr>
              <a:t>&lt;Fill Here&gt;</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dirty="0"/>
              <a:t>Goal: a curated list of real-world examples (e.g., CVEs)</a:t>
            </a:r>
          </a:p>
          <a:p>
            <a:pPr lvl="1"/>
            <a:r>
              <a:rPr lang="en-US" sz="2000" dirty="0"/>
              <a:t>Need good, &lt;weakness&gt; oriented technical details</a:t>
            </a:r>
          </a:p>
          <a:p>
            <a:pPr lvl="1"/>
            <a:r>
              <a:rPr lang="en-US" sz="2000" dirty="0"/>
              <a:t>Should be easily understandable by the reader</a:t>
            </a:r>
          </a:p>
          <a:p>
            <a:r>
              <a:rPr lang="en-US" sz="1600" dirty="0" err="1"/>
              <a:t>Obex</a:t>
            </a:r>
            <a:r>
              <a:rPr lang="en-US" sz="1600" dirty="0"/>
              <a:t> 1</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p>
          <a:p>
            <a:r>
              <a:rPr lang="en-US" sz="1600" dirty="0" err="1"/>
              <a:t>Obex</a:t>
            </a:r>
            <a:r>
              <a:rPr lang="en-US" sz="1600" dirty="0"/>
              <a:t> 2</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r>
              <a:rPr lang="en-US" sz="1600" dirty="0" err="1"/>
              <a:t>Obex</a:t>
            </a:r>
            <a:r>
              <a:rPr lang="en-US" sz="1600" dirty="0"/>
              <a:t> 3</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endParaRPr lang="en-US" sz="2000" dirty="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dirty="0"/>
              <a:t>Goal: theoretical educational examples</a:t>
            </a:r>
          </a:p>
          <a:p>
            <a:r>
              <a:rPr lang="en-US" dirty="0"/>
              <a:t>Most discussion can happen on CDR</a:t>
            </a:r>
          </a:p>
          <a:p>
            <a:r>
              <a:rPr lang="en-US" dirty="0"/>
              <a:t>Any suggestions for kinds of scenarios to develop?</a:t>
            </a:r>
          </a:p>
          <a:p>
            <a:endParaRPr lang="en-US" dirty="0"/>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dirty="0"/>
              <a:t>Introductory text – </a:t>
            </a:r>
            <a:r>
              <a:rPr lang="en-US" dirty="0">
                <a:solidFill>
                  <a:srgbClr val="FF0000"/>
                </a:solidFill>
              </a:rPr>
              <a:t>&lt;fill here - what the developer is trying to do&gt;</a:t>
            </a:r>
          </a:p>
          <a:p>
            <a:endParaRPr lang="en-US" dirty="0">
              <a:solidFill>
                <a:srgbClr val="FF0000"/>
              </a:solidFill>
            </a:endParaRPr>
          </a:p>
          <a:p>
            <a:r>
              <a:rPr lang="en-US" dirty="0"/>
              <a:t>“Bad” code – </a:t>
            </a:r>
            <a:r>
              <a:rPr lang="en-US" dirty="0">
                <a:solidFill>
                  <a:srgbClr val="FF0000"/>
                </a:solidFill>
              </a:rPr>
              <a:t>&lt;design or code that contains the weakness&gt;</a:t>
            </a: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dirty="0"/>
              <a:t>Optional – often not necessary</a:t>
            </a:r>
          </a:p>
          <a:p>
            <a:r>
              <a:rPr lang="en-US" sz="2000" dirty="0"/>
              <a:t>Used when entries are known to be incomplete or require additional focused research</a:t>
            </a:r>
          </a:p>
          <a:p>
            <a:r>
              <a:rPr lang="en-US" sz="2000" dirty="0"/>
              <a:t>Essential for transparency</a:t>
            </a:r>
          </a:p>
          <a:p>
            <a:r>
              <a:rPr lang="en-US" sz="2000" dirty="0"/>
              <a:t>Types: Research Gap, Maintenance, Applicable Platform, Relationship, Terminology, Theoretical</a:t>
            </a:r>
          </a:p>
          <a:p>
            <a:r>
              <a:rPr lang="en-US" sz="2000" dirty="0"/>
              <a:t>Note 1</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endParaRPr lang="en-US" sz="2000" dirty="0"/>
          </a:p>
          <a:p>
            <a:r>
              <a:rPr lang="en-US" sz="2000" dirty="0"/>
              <a:t>Note 2</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dirty="0"/>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dirty="0">
                <a:latin typeface="Tahoma"/>
                <a:ea typeface="Tahoma"/>
                <a:cs typeface="Tahoma"/>
              </a:rPr>
              <a:t>Open Discussion: Goals for 2025</a:t>
            </a:r>
            <a:endParaRPr lang="en-US" dirty="0"/>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dirty="0"/>
              <a:t>Key context</a:t>
            </a:r>
          </a:p>
          <a:p>
            <a:pPr lvl="1"/>
            <a:r>
              <a:rPr lang="en-US" dirty="0"/>
              <a:t>This WG arose from high community interest</a:t>
            </a:r>
          </a:p>
          <a:p>
            <a:pPr lvl="1"/>
            <a:r>
              <a:rPr lang="en-US" dirty="0"/>
              <a:t>Non-MITRE co-chairs moved things along in the first 6+ months</a:t>
            </a:r>
          </a:p>
          <a:p>
            <a:r>
              <a:rPr lang="en-US" dirty="0"/>
              <a:t>Review: how well did the AI WG collaborate in 2024?</a:t>
            </a:r>
          </a:p>
          <a:p>
            <a:r>
              <a:rPr lang="en-US" dirty="0"/>
              <a:t>What could be done to improve effectiveness in 2025?</a:t>
            </a:r>
          </a:p>
          <a:p>
            <a:r>
              <a:rPr lang="en-US" dirty="0"/>
              <a:t>What kinds of goals / “KPIs” may be reasonable?</a:t>
            </a:r>
          </a:p>
          <a:p>
            <a:r>
              <a:rPr lang="en-US" dirty="0"/>
              <a:t>Near-term goal: AI-related changes to CWE 4.17 in March?</a:t>
            </a:r>
          </a:p>
          <a:p>
            <a:pPr lvl="1"/>
            <a:r>
              <a:rPr lang="en-US" dirty="0"/>
              <a:t>Current new submissions might be too complex/time-consuming</a:t>
            </a:r>
          </a:p>
          <a:p>
            <a:pPr lvl="1"/>
            <a:r>
              <a:rPr lang="en-US" dirty="0"/>
              <a:t>Modifying existing submissions might be more directly achievable</a:t>
            </a:r>
          </a:p>
          <a:p>
            <a:r>
              <a:rPr lang="en-US" dirty="0"/>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eb5a83af3e222bf8e11cec96fbc9fe15">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5574d5c6951382dc5161634b425c4a9d"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16BA5C9-2D71-4B86-AE8A-8C0D9BC5FB22}">
  <ds:schemaRefs>
    <ds:schemaRef ds:uri="http://schemas.microsoft.com/sharepoint/v3/contenttype/forms"/>
  </ds:schemaRefs>
</ds:datastoreItem>
</file>

<file path=customXml/itemProps2.xml><?xml version="1.0" encoding="utf-8"?>
<ds:datastoreItem xmlns:ds="http://schemas.openxmlformats.org/officeDocument/2006/customXml" ds:itemID="{5DF8095B-E508-4ED8-890A-B4429A56F5B8}"/>
</file>

<file path=customXml/itemProps3.xml><?xml version="1.0" encoding="utf-8"?>
<ds:datastoreItem xmlns:ds="http://schemas.openxmlformats.org/officeDocument/2006/customXml" ds:itemID="{5450FCDD-08B1-48D8-BB50-7A17E590A5EE}">
  <ds:schemaRefs>
    <ds:schemaRef ds:uri="http://schemas.openxmlformats.org/package/2006/metadata/core-properties"/>
    <ds:schemaRef ds:uri="http://schemas.microsoft.com/office/2006/documentManagement/types"/>
    <ds:schemaRef ds:uri="http://purl.org/dc/terms/"/>
    <ds:schemaRef ds:uri="http://schemas.microsoft.com/office/2006/metadata/properties"/>
    <ds:schemaRef ds:uri="http://purl.org/dc/dcmitype/"/>
    <ds:schemaRef ds:uri="http://purl.org/dc/elements/1.1/"/>
    <ds:schemaRef ds:uri="b5a44311-ed64-4a72-909f-c9dc6973bde2"/>
    <ds:schemaRef ds:uri="http://www.w3.org/XML/1998/namespace"/>
    <ds:schemaRef ds:uri="http://schemas.microsoft.com/office/infopath/2007/PartnerControls"/>
    <ds:schemaRef ds:uri="f3e578be-7961-41e8-91c9-b742ecb60a74"/>
    <ds:schemaRef ds:uri="aff8eeb6-53bf-44bf-a224-fac977cd228b"/>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756</TotalTime>
  <Words>6835</Words>
  <Application>Microsoft Office PowerPoint</Application>
  <PresentationFormat>Widescreen</PresentationFormat>
  <Paragraphs>677</Paragraphs>
  <Slides>70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70</vt:i4>
      </vt:variant>
    </vt:vector>
  </HeadingPairs>
  <TitlesOfParts>
    <vt:vector size="79" baseType="lpstr">
      <vt:lpstr>-apple-system</vt:lpstr>
      <vt:lpstr>Aptos</vt:lpstr>
      <vt:lpstr>Arial</vt:lpstr>
      <vt:lpstr>Calibri</vt:lpstr>
      <vt:lpstr>Helvetica LT Std</vt:lpstr>
      <vt:lpstr>Tahoma</vt:lpstr>
      <vt:lpstr>Verdana</vt:lpstr>
      <vt:lpstr>Wingdings</vt:lpstr>
      <vt:lpstr>mitre-2018</vt:lpstr>
      <vt:lpstr>CWE AI Working Group Meeting: New Entry Subgroup </vt:lpstr>
      <vt:lpstr>Agenda</vt:lpstr>
      <vt:lpstr>Status Updates</vt:lpstr>
      <vt:lpstr>Subgroups </vt:lpstr>
      <vt:lpstr>CWE 4.18 Release – AI-Related Details</vt:lpstr>
      <vt:lpstr>Managing the Workload</vt:lpstr>
      <vt:lpstr>Addressing Submissions in the Working Queue</vt:lpstr>
      <vt:lpstr>Future Content Work</vt:lpstr>
      <vt:lpstr>Other Work Items - New Entry Submissions</vt:lpstr>
      <vt:lpstr>New: “Improper Neutralization of Configurations Used for MCP Client” (Xinpeng Liu) ES2506-e3c78a2a </vt:lpstr>
      <vt:lpstr>Delayed: “Bias in AI Models” (Kurt Seifried) - ES2402-38e20ce6 </vt:lpstr>
      <vt:lpstr>Delayed: Insufficient Input Validation in Generative AI Applications (Steve / AI WG) ES2405-84711fc4</vt:lpstr>
      <vt:lpstr>New: Inclusion of ANSI escape codes in LLM tokenizer (Erick Galinkin)</vt:lpstr>
      <vt:lpstr>Issues: Inclusion of ANSI escape codes in LLM tokenizer (Erick Galinkin)</vt:lpstr>
      <vt:lpstr>New: “Improper Neutralization of Retrieved Content Used in AI Prompt Construction in AI/ML Systems” (Mehmet Yilmaz) </vt:lpstr>
      <vt:lpstr>Discussion</vt:lpstr>
      <vt:lpstr>Next Steps</vt:lpstr>
      <vt:lpstr>Next Steps</vt:lpstr>
      <vt:lpstr>Backup / Older Slides</vt:lpstr>
      <vt:lpstr>PowerPoint Presentation</vt:lpstr>
      <vt:lpstr>New Entry Development: ES2406-9e5fcf10: Insecure Setting of Generative AI/ML Model Inference Parameters </vt:lpstr>
      <vt:lpstr>ES2406-9e5fcf10 Status</vt:lpstr>
      <vt:lpstr>ES2406-9e5fcf10 – Basic Details</vt:lpstr>
      <vt:lpstr>Desc Alt Proposals</vt:lpstr>
      <vt:lpstr>Demonstrative Examples</vt:lpstr>
      <vt:lpstr>Reminder: Demonstrative example structure</vt:lpstr>
      <vt:lpstr>Demonstrative Example 3 – Introductory Text</vt:lpstr>
      <vt:lpstr>Demonstrative Example 3 – “Bad” Code</vt:lpstr>
      <vt:lpstr>Demonstrative example – 3 – Weakness Explanation</vt:lpstr>
      <vt:lpstr>Demonstrative example – 3 – “Good” Code</vt:lpstr>
      <vt:lpstr>Demonstrative example – 3 - Notes</vt:lpstr>
      <vt:lpstr>Modes of Introduction Worksheet</vt:lpstr>
      <vt:lpstr>Potential Mitigations Worksheet</vt:lpstr>
      <vt:lpstr>References Worksheet</vt:lpstr>
      <vt:lpstr>Already-Filled Elements</vt:lpstr>
      <vt:lpstr>Detection Methods Worksheet</vt:lpstr>
      <vt:lpstr>Observed Examples Worksheet</vt:lpstr>
      <vt:lpstr>Maintenance Notes Worksheet</vt:lpstr>
      <vt:lpstr>Discussion: Name</vt:lpstr>
      <vt:lpstr>Discussion: Description</vt:lpstr>
      <vt:lpstr>Discussion: Extended Description</vt:lpstr>
      <vt:lpstr>Relationships Worksheet</vt:lpstr>
      <vt:lpstr>Common Consequences Worksheet</vt:lpstr>
      <vt:lpstr>Common Consequences - 2</vt:lpstr>
      <vt:lpstr>Demonstrative example - 1</vt:lpstr>
      <vt:lpstr>Demonstrative example - 2</vt:lpstr>
      <vt:lpstr>Modifications to CWE-1039: Automated Recognition Mechanism with Inadequate Detection or Handling of Adversarial Input Perturbations</vt:lpstr>
      <vt:lpstr>CWE-1039 Background</vt:lpstr>
      <vt:lpstr>Detailed Review of CWE-1039</vt:lpstr>
      <vt:lpstr>Work Planning</vt:lpstr>
      <vt:lpstr>Priorities for Upcoming Modifications</vt:lpstr>
      <vt:lpstr>How to Collaborate on Modifications?</vt:lpstr>
      <vt:lpstr>Next Steps</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19</cp:revision>
  <dcterms:created xsi:type="dcterms:W3CDTF">2019-02-26T16:06:40Z</dcterms:created>
  <dcterms:modified xsi:type="dcterms:W3CDTF">2025-09-12T15:54:52Z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