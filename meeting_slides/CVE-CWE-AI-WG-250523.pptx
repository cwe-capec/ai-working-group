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57"/>
  </p:notesMasterIdLst>
  <p:handoutMasterIdLst>
    <p:handoutMasterId r:id="rId58"/>
  </p:handoutMasterIdLst>
  <p:sldIdLst>
    <p:sldId id="459" r:id="rId5"/>
    <p:sldId id="475" r:id="rId6"/>
    <p:sldId id="514" r:id="rId7"/>
    <p:sldId id="533" r:id="rId8"/>
    <p:sldId id="583" r:id="rId9"/>
    <p:sldId id="585" r:id="rId10"/>
    <p:sldId id="505" r:id="rId11"/>
    <p:sldId id="496" r:id="rId12"/>
    <p:sldId id="494" r:id="rId13"/>
    <p:sldId id="495" r:id="rId14"/>
    <p:sldId id="503" r:id="rId15"/>
    <p:sldId id="504" r:id="rId16"/>
    <p:sldId id="587" r:id="rId17"/>
    <p:sldId id="497" r:id="rId18"/>
    <p:sldId id="551" r:id="rId19"/>
    <p:sldId id="586" r:id="rId20"/>
    <p:sldId id="560" r:id="rId21"/>
    <p:sldId id="552" r:id="rId22"/>
    <p:sldId id="575" r:id="rId23"/>
    <p:sldId id="502" r:id="rId24"/>
    <p:sldId id="501" r:id="rId25"/>
    <p:sldId id="576" r:id="rId26"/>
    <p:sldId id="493" r:id="rId27"/>
    <p:sldId id="488" r:id="rId28"/>
    <p:sldId id="539" r:id="rId29"/>
    <p:sldId id="547" r:id="rId30"/>
    <p:sldId id="541" r:id="rId31"/>
    <p:sldId id="543" r:id="rId32"/>
    <p:sldId id="548" r:id="rId33"/>
    <p:sldId id="542" r:id="rId34"/>
    <p:sldId id="581" r:id="rId35"/>
    <p:sldId id="582" r:id="rId36"/>
    <p:sldId id="579" r:id="rId37"/>
    <p:sldId id="580" r:id="rId38"/>
    <p:sldId id="584" r:id="rId39"/>
    <p:sldId id="554" r:id="rId40"/>
    <p:sldId id="561" r:id="rId41"/>
    <p:sldId id="562" r:id="rId42"/>
    <p:sldId id="563" r:id="rId43"/>
    <p:sldId id="564" r:id="rId44"/>
    <p:sldId id="565" r:id="rId45"/>
    <p:sldId id="566" r:id="rId46"/>
    <p:sldId id="567" r:id="rId47"/>
    <p:sldId id="568" r:id="rId48"/>
    <p:sldId id="569" r:id="rId49"/>
    <p:sldId id="570" r:id="rId50"/>
    <p:sldId id="571" r:id="rId51"/>
    <p:sldId id="572" r:id="rId52"/>
    <p:sldId id="573" r:id="rId53"/>
    <p:sldId id="574" r:id="rId54"/>
    <p:sldId id="545" r:id="rId55"/>
    <p:sldId id="534"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41" autoAdjust="0"/>
    <p:restoredTop sz="94660"/>
  </p:normalViewPr>
  <p:slideViewPr>
    <p:cSldViewPr snapToGrid="0">
      <p:cViewPr varScale="1">
        <p:scale>
          <a:sx n="61" d="100"/>
          <a:sy n="61" d="100"/>
        </p:scale>
        <p:origin x="288"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C2F18F40-825E-4AB2-AAE5-04A45408A365}"/>
    <pc:docChg chg="modSld">
      <pc:chgData name="Steven M Christey" userId="f24da668-4c1f-41c0-850e-113e2bdf78cf" providerId="ADAL" clId="{C2F18F40-825E-4AB2-AAE5-04A45408A365}" dt="2025-06-06T14:35:02.444" v="8" actId="20577"/>
      <pc:docMkLst>
        <pc:docMk/>
      </pc:docMkLst>
      <pc:sldChg chg="modSp mod">
        <pc:chgData name="Steven M Christey" userId="f24da668-4c1f-41c0-850e-113e2bdf78cf" providerId="ADAL" clId="{C2F18F40-825E-4AB2-AAE5-04A45408A365}" dt="2025-06-06T14:35:02.444" v="8" actId="20577"/>
        <pc:sldMkLst>
          <pc:docMk/>
          <pc:sldMk cId="1454278300" sldId="459"/>
        </pc:sldMkLst>
        <pc:spChg chg="mod">
          <ac:chgData name="Steven M Christey" userId="f24da668-4c1f-41c0-850e-113e2bdf78cf" providerId="ADAL" clId="{C2F18F40-825E-4AB2-AAE5-04A45408A365}" dt="2025-06-06T14:35:02.444" v="8" actId="20577"/>
          <ac:spMkLst>
            <pc:docMk/>
            <pc:sldMk cId="1454278300" sldId="459"/>
            <ac:spMk id="2" creationId="{33307706-4E65-00EA-9416-F4DD36CAAD0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6/6/2025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6/6/2025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New Entry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May 23,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dirty="0"/>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CDR is now fully public</a:t>
            </a:r>
          </a:p>
          <a:p>
            <a:pPr marL="307975" indent="-307975"/>
            <a:endParaRPr lang="en-US" dirty="0">
              <a:latin typeface="Tahoma"/>
              <a:ea typeface="Tahoma"/>
              <a:cs typeface="Tahoma"/>
            </a:endParaRPr>
          </a:p>
          <a:p>
            <a:pPr marL="307975" indent="-307975"/>
            <a:r>
              <a:rPr lang="en-US" dirty="0">
                <a:latin typeface="Tahoma"/>
                <a:ea typeface="Tahoma"/>
                <a:cs typeface="Tahoma"/>
              </a:rPr>
              <a:t>Next CWE release: version 4.18, August 2025</a:t>
            </a:r>
          </a:p>
          <a:p>
            <a:pPr marL="307975"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dirty="0"/>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dirty="0"/>
              <a:t>New Entry Development:</a:t>
            </a:r>
            <a:br>
              <a:rPr lang="en-US" dirty="0"/>
            </a:br>
            <a:r>
              <a:rPr lang="en-US" dirty="0"/>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9528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dirty="0"/>
              <a:t>ES2406-9e5fcf10</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dirty="0"/>
              <a:t>NAME: Insecure Setting of Generative AI/ML Model Inference Parameters</a:t>
            </a:r>
          </a:p>
          <a:p>
            <a:endParaRPr lang="en-US" dirty="0"/>
          </a:p>
          <a:p>
            <a:r>
              <a:rPr lang="en-US" dirty="0"/>
              <a:t>SUMMARY:</a:t>
            </a:r>
          </a:p>
          <a:p>
            <a:endParaRPr lang="en-US" dirty="0"/>
          </a:p>
          <a:p>
            <a:pPr lvl="1"/>
            <a:r>
              <a:rPr lang="en-US" dirty="0"/>
              <a:t>The product has a component that relies on a generative AI/ML model, but the model is configured with incorrect inference parameters that produce excessive erroneous or unexpected outputs that violate the intended security policy.</a:t>
            </a:r>
          </a:p>
          <a:p>
            <a:endParaRPr lang="en-US" dirty="0"/>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053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&lt;automated and manual dynamic analysis&gt;</a:t>
            </a:r>
          </a:p>
          <a:p>
            <a:pPr lvl="1"/>
            <a:r>
              <a:rPr lang="en-US" sz="1800" dirty="0"/>
              <a:t>Desc:</a:t>
            </a:r>
            <a:r>
              <a:rPr lang="en-US" sz="1800" dirty="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dirty="0"/>
              <a:t>Detection Method 2</a:t>
            </a:r>
          </a:p>
          <a:p>
            <a:pPr lvl="1"/>
            <a:r>
              <a:rPr lang="en-US" sz="1800" dirty="0"/>
              <a:t>Method: </a:t>
            </a:r>
            <a:r>
              <a:rPr lang="en-US" sz="1800" dirty="0">
                <a:solidFill>
                  <a:srgbClr val="FF0000"/>
                </a:solidFill>
              </a:rPr>
              <a:t>&lt;&gt;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0156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&lt;package hallucination&gt;</a:t>
            </a:r>
            <a:endParaRPr lang="en-US" sz="1600" dirty="0"/>
          </a:p>
          <a:p>
            <a:pPr lvl="1"/>
            <a:r>
              <a:rPr lang="en-US" sz="1600" dirty="0"/>
              <a:t>URL: </a:t>
            </a:r>
            <a:r>
              <a:rPr lang="en-US" sz="1600" dirty="0">
                <a:solidFill>
                  <a:srgbClr val="FF0000"/>
                </a:solidFill>
              </a:rPr>
              <a:t>&lt;https://arxiv.org/abs/2406.10279&gt;</a:t>
            </a:r>
            <a:endParaRPr lang="en-US" sz="1600" dirty="0"/>
          </a:p>
          <a:p>
            <a:r>
              <a:rPr lang="en-US" sz="1600" dirty="0"/>
              <a:t>Reference 2</a:t>
            </a:r>
          </a:p>
          <a:p>
            <a:pPr lvl="1"/>
            <a:r>
              <a:rPr lang="en-US" sz="1600" dirty="0"/>
              <a:t>Title: </a:t>
            </a:r>
            <a:r>
              <a:rPr lang="en-US" sz="1600" dirty="0">
                <a:solidFill>
                  <a:srgbClr val="FF0000"/>
                </a:solidFill>
              </a:rPr>
              <a:t>&lt;Garak issue&gt; </a:t>
            </a:r>
          </a:p>
          <a:p>
            <a:pPr lvl="1"/>
            <a:r>
              <a:rPr lang="en-US" sz="1600" dirty="0"/>
              <a:t>URL: </a:t>
            </a:r>
            <a:r>
              <a:rPr lang="en-US" sz="1600" dirty="0">
                <a:solidFill>
                  <a:srgbClr val="FF0000"/>
                </a:solidFill>
              </a:rPr>
              <a:t>&lt;https://github.com/NVIDIA/garak/issues/1233&gt;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85828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a:solidFill>
                  <a:srgbClr val="FF0000"/>
                </a:solidFill>
                <a:highlight>
                  <a:srgbClr val="FFFF00"/>
                </a:highlight>
              </a:rPr>
              <a:t>Why no obvious </a:t>
            </a:r>
            <a:r>
              <a:rPr lang="en-US" sz="1600" dirty="0" err="1">
                <a:solidFill>
                  <a:srgbClr val="FF0000"/>
                </a:solidFill>
                <a:highlight>
                  <a:srgbClr val="FFFF00"/>
                </a:highlight>
              </a:rPr>
              <a:t>obex</a:t>
            </a:r>
            <a:r>
              <a:rPr lang="en-US" sz="1600" dirty="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dirty="0">
                <a:highlight>
                  <a:srgbClr val="FFFF00"/>
                </a:highlight>
              </a:rPr>
              <a:t>Maybe this is often associated with other weaknesses (can help exploitation of other weaknesses)</a:t>
            </a: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1328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25922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dirty="0"/>
              <a:t>Introductory text – </a:t>
            </a:r>
            <a:r>
              <a:rPr lang="en-US" dirty="0">
                <a:solidFill>
                  <a:srgbClr val="FF0000"/>
                </a:solidFill>
              </a:rPr>
              <a:t>&lt;robotic / drone control using an LLM&gt;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2573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dirty="0"/>
              <a:t>Introductory text – </a:t>
            </a:r>
            <a:r>
              <a:rPr lang="en-US" dirty="0">
                <a:solidFill>
                  <a:srgbClr val="FF0000"/>
                </a:solidFill>
              </a:rPr>
              <a:t>&lt;</a:t>
            </a:r>
            <a:r>
              <a:rPr lang="en-US" dirty="0" err="1">
                <a:solidFill>
                  <a:srgbClr val="FF0000"/>
                </a:solidFill>
              </a:rPr>
              <a:t>json</a:t>
            </a:r>
            <a:r>
              <a:rPr lang="en-US" dirty="0">
                <a:solidFill>
                  <a:srgbClr val="FF0000"/>
                </a:solidFill>
              </a:rPr>
              <a:t> formatting not being correct&gt;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78047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dirty="0"/>
              <a:t>Demonstrative example - 3</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dirty="0"/>
              <a:t>Introductory text – </a:t>
            </a:r>
            <a:r>
              <a:rPr lang="en-US" dirty="0">
                <a:solidFill>
                  <a:srgbClr val="FF0000"/>
                </a:solidFill>
              </a:rPr>
              <a:t>&lt;package hallucination example&gt;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28824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91636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dirty="0"/>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dirty="0"/>
              <a:t>Documentation for Transformers text generation parameters</a:t>
            </a:r>
          </a:p>
          <a:p>
            <a:pPr lvl="1"/>
            <a:r>
              <a:rPr lang="en-US" dirty="0"/>
              <a:t>https://huggingface.co/docs/transformers/main_classes/text_generation#transformers.GenerationConfig</a:t>
            </a:r>
          </a:p>
          <a:p>
            <a:r>
              <a:rPr lang="en-US" dirty="0"/>
              <a:t>Any others that come to mind?</a:t>
            </a:r>
          </a:p>
          <a:p>
            <a:endParaRPr lang="en-US" dirty="0"/>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9086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dirty="0"/>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40328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“configuration” can imply manual/human steps. If the parameters are programmatically set, this could be a misstatement (or unnecessarily restrictive). Can we say “setting”?</a:t>
            </a:r>
          </a:p>
          <a:p>
            <a:r>
              <a:rPr lang="en-US" sz="1800" dirty="0"/>
              <a:t>Does “parameters” include mode than hyperparameters?</a:t>
            </a:r>
          </a:p>
          <a:p>
            <a:r>
              <a:rPr lang="en-US" sz="1800" dirty="0"/>
              <a:t>Name 1: </a:t>
            </a:r>
            <a:r>
              <a:rPr lang="en-US" sz="1800" dirty="0">
                <a:solidFill>
                  <a:srgbClr val="FF0000"/>
                </a:solidFill>
              </a:rPr>
              <a:t>&lt;Insecure Setting of Generative Machine Learning Model Parameters&gt;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&lt;Say “inference parameters” (aka “generation parameters”) – not to confuse with weights in the model itself, or “hyperparameters” that are used in training&gt;</a:t>
            </a:r>
          </a:p>
          <a:p>
            <a:r>
              <a:rPr lang="en-US" sz="1800" dirty="0">
                <a:solidFill>
                  <a:srgbClr val="FF0000"/>
                </a:solidFill>
              </a:rPr>
              <a:t>Does this apply to guardrails?</a:t>
            </a:r>
          </a:p>
          <a:p>
            <a:r>
              <a:rPr lang="en-US" sz="1800" dirty="0">
                <a:solidFill>
                  <a:srgbClr val="FF0000"/>
                </a:solidFill>
              </a:rPr>
              <a:t>Distinct from making a bad system prompt</a:t>
            </a:r>
          </a:p>
          <a:p>
            <a:endParaRPr lang="en-US" sz="1800" dirty="0"/>
          </a:p>
          <a:p>
            <a:endParaRPr lang="en-US" sz="1800" dirty="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dirty="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378741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dirty="0"/>
              <a:t>Integrates comments from Lily, Erick, Steve, and Martin</a:t>
            </a:r>
          </a:p>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r>
              <a:rPr lang="en-US" sz="2000" dirty="0"/>
              <a:t>Just say “ML” here?</a:t>
            </a:r>
          </a:p>
          <a:p>
            <a:pPr lvl="1"/>
            <a:r>
              <a:rPr lang="en-US" sz="2000" dirty="0"/>
              <a:t>“intended security policy” is important</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dirty="0">
                <a:solidFill>
                  <a:srgbClr val="1F2328"/>
                </a:solidFill>
                <a:effectLst/>
                <a:latin typeface="-apple-system"/>
              </a:rPr>
              <a:t>The product uses a generative </a:t>
            </a:r>
            <a:r>
              <a:rPr lang="en-US" b="0" i="1" dirty="0">
                <a:solidFill>
                  <a:srgbClr val="1F2328"/>
                </a:solidFill>
                <a:effectLst/>
                <a:latin typeface="-apple-system"/>
              </a:rPr>
              <a:t>AI/ML</a:t>
            </a:r>
            <a:r>
              <a:rPr lang="en-US" b="0" i="0" dirty="0">
                <a:solidFill>
                  <a:srgbClr val="1F2328"/>
                </a:solidFill>
                <a:effectLst/>
                <a:latin typeface="-apple-system"/>
              </a:rPr>
              <a:t> model that </a:t>
            </a:r>
            <a:r>
              <a:rPr lang="en-US" b="0" i="1" dirty="0">
                <a:solidFill>
                  <a:srgbClr val="1F2328"/>
                </a:solidFill>
                <a:effectLst/>
                <a:latin typeface="-apple-system"/>
              </a:rPr>
              <a:t>is configured with </a:t>
            </a:r>
            <a:r>
              <a:rPr lang="en-US" b="0" i="0" dirty="0">
                <a:solidFill>
                  <a:srgbClr val="1F2328"/>
                </a:solidFill>
                <a:effectLst/>
                <a:latin typeface="-apple-system"/>
              </a:rPr>
              <a:t>incorrect [</a:t>
            </a:r>
            <a:r>
              <a:rPr lang="en-US" b="0" i="0" dirty="0">
                <a:solidFill>
                  <a:srgbClr val="1F2328"/>
                </a:solidFill>
                <a:effectLst/>
                <a:highlight>
                  <a:srgbClr val="FFFF00"/>
                </a:highlight>
                <a:latin typeface="-apple-system"/>
              </a:rPr>
              <a:t>inference parameters</a:t>
            </a:r>
            <a:r>
              <a:rPr lang="en-US" b="0" i="0" dirty="0">
                <a:solidFill>
                  <a:srgbClr val="1F2328"/>
                </a:solidFill>
                <a:effectLst/>
                <a:latin typeface="-apple-system"/>
              </a:rPr>
              <a:t>] that produce a high frequency of erroneous or unexpected outputs that </a:t>
            </a:r>
            <a:r>
              <a:rPr lang="en-US" b="1" i="0" dirty="0">
                <a:solidFill>
                  <a:srgbClr val="1F2328"/>
                </a:solidFill>
                <a:effectLst/>
                <a:latin typeface="-apple-system"/>
              </a:rPr>
              <a:t>violate the intended security policy</a:t>
            </a:r>
            <a:r>
              <a:rPr lang="en-US" b="0" i="0" dirty="0">
                <a:solidFill>
                  <a:srgbClr val="1F2328"/>
                </a:solidFill>
                <a:effectLst/>
                <a:latin typeface="-apple-system"/>
              </a:rPr>
              <a:t>.</a:t>
            </a:r>
            <a:endParaRPr lang="en-US" b="1" dirty="0">
              <a:solidFill>
                <a:srgbClr val="FF0000"/>
              </a:solidFill>
            </a:endParaRPr>
          </a:p>
        </p:txBody>
      </p:sp>
    </p:spTree>
    <p:extLst>
      <p:ext uri="{BB962C8B-B14F-4D97-AF65-F5344CB8AC3E}">
        <p14:creationId xmlns:p14="http://schemas.microsoft.com/office/powerpoint/2010/main" val="1946407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dirty="0"/>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dirty="0"/>
              <a:t>Focused on technical nuance</a:t>
            </a:r>
          </a:p>
          <a:p>
            <a:r>
              <a:rPr lang="en-US" sz="2000" dirty="0"/>
              <a:t>Can be multiple sentences or paragraphs</a:t>
            </a:r>
          </a:p>
          <a:p>
            <a:r>
              <a:rPr lang="en-US" sz="2000" dirty="0"/>
              <a:t>Avoid any emphasis on attacks, technical impacts, mitigations, etc.</a:t>
            </a:r>
          </a:p>
          <a:p>
            <a:r>
              <a:rPr lang="en-US" sz="2000" dirty="0"/>
              <a:t>Ext Desc 1: </a:t>
            </a:r>
            <a:r>
              <a:rPr lang="en-US" sz="2000" dirty="0">
                <a:solidFill>
                  <a:srgbClr val="FF0000"/>
                </a:solidFill>
              </a:rPr>
              <a:t>&lt;fill in here&gt;</a:t>
            </a:r>
          </a:p>
          <a:p>
            <a:r>
              <a:rPr lang="en-US" sz="2000" dirty="0"/>
              <a:t>Ext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[Many proposals in CDR; skipping discussion for February 28 meeting]</a:t>
            </a:r>
          </a:p>
        </p:txBody>
      </p:sp>
    </p:spTree>
    <p:extLst>
      <p:ext uri="{BB962C8B-B14F-4D97-AF65-F5344CB8AC3E}">
        <p14:creationId xmlns:p14="http://schemas.microsoft.com/office/powerpoint/2010/main" val="1418569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dirty="0"/>
              <a:t>(</a:t>
            </a:r>
            <a:r>
              <a:rPr lang="en-US" sz="1800" dirty="0" err="1">
                <a:solidFill>
                  <a:srgbClr val="FF0000"/>
                </a:solidFill>
              </a:rPr>
              <a:t>ChildOf|Other</a:t>
            </a:r>
            <a:r>
              <a:rPr lang="en-US" sz="1800" dirty="0"/>
              <a:t>) </a:t>
            </a:r>
            <a:r>
              <a:rPr lang="en-US" sz="1800" dirty="0">
                <a:solidFill>
                  <a:srgbClr val="FF0000"/>
                </a:solidFill>
              </a:rPr>
              <a:t>CWE-440: Expected Behavior Violation</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ChildOf|Other</a:t>
            </a:r>
            <a:r>
              <a:rPr lang="en-US" sz="1800" dirty="0"/>
              <a:t>) </a:t>
            </a:r>
            <a:r>
              <a:rPr lang="en-US" sz="1800" dirty="0">
                <a:solidFill>
                  <a:srgbClr val="FF0000"/>
                </a:solidFill>
              </a:rPr>
              <a:t>CWE-684: Incorrect Provision of Specified Functionality</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CWE-691: Insufficient Control Flow Management</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endParaRPr lang="en-US" sz="1800" dirty="0"/>
          </a:p>
          <a:p>
            <a:r>
              <a:rPr lang="en-US" sz="1800" dirty="0"/>
              <a:t>(</a:t>
            </a:r>
            <a:r>
              <a:rPr lang="en-US" sz="1800" dirty="0" err="1">
                <a:solidFill>
                  <a:srgbClr val="FF0000"/>
                </a:solidFill>
              </a:rPr>
              <a:t>ChildOf|ParentOf|Other</a:t>
            </a:r>
            <a:r>
              <a:rPr lang="en-US" sz="1800" dirty="0"/>
              <a:t>) proposed – CWE-665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&lt;Generation of inaccurate, misleading, or nonsensical information.&gt;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&lt;Reduced reliability and trust in the application or system utilizing the model&gt;</a:t>
            </a:r>
          </a:p>
          <a:p>
            <a:pPr lvl="1"/>
            <a:endParaRPr lang="en-US" sz="2000" dirty="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dirty="0"/>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dirty="0"/>
              <a:t>Typical consequences when this weakness appears in real-world vulnerabilities</a:t>
            </a:r>
          </a:p>
          <a:p>
            <a:r>
              <a:rPr lang="en-US" sz="1400" u="sng" dirty="0"/>
              <a:t>Values for Scope</a:t>
            </a:r>
            <a:r>
              <a:rPr lang="en-US" sz="1400" dirty="0"/>
              <a:t>: </a:t>
            </a:r>
            <a:r>
              <a:rPr lang="en-US" sz="1100" dirty="0"/>
              <a:t>Confidentiality, Integrity, Availability, Access Control, Accountability, Authentication, Authorization, Non-Repudiation, Other</a:t>
            </a:r>
          </a:p>
          <a:p>
            <a:r>
              <a:rPr lang="en-US" sz="1400" u="sng" dirty="0"/>
              <a:t>Values for Impact</a:t>
            </a:r>
            <a:r>
              <a:rPr lang="en-US" sz="1400" dirty="0"/>
              <a:t>: </a:t>
            </a:r>
            <a:r>
              <a:rPr lang="en-US" sz="11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3</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&lt;Propagation of errors if outputs are used in critical decision-making processes.&gt;</a:t>
            </a:r>
          </a:p>
          <a:p>
            <a:r>
              <a:rPr lang="en-US" sz="2000" dirty="0" err="1"/>
              <a:t>Conseq</a:t>
            </a:r>
            <a:r>
              <a:rPr lang="en-US" sz="2000" dirty="0"/>
              <a:t> 4</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55762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model training, when hyperparameters are set without adequate validation or understanding of their impact.&gt;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deployment, when model parameters are adjusted to optimize performance without comprehensive testing&gt;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&lt;Through updates or modifications to the model that alter its behavior without thorough re-evaluation&gt;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&lt;Develop and adhere to robust parameter tuning processes that include extensive testing and validation&gt;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&lt;Implement feedback mechanisms to continuously assess and adjust model performance&gt;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&lt;Provide comprehensive documentation and guidelines for parameter settings to ensure consistent and accurate model behavior&gt;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Delayed / TBD</a:t>
            </a:r>
          </a:p>
          <a:p>
            <a:pPr lvl="1"/>
            <a:r>
              <a:rPr lang="en-US" sz="2000" dirty="0"/>
              <a:t>“Bias in AI Models” (Kurt Seifried) - ES2402-38e20ce6</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dirty="0"/>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Delayed: “Bias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t>Significant overlap problems (see “ACTIVE ISSUES” in submission file)</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dirty="0"/>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First published in March 2018</a:t>
            </a:r>
          </a:p>
          <a:p>
            <a:r>
              <a:rPr lang="en-US" dirty="0"/>
              <a:t>Initial focus on image recognition</a:t>
            </a:r>
          </a:p>
          <a:p>
            <a:r>
              <a:rPr lang="en-US" dirty="0"/>
              <a:t>No real changes since its creation</a:t>
            </a:r>
          </a:p>
          <a:p>
            <a:r>
              <a:rPr lang="en-US" dirty="0"/>
              <a:t>Incomplete entry</a:t>
            </a:r>
          </a:p>
          <a:p>
            <a:pPr lvl="1"/>
            <a:r>
              <a:rPr lang="en-US" dirty="0"/>
              <a:t>No examples (observed or demonstrative)</a:t>
            </a:r>
          </a:p>
          <a:p>
            <a:pPr lvl="1"/>
            <a:r>
              <a:rPr lang="en-US" dirty="0"/>
              <a:t>No mitigations</a:t>
            </a:r>
          </a:p>
          <a:p>
            <a:r>
              <a:rPr lang="en-US" dirty="0"/>
              <a:t>Focused improvements by Marissa Dotter</a:t>
            </a:r>
          </a:p>
          <a:p>
            <a:r>
              <a:rPr lang="en-US" dirty="0"/>
              <a:t>Changes to be made in CWE 4.17 (April 3)</a:t>
            </a:r>
          </a:p>
          <a:p>
            <a:endParaRPr lang="en-US" dirty="0"/>
          </a:p>
          <a:p>
            <a:r>
              <a:rPr lang="en-US" dirty="0">
                <a:hlinkClick r:id="rId2"/>
              </a:rPr>
              <a:t>https://cwe.mitre.org/data/definitions/1039.html</a:t>
            </a:r>
            <a:endParaRPr lang="en-US" dirty="0"/>
          </a:p>
          <a:p>
            <a:endParaRPr lang="en-US" dirty="0"/>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dirty="0"/>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dirty="0"/>
          </a:p>
          <a:p>
            <a:endParaRPr lang="en-US" dirty="0"/>
          </a:p>
          <a:p>
            <a:r>
              <a:rPr lang="en-US" dirty="0"/>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dirty="0"/>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dirty="0"/>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dirty="0"/>
              <a:t> Should we focus on specific elements in a variety of CWEs?</a:t>
            </a:r>
          </a:p>
          <a:p>
            <a:pPr lvl="1"/>
            <a:r>
              <a:rPr lang="en-US" sz="2000" dirty="0"/>
              <a:t>Observed (real-world) and demonstrative examples</a:t>
            </a:r>
          </a:p>
          <a:p>
            <a:pPr lvl="2"/>
            <a:r>
              <a:rPr lang="en-US" sz="2000" dirty="0" err="1"/>
              <a:t>Obex</a:t>
            </a:r>
            <a:r>
              <a:rPr lang="en-US" sz="2000" dirty="0"/>
              <a:t> can be hard to find; </a:t>
            </a:r>
            <a:r>
              <a:rPr lang="en-US" sz="2000" dirty="0" err="1"/>
              <a:t>demox</a:t>
            </a:r>
            <a:r>
              <a:rPr lang="en-US" sz="2000" dirty="0"/>
              <a:t> are labor-intensive</a:t>
            </a:r>
          </a:p>
          <a:p>
            <a:pPr lvl="1"/>
            <a:r>
              <a:rPr lang="en-US" sz="2000" dirty="0"/>
              <a:t>References</a:t>
            </a:r>
          </a:p>
          <a:p>
            <a:pPr lvl="1"/>
            <a:r>
              <a:rPr lang="en-US" sz="2000" dirty="0"/>
              <a:t>AI-specific mitigations</a:t>
            </a:r>
          </a:p>
          <a:p>
            <a:pPr lvl="1"/>
            <a:r>
              <a:rPr lang="en-US" sz="2000" dirty="0"/>
              <a:t>(examples and references were suggested last year; Steve will dig them up)</a:t>
            </a:r>
          </a:p>
          <a:p>
            <a:r>
              <a:rPr lang="en-US" sz="2000" dirty="0"/>
              <a:t>Should we look for other CWEs that should be tagged as affecting AI/ML?</a:t>
            </a:r>
          </a:p>
          <a:p>
            <a:pPr lvl="1"/>
            <a:r>
              <a:rPr lang="en-US" sz="2000" dirty="0"/>
              <a:t>CWE-912: Hidden Functionality</a:t>
            </a:r>
          </a:p>
          <a:p>
            <a:r>
              <a:rPr lang="en-US" sz="2000" dirty="0"/>
              <a:t>Systematic review of AI-vuln related documents?</a:t>
            </a:r>
          </a:p>
          <a:p>
            <a:pPr lvl="1"/>
            <a:r>
              <a:rPr lang="en-US" sz="2000" dirty="0"/>
              <a:t>OWASP, NIST, ATLAS, etc.</a:t>
            </a:r>
          </a:p>
          <a:p>
            <a:pPr lvl="1"/>
            <a:r>
              <a:rPr lang="en-US" sz="2000" dirty="0"/>
              <a:t>Result: taxonomy mappings and references; but also time-consuming</a:t>
            </a:r>
          </a:p>
          <a:p>
            <a:r>
              <a:rPr lang="en-US" sz="2000" dirty="0"/>
              <a:t>Or... just any kind of modification that people think of along the way?</a:t>
            </a:r>
          </a:p>
          <a:p>
            <a:r>
              <a:rPr lang="en-US" sz="2000" dirty="0"/>
              <a:t>CWE 5.0 (future) – schema changes to support AI-specific data (e.g., lifecycle)</a:t>
            </a:r>
          </a:p>
          <a:p>
            <a:endParaRPr lang="en-US" sz="2000" dirty="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dirty="0"/>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dirty="0"/>
              <a:t>AIWG mailing list</a:t>
            </a:r>
          </a:p>
          <a:p>
            <a:r>
              <a:rPr lang="en-US" dirty="0"/>
              <a:t>Focused discussion in CDR</a:t>
            </a:r>
          </a:p>
          <a:p>
            <a:r>
              <a:rPr lang="en-US" dirty="0"/>
              <a:t>Could be tied to CDR submissions</a:t>
            </a:r>
          </a:p>
          <a:p>
            <a:pPr lvl="1"/>
            <a:r>
              <a:rPr lang="en-US" dirty="0"/>
              <a:t>Similar to how we track new entries</a:t>
            </a:r>
          </a:p>
          <a:p>
            <a:pPr lvl="1"/>
            <a:r>
              <a:rPr lang="en-US" dirty="0"/>
              <a:t>This isn’t essential</a:t>
            </a:r>
          </a:p>
          <a:p>
            <a:endParaRPr lang="en-US" dirty="0"/>
          </a:p>
          <a:p>
            <a:r>
              <a:rPr lang="en-US" dirty="0"/>
              <a:t>Shared document editing?</a:t>
            </a:r>
          </a:p>
          <a:p>
            <a:pPr lvl="1"/>
            <a:r>
              <a:rPr lang="en-US" dirty="0"/>
              <a:t>Many pros and cons</a:t>
            </a:r>
          </a:p>
          <a:p>
            <a:pPr lvl="1"/>
            <a:r>
              <a:rPr lang="en-US" dirty="0"/>
              <a:t>Maybe “review and comment”</a:t>
            </a:r>
          </a:p>
          <a:p>
            <a:pPr lvl="1"/>
            <a:r>
              <a:rPr lang="en-US" dirty="0"/>
              <a:t>Google docs? Or a shared CDR submission file (text-based)</a:t>
            </a:r>
          </a:p>
          <a:p>
            <a:pPr lvl="1"/>
            <a:endParaRPr lang="en-US" dirty="0"/>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dirty="0"/>
              <a:t>Upcoming meetings:</a:t>
            </a:r>
          </a:p>
          <a:p>
            <a:pPr lvl="1"/>
            <a:r>
              <a:rPr lang="en-US" dirty="0"/>
              <a:t>Modifications: April 11 (after 4.17 release)</a:t>
            </a:r>
          </a:p>
          <a:p>
            <a:pPr lvl="1"/>
            <a:r>
              <a:rPr lang="en-US" dirty="0"/>
              <a:t>New entries: March 28</a:t>
            </a:r>
          </a:p>
          <a:p>
            <a:endParaRPr lang="en-US" dirty="0"/>
          </a:p>
          <a:p>
            <a:r>
              <a:rPr lang="en-US" dirty="0"/>
              <a:t>Formalize subgroup leadership</a:t>
            </a:r>
          </a:p>
          <a:p>
            <a:endParaRPr lang="en-US" dirty="0"/>
          </a:p>
          <a:p>
            <a:r>
              <a:rPr lang="en-US" dirty="0"/>
              <a:t>Focused modifications for CWE 4.17</a:t>
            </a:r>
          </a:p>
          <a:p>
            <a:endParaRPr lang="en-US" dirty="0"/>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dirty="0"/>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Name 1: </a:t>
            </a:r>
            <a:r>
              <a:rPr lang="en-US" sz="1800" dirty="0">
                <a:solidFill>
                  <a:srgbClr val="FF0000"/>
                </a:solidFill>
              </a:rPr>
              <a:t>&lt;fill in here&gt;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&lt;fill in here&gt;</a:t>
            </a:r>
          </a:p>
          <a:p>
            <a:endParaRPr lang="en-US" sz="1800" dirty="0"/>
          </a:p>
          <a:p>
            <a:endParaRPr lang="en-US" sz="1800" dirty="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&lt;fill in here&gt;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dirty="0"/>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50FCDD-08B1-48D8-BB50-7A17E590A5EE}">
  <ds:schemaRef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b5a44311-ed64-4a72-909f-c9dc6973bde2"/>
    <ds:schemaRef ds:uri="f3e578be-7961-41e8-91c9-b742ecb60a74"/>
    <ds:schemaRef ds:uri="http://purl.org/dc/terms/"/>
    <ds:schemaRef ds:uri="http://schemas.openxmlformats.org/package/2006/metadata/core-properties"/>
    <ds:schemaRef ds:uri="aff8eeb6-53bf-44bf-a224-fac977cd228b"/>
    <ds:schemaRef ds:uri="http://schemas.microsoft.com/office/2006/metadata/properties"/>
  </ds:schemaRefs>
</ds:datastoreItem>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430</TotalTime>
  <Words>4686</Words>
  <Application>Microsoft Office PowerPoint</Application>
  <PresentationFormat>Widescreen</PresentationFormat>
  <Paragraphs>525</Paragraphs>
  <Slides>52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New Entry Development: ES2406-9e5fcf10: Insecure Setting of Generative AI/ML Model Inference Parameters </vt:lpstr>
      <vt:lpstr>ES2406-9e5fcf10</vt:lpstr>
      <vt:lpstr>Detection Methods Worksheet</vt:lpstr>
      <vt:lpstr>References Worksheet</vt:lpstr>
      <vt:lpstr>Observed Examples Worksheet</vt:lpstr>
      <vt:lpstr>Demonstrative Examples</vt:lpstr>
      <vt:lpstr>Demonstrative example - 1</vt:lpstr>
      <vt:lpstr>Demonstrative example - 2</vt:lpstr>
      <vt:lpstr>Demonstrative example - 3</vt:lpstr>
      <vt:lpstr>Maintenance Notes Worksheet</vt:lpstr>
      <vt:lpstr>References on improper tuning</vt:lpstr>
      <vt:lpstr>Already-Filled Elements</vt:lpstr>
      <vt:lpstr>Discussion: Name</vt:lpstr>
      <vt:lpstr>Discussion: Description</vt:lpstr>
      <vt:lpstr>Discussion: Extended Description</vt:lpstr>
      <vt:lpstr>Relationships Worksheet</vt:lpstr>
      <vt:lpstr>Common Consequences Worksheet</vt:lpstr>
      <vt:lpstr>Common Consequences - 2</vt:lpstr>
      <vt:lpstr>Modes of Introduction Worksheet</vt:lpstr>
      <vt:lpstr>Potential Mitigations Worksheet</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19</cp:revision>
  <dcterms:created xsi:type="dcterms:W3CDTF">2019-02-26T16:06:40Z</dcterms:created>
  <dcterms:modified xsi:type="dcterms:W3CDTF">2025-06-06T14:35:10Z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